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49"/>
  </p:notesMasterIdLst>
  <p:handoutMasterIdLst>
    <p:handoutMasterId r:id="rId50"/>
  </p:handoutMasterIdLst>
  <p:sldIdLst>
    <p:sldId id="267" r:id="rId2"/>
    <p:sldId id="260" r:id="rId3"/>
    <p:sldId id="258" r:id="rId4"/>
    <p:sldId id="270" r:id="rId5"/>
    <p:sldId id="293" r:id="rId6"/>
    <p:sldId id="272" r:id="rId7"/>
    <p:sldId id="275" r:id="rId8"/>
    <p:sldId id="287" r:id="rId9"/>
    <p:sldId id="288" r:id="rId10"/>
    <p:sldId id="289" r:id="rId11"/>
    <p:sldId id="290" r:id="rId12"/>
    <p:sldId id="291" r:id="rId13"/>
    <p:sldId id="281" r:id="rId14"/>
    <p:sldId id="282" r:id="rId15"/>
    <p:sldId id="283" r:id="rId16"/>
    <p:sldId id="284" r:id="rId17"/>
    <p:sldId id="285" r:id="rId18"/>
    <p:sldId id="286" r:id="rId19"/>
    <p:sldId id="274" r:id="rId20"/>
    <p:sldId id="292" r:id="rId21"/>
    <p:sldId id="294" r:id="rId22"/>
    <p:sldId id="296" r:id="rId23"/>
    <p:sldId id="297" r:id="rId24"/>
    <p:sldId id="298" r:id="rId25"/>
    <p:sldId id="295" r:id="rId26"/>
    <p:sldId id="299" r:id="rId27"/>
    <p:sldId id="300" r:id="rId28"/>
    <p:sldId id="301" r:id="rId29"/>
    <p:sldId id="302" r:id="rId30"/>
    <p:sldId id="303" r:id="rId31"/>
    <p:sldId id="305" r:id="rId32"/>
    <p:sldId id="306" r:id="rId33"/>
    <p:sldId id="307" r:id="rId34"/>
    <p:sldId id="308" r:id="rId35"/>
    <p:sldId id="309" r:id="rId36"/>
    <p:sldId id="310" r:id="rId37"/>
    <p:sldId id="311" r:id="rId38"/>
    <p:sldId id="312" r:id="rId39"/>
    <p:sldId id="257" r:id="rId40"/>
    <p:sldId id="269" r:id="rId41"/>
    <p:sldId id="259" r:id="rId42"/>
    <p:sldId id="268" r:id="rId43"/>
    <p:sldId id="261" r:id="rId44"/>
    <p:sldId id="262" r:id="rId45"/>
    <p:sldId id="263" r:id="rId46"/>
    <p:sldId id="264" r:id="rId47"/>
    <p:sldId id="265" r:id="rId48"/>
  </p:sldIdLst>
  <p:sldSz cx="18288000" cy="10287000"/>
  <p:notesSz cx="6858000" cy="9144000"/>
  <p:embeddedFontLst>
    <p:embeddedFont>
      <p:font typeface="DC-Monument Extended Ultrabold" pitchFamily="50" charset="0"/>
      <p:bold r:id="rId51"/>
    </p:embeddedFont>
    <p:embeddedFont>
      <p:font typeface="Dynamo Medium" panose="020B0604020202020204" charset="0"/>
      <p:regular r:id="rId52"/>
    </p:embeddedFont>
    <p:embeddedFont>
      <p:font typeface="Source Sans Pro" panose="020B0503030403020204" pitchFamily="34" charset="0"/>
      <p:regular r:id="rId53"/>
      <p:bold r:id="rId54"/>
      <p:italic r:id="rId55"/>
      <p:boldItalic r:id="rId56"/>
    </p:embeddedFont>
    <p:embeddedFont>
      <p:font typeface="Source Sans Pro Bold" panose="020B0703030403020204" pitchFamily="34" charset="0"/>
      <p:regular r:id="rId57"/>
      <p:bold r:id="rId58"/>
    </p:embeddedFont>
    <p:embeddedFont>
      <p:font typeface="UTM Aircona" panose="02040603050506020204" pitchFamily="18" charset="0"/>
      <p:regular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A1D7"/>
    <a:srgbClr val="3EB3DF"/>
    <a:srgbClr val="337AC7"/>
    <a:srgbClr val="D9DFDF"/>
    <a:srgbClr val="3275C5"/>
    <a:srgbClr val="64CAF4"/>
    <a:srgbClr val="56AA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089" autoAdjust="0"/>
  </p:normalViewPr>
  <p:slideViewPr>
    <p:cSldViewPr>
      <p:cViewPr varScale="1">
        <p:scale>
          <a:sx n="50" d="100"/>
          <a:sy n="50" d="100"/>
        </p:scale>
        <p:origin x="869"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64" d="100"/>
          <a:sy n="64" d="100"/>
        </p:scale>
        <p:origin x="2438" y="8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font" Target="fonts/font5.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7.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E4A482-560B-D4DF-36F7-46FCCB382B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42DF4C5-4AA8-F927-C63E-916FEF83646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F9FABA-3D16-4CDD-8E28-9812B6BAB207}" type="datetimeFigureOut">
              <a:rPr lang="en-US" smtClean="0"/>
              <a:t>10/24/2025</a:t>
            </a:fld>
            <a:endParaRPr lang="en-US"/>
          </a:p>
        </p:txBody>
      </p:sp>
      <p:sp>
        <p:nvSpPr>
          <p:cNvPr id="4" name="Footer Placeholder 3">
            <a:extLst>
              <a:ext uri="{FF2B5EF4-FFF2-40B4-BE49-F238E27FC236}">
                <a16:creationId xmlns:a16="http://schemas.microsoft.com/office/drawing/2014/main" id="{A50B160D-4F60-5B5C-BA4A-EB7CAE8241E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C9D756E-D1EF-0EAD-1915-42DDBF55436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2BFA32-6B02-4179-9D3A-B608ECB18BF0}" type="slidenum">
              <a:rPr lang="en-US" smtClean="0"/>
              <a:t>‹#›</a:t>
            </a:fld>
            <a:endParaRPr lang="en-US"/>
          </a:p>
        </p:txBody>
      </p:sp>
    </p:spTree>
    <p:extLst>
      <p:ext uri="{BB962C8B-B14F-4D97-AF65-F5344CB8AC3E}">
        <p14:creationId xmlns:p14="http://schemas.microsoft.com/office/powerpoint/2010/main" val="6281309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507931-72FB-40C4-9616-A4165D66022B}" type="datetimeFigureOut">
              <a:rPr lang="en-US" smtClean="0"/>
              <a:t>10/24/2025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CC0670-7746-4E74-90E4-D3E999690A6F}" type="slidenum">
              <a:rPr lang="en-US" smtClean="0"/>
              <a:t>‹#›</a:t>
            </a:fld>
            <a:endParaRPr lang="en-US"/>
          </a:p>
        </p:txBody>
      </p:sp>
    </p:spTree>
    <p:extLst>
      <p:ext uri="{BB962C8B-B14F-4D97-AF65-F5344CB8AC3E}">
        <p14:creationId xmlns:p14="http://schemas.microsoft.com/office/powerpoint/2010/main" val="3060005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CC0670-7746-4E74-90E4-D3E999690A6F}" type="slidenum">
              <a:rPr lang="en-US" smtClean="0"/>
              <a:t>2</a:t>
            </a:fld>
            <a:endParaRPr lang="en-US"/>
          </a:p>
        </p:txBody>
      </p:sp>
    </p:spTree>
    <p:extLst>
      <p:ext uri="{BB962C8B-B14F-4D97-AF65-F5344CB8AC3E}">
        <p14:creationId xmlns:p14="http://schemas.microsoft.com/office/powerpoint/2010/main" val="1695173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800" b="0" i="0" u="none" strike="noStrike" dirty="0">
                <a:solidFill>
                  <a:srgbClr val="000000"/>
                </a:solidFill>
                <a:effectLst/>
                <a:latin typeface="Times New Roman" panose="02020603050405020304" pitchFamily="18" charset="0"/>
              </a:rPr>
              <a:t>Ngôn ngữ của con người cung cấp các cơ chế đặc biệt giúp việc sửa lỗi trở nên tự động đến mức những người tham gia hầu như không nhận ra; quả thực, họ có thể ngạc nhiên khi lỗi được chỉ ra.</a:t>
            </a:r>
            <a:endParaRPr lang="en-US" dirty="0"/>
          </a:p>
        </p:txBody>
      </p:sp>
      <p:sp>
        <p:nvSpPr>
          <p:cNvPr id="4" name="Slide Number Placeholder 3"/>
          <p:cNvSpPr>
            <a:spLocks noGrp="1"/>
          </p:cNvSpPr>
          <p:nvPr>
            <p:ph type="sldNum" sz="quarter" idx="5"/>
          </p:nvPr>
        </p:nvSpPr>
        <p:spPr/>
        <p:txBody>
          <a:bodyPr/>
          <a:lstStyle/>
          <a:p>
            <a:fld id="{2DCC0670-7746-4E74-90E4-D3E999690A6F}" type="slidenum">
              <a:rPr lang="en-US" smtClean="0"/>
              <a:t>3</a:t>
            </a:fld>
            <a:endParaRPr lang="en-US"/>
          </a:p>
        </p:txBody>
      </p:sp>
    </p:spTree>
    <p:extLst>
      <p:ext uri="{BB962C8B-B14F-4D97-AF65-F5344CB8AC3E}">
        <p14:creationId xmlns:p14="http://schemas.microsoft.com/office/powerpoint/2010/main" val="1894949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F03A6-9D07-1862-1009-E7DD454AA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02C82-6786-99A4-B6D0-ED5E0DD12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A0F64F-06A8-757A-CE3E-DBE500A293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8F22A8-40E4-5218-1221-DA9CC3070380}"/>
              </a:ext>
            </a:extLst>
          </p:cNvPr>
          <p:cNvSpPr>
            <a:spLocks noGrp="1"/>
          </p:cNvSpPr>
          <p:nvPr>
            <p:ph type="sldNum" sz="quarter" idx="5"/>
          </p:nvPr>
        </p:nvSpPr>
        <p:spPr/>
        <p:txBody>
          <a:bodyPr/>
          <a:lstStyle/>
          <a:p>
            <a:fld id="{2DCC0670-7746-4E74-90E4-D3E999690A6F}" type="slidenum">
              <a:rPr lang="en-US" smtClean="0"/>
              <a:t>5</a:t>
            </a:fld>
            <a:endParaRPr lang="en-US"/>
          </a:p>
        </p:txBody>
      </p:sp>
    </p:spTree>
    <p:extLst>
      <p:ext uri="{BB962C8B-B14F-4D97-AF65-F5344CB8AC3E}">
        <p14:creationId xmlns:p14="http://schemas.microsoft.com/office/powerpoint/2010/main" val="2884481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E3963-B235-5AD8-FD0E-01CBD31D4C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DB20A-EA7C-ADB0-3D96-1BA5AE7F4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46420-EF89-976C-4CBE-BB26AEF9A3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BCD74C-C1CA-29DB-CD1F-FFDCEADA70AE}"/>
              </a:ext>
            </a:extLst>
          </p:cNvPr>
          <p:cNvSpPr>
            <a:spLocks noGrp="1"/>
          </p:cNvSpPr>
          <p:nvPr>
            <p:ph type="sldNum" sz="quarter" idx="5"/>
          </p:nvPr>
        </p:nvSpPr>
        <p:spPr/>
        <p:txBody>
          <a:bodyPr/>
          <a:lstStyle/>
          <a:p>
            <a:fld id="{2DCC0670-7746-4E74-90E4-D3E999690A6F}" type="slidenum">
              <a:rPr lang="en-US" smtClean="0"/>
              <a:t>6</a:t>
            </a:fld>
            <a:endParaRPr lang="en-US"/>
          </a:p>
        </p:txBody>
      </p:sp>
    </p:spTree>
    <p:extLst>
      <p:ext uri="{BB962C8B-B14F-4D97-AF65-F5344CB8AC3E}">
        <p14:creationId xmlns:p14="http://schemas.microsoft.com/office/powerpoint/2010/main" val="1664724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35745-5CBA-DFB0-26BA-9202E2FCDC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60049-BBD7-E21D-9BDC-86D1FC44A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739C88-76AD-8E61-87C8-70CCB59C3D3D}"/>
              </a:ext>
            </a:extLst>
          </p:cNvPr>
          <p:cNvSpPr>
            <a:spLocks noGrp="1"/>
          </p:cNvSpPr>
          <p:nvPr>
            <p:ph type="body" idx="1"/>
          </p:nvPr>
        </p:nvSpPr>
        <p:spPr/>
        <p:txBody>
          <a:bodyPr/>
          <a:lstStyle/>
          <a:p>
            <a:pPr>
              <a:buNone/>
            </a:pPr>
            <a:r>
              <a:rPr lang="vi-VN" sz="1800" b="1" i="0" u="none" strike="noStrike" dirty="0">
                <a:solidFill>
                  <a:srgbClr val="000000"/>
                </a:solidFill>
                <a:effectLst/>
                <a:latin typeface="Times New Roman" panose="02020603050405020304" pitchFamily="18" charset="0"/>
              </a:rPr>
              <a:t>Lỗi Bị Chiếm Đoạt (Capture Errors):</a:t>
            </a:r>
            <a:r>
              <a:rPr lang="vi-VN" sz="1800" b="0" i="0" u="none" strike="noStrike" dirty="0">
                <a:solidFill>
                  <a:srgbClr val="000000"/>
                </a:solidFill>
                <a:effectLst/>
                <a:latin typeface="Times New Roman" panose="02020603050405020304" pitchFamily="18" charset="0"/>
              </a:rPr>
              <a:t> Một hoạt động quen thuộc chiếm quyền kiểm soát thay cho hoạt động dự định. Ví dụ: </a:t>
            </a:r>
            <a:r>
              <a:rPr lang="vi-VN" sz="2800" dirty="0"/>
              <a:t>Bạn định đi vào phòng ngủ để </a:t>
            </a:r>
            <a:r>
              <a:rPr lang="vi-VN" sz="2800" b="1" dirty="0"/>
              <a:t>lấy ví tiền</a:t>
            </a:r>
            <a:r>
              <a:rPr lang="vi-VN" sz="2800" dirty="0"/>
              <a:t>, nhưng trên đường đi, bạn đi ngang qua công tắc đèn.</a:t>
            </a:r>
          </a:p>
          <a:p>
            <a:pPr>
              <a:buFont typeface="Arial" panose="020B0604020202020204" pitchFamily="34" charset="0"/>
              <a:buChar char="•"/>
            </a:pPr>
            <a:r>
              <a:rPr lang="vi-VN" sz="2800" b="1" dirty="0"/>
              <a:t>Hoạt động dự định:</a:t>
            </a:r>
            <a:r>
              <a:rPr lang="vi-VN" sz="2800" dirty="0"/>
              <a:t> Đi vào phòng lấy ví.</a:t>
            </a:r>
          </a:p>
          <a:p>
            <a:pPr>
              <a:buFont typeface="Arial" panose="020B0604020202020204" pitchFamily="34" charset="0"/>
              <a:buChar char="•"/>
            </a:pPr>
            <a:r>
              <a:rPr lang="vi-VN" sz="2800" b="1" dirty="0"/>
              <a:t>Hoạt động quen thuộc:</a:t>
            </a:r>
            <a:r>
              <a:rPr lang="vi-VN" sz="2800" dirty="0"/>
              <a:t> Đi vào phòng (đặc biệt là khi trời tối) là phải </a:t>
            </a:r>
            <a:r>
              <a:rPr lang="vi-VN" sz="2800" i="1" dirty="0"/>
              <a:t>bật công tắc đèn</a:t>
            </a:r>
            <a:r>
              <a:rPr lang="vi-VN" sz="2800" dirty="0"/>
              <a:t>.</a:t>
            </a:r>
          </a:p>
          <a:p>
            <a:pPr>
              <a:buFont typeface="Arial" panose="020B0604020202020204" pitchFamily="34" charset="0"/>
              <a:buChar char="•"/>
            </a:pPr>
            <a:r>
              <a:rPr lang="vi-VN" sz="2800" b="1" dirty="0"/>
              <a:t>Kết quả (Bị chiếm đoạt):</a:t>
            </a:r>
            <a:r>
              <a:rPr lang="vi-VN" sz="2800" dirty="0"/>
              <a:t> Bạn đi vào phòng, bật đèn lên... rồi đứng sững lại một giây và quên mất mình vào phòng để làm gì (vì hành động "bật đèn" đã chiếm quyền và hoàn tất, "đè" lên ý định ban đầu là "lấy ví").</a:t>
            </a:r>
          </a:p>
          <a:p>
            <a:endParaRPr lang="en-US" dirty="0"/>
          </a:p>
        </p:txBody>
      </p:sp>
      <p:sp>
        <p:nvSpPr>
          <p:cNvPr id="4" name="Slide Number Placeholder 3">
            <a:extLst>
              <a:ext uri="{FF2B5EF4-FFF2-40B4-BE49-F238E27FC236}">
                <a16:creationId xmlns:a16="http://schemas.microsoft.com/office/drawing/2014/main" id="{267305B8-B401-EAE2-8DA6-449433CB6DC1}"/>
              </a:ext>
            </a:extLst>
          </p:cNvPr>
          <p:cNvSpPr>
            <a:spLocks noGrp="1"/>
          </p:cNvSpPr>
          <p:nvPr>
            <p:ph type="sldNum" sz="quarter" idx="5"/>
          </p:nvPr>
        </p:nvSpPr>
        <p:spPr/>
        <p:txBody>
          <a:bodyPr/>
          <a:lstStyle/>
          <a:p>
            <a:fld id="{2DCC0670-7746-4E74-90E4-D3E999690A6F}" type="slidenum">
              <a:rPr lang="en-US" smtClean="0"/>
              <a:t>7</a:t>
            </a:fld>
            <a:endParaRPr lang="en-US"/>
          </a:p>
        </p:txBody>
      </p:sp>
    </p:spTree>
    <p:extLst>
      <p:ext uri="{BB962C8B-B14F-4D97-AF65-F5344CB8AC3E}">
        <p14:creationId xmlns:p14="http://schemas.microsoft.com/office/powerpoint/2010/main" val="945335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2DAE0-A2C1-6F37-7189-D43A3A12F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994D5-7286-9422-8EEE-A42557CBA7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A2B10-E2CD-7A3C-7E6F-30B2EE8052C8}"/>
              </a:ext>
            </a:extLst>
          </p:cNvPr>
          <p:cNvSpPr>
            <a:spLocks noGrp="1"/>
          </p:cNvSpPr>
          <p:nvPr>
            <p:ph type="body" idx="1"/>
          </p:nvPr>
        </p:nvSpPr>
        <p:spPr/>
        <p:txBody>
          <a:bodyPr/>
          <a:lstStyle/>
          <a:p>
            <a:r>
              <a:rPr lang="vi-VN" sz="1800" b="1" i="0" u="none" strike="noStrike" dirty="0">
                <a:solidFill>
                  <a:srgbClr val="000000"/>
                </a:solidFill>
                <a:effectLst/>
                <a:latin typeface="Times New Roman" panose="02020603050405020304" pitchFamily="18" charset="0"/>
              </a:rPr>
              <a:t>Lỗi Mô Tả (Description Errors):</a:t>
            </a:r>
            <a:r>
              <a:rPr lang="vi-VN" sz="1800" b="0" i="0" u="none" strike="noStrike" dirty="0">
                <a:solidFill>
                  <a:srgbClr val="000000"/>
                </a:solidFill>
                <a:effectLst/>
                <a:latin typeface="Times New Roman" panose="02020603050405020304" pitchFamily="18" charset="0"/>
              </a:rPr>
              <a:t> Hành động đúng được thực hiện trên vật thể sai, thường xảy ra khi vật sai và vật đúng ở gần nhau về mặt vật lý. Ví dụ: Định bật đèn nhưng bấm công tắc quạt vì hai nút giống nhau, đặt cạnh nhau.</a:t>
            </a:r>
            <a:endParaRPr lang="en-US" sz="1800" dirty="0"/>
          </a:p>
        </p:txBody>
      </p:sp>
      <p:sp>
        <p:nvSpPr>
          <p:cNvPr id="4" name="Slide Number Placeholder 3">
            <a:extLst>
              <a:ext uri="{FF2B5EF4-FFF2-40B4-BE49-F238E27FC236}">
                <a16:creationId xmlns:a16="http://schemas.microsoft.com/office/drawing/2014/main" id="{B7FD63E7-C4D0-ACCA-E211-1C92A78456CE}"/>
              </a:ext>
            </a:extLst>
          </p:cNvPr>
          <p:cNvSpPr>
            <a:spLocks noGrp="1"/>
          </p:cNvSpPr>
          <p:nvPr>
            <p:ph type="sldNum" sz="quarter" idx="5"/>
          </p:nvPr>
        </p:nvSpPr>
        <p:spPr/>
        <p:txBody>
          <a:bodyPr/>
          <a:lstStyle/>
          <a:p>
            <a:fld id="{2DCC0670-7746-4E74-90E4-D3E999690A6F}" type="slidenum">
              <a:rPr lang="en-US" smtClean="0"/>
              <a:t>8</a:t>
            </a:fld>
            <a:endParaRPr lang="en-US"/>
          </a:p>
        </p:txBody>
      </p:sp>
    </p:spTree>
    <p:extLst>
      <p:ext uri="{BB962C8B-B14F-4D97-AF65-F5344CB8AC3E}">
        <p14:creationId xmlns:p14="http://schemas.microsoft.com/office/powerpoint/2010/main" val="1143432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DEA6B-9D09-23B1-39B5-E1A49951FB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8D5EEF-4842-495D-4E01-B2A4604D8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8E544-6584-9389-ACDF-8789E89FE98F}"/>
              </a:ext>
            </a:extLst>
          </p:cNvPr>
          <p:cNvSpPr>
            <a:spLocks noGrp="1"/>
          </p:cNvSpPr>
          <p:nvPr>
            <p:ph type="body" idx="1"/>
          </p:nvPr>
        </p:nvSpPr>
        <p:spPr/>
        <p:txBody>
          <a:bodyPr/>
          <a:lstStyle/>
          <a:p>
            <a:r>
              <a:rPr lang="vi-VN" sz="1800" b="1" i="0" u="none" strike="noStrike" dirty="0">
                <a:solidFill>
                  <a:srgbClr val="000000"/>
                </a:solidFill>
                <a:effectLst/>
                <a:latin typeface="Times New Roman" panose="02020603050405020304" pitchFamily="18" charset="0"/>
              </a:rPr>
              <a:t> Lỗi Do Dữ Liệu Điều Khiển (Data-Driven Errors):</a:t>
            </a:r>
            <a:r>
              <a:rPr lang="vi-VN" sz="1800" b="0" i="0" u="none" strike="noStrike" dirty="0">
                <a:solidFill>
                  <a:srgbClr val="000000"/>
                </a:solidFill>
                <a:effectLst/>
                <a:latin typeface="Times New Roman" panose="02020603050405020304" pitchFamily="18" charset="0"/>
              </a:rPr>
              <a:t> Dữ liệu cảm giác kích hoạt hành vi không chủ ý. Ví dụ: Bạn điền năm sinh (phải là </a:t>
            </a:r>
            <a:r>
              <a:rPr lang="vi-VN" sz="1800" b="0" i="1" u="none" strike="noStrike" dirty="0">
                <a:solidFill>
                  <a:srgbClr val="000000"/>
                </a:solidFill>
                <a:effectLst/>
                <a:latin typeface="Times New Roman" panose="02020603050405020304" pitchFamily="18" charset="0"/>
              </a:rPr>
              <a:t>2005</a:t>
            </a:r>
            <a:r>
              <a:rPr lang="vi-VN" sz="1800" b="0" i="0" u="none" strike="noStrike" dirty="0">
                <a:solidFill>
                  <a:srgbClr val="000000"/>
                </a:solidFill>
                <a:effectLst/>
                <a:latin typeface="Times New Roman" panose="02020603050405020304" pitchFamily="18" charset="0"/>
              </a:rPr>
              <a:t>), nhưng vì vừa nhìn thấy con số 2025 trên góc màn hình, tay bạn gõ 2025 theo quán tính.</a:t>
            </a:r>
            <a:endParaRPr lang="en-US" sz="1800" dirty="0"/>
          </a:p>
        </p:txBody>
      </p:sp>
      <p:sp>
        <p:nvSpPr>
          <p:cNvPr id="4" name="Slide Number Placeholder 3">
            <a:extLst>
              <a:ext uri="{FF2B5EF4-FFF2-40B4-BE49-F238E27FC236}">
                <a16:creationId xmlns:a16="http://schemas.microsoft.com/office/drawing/2014/main" id="{E8EBE37E-D5F7-C69D-0BC1-127EE29C1CC8}"/>
              </a:ext>
            </a:extLst>
          </p:cNvPr>
          <p:cNvSpPr>
            <a:spLocks noGrp="1"/>
          </p:cNvSpPr>
          <p:nvPr>
            <p:ph type="sldNum" sz="quarter" idx="5"/>
          </p:nvPr>
        </p:nvSpPr>
        <p:spPr/>
        <p:txBody>
          <a:bodyPr/>
          <a:lstStyle/>
          <a:p>
            <a:fld id="{2DCC0670-7746-4E74-90E4-D3E999690A6F}" type="slidenum">
              <a:rPr lang="en-US" smtClean="0"/>
              <a:t>9</a:t>
            </a:fld>
            <a:endParaRPr lang="en-US"/>
          </a:p>
        </p:txBody>
      </p:sp>
    </p:spTree>
    <p:extLst>
      <p:ext uri="{BB962C8B-B14F-4D97-AF65-F5344CB8AC3E}">
        <p14:creationId xmlns:p14="http://schemas.microsoft.com/office/powerpoint/2010/main" val="3704073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698F2-87D1-3681-3BBC-2569F2029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CF0F72-6229-6B0A-7EFA-2F8963EB6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FBED6-6BC2-91FE-9BC2-BD51AECDA194}"/>
              </a:ext>
            </a:extLst>
          </p:cNvPr>
          <p:cNvSpPr>
            <a:spLocks noGrp="1"/>
          </p:cNvSpPr>
          <p:nvPr>
            <p:ph type="body" idx="1"/>
          </p:nvPr>
        </p:nvSpPr>
        <p:spPr/>
        <p:txBody>
          <a:bodyPr/>
          <a:lstStyle/>
          <a:p>
            <a:pPr marL="914400" rtl="0" fontAlgn="base">
              <a:buFont typeface="Arial" panose="020B0604020202020204" pitchFamily="34" charset="0"/>
              <a:buNone/>
            </a:pPr>
            <a:r>
              <a:rPr lang="vi-VN" sz="1800" b="0" i="0" u="none" strike="noStrike" dirty="0">
                <a:solidFill>
                  <a:srgbClr val="000000"/>
                </a:solidFill>
                <a:effectLst/>
                <a:latin typeface="Times New Roman" panose="02020603050405020304" pitchFamily="18" charset="0"/>
              </a:rPr>
              <a:t>Định nghĩa: Một </a:t>
            </a:r>
            <a:r>
              <a:rPr lang="vi-VN" sz="1800" b="1" i="0" u="none" strike="noStrike" dirty="0">
                <a:solidFill>
                  <a:srgbClr val="000000"/>
                </a:solidFill>
                <a:effectLst/>
                <a:latin typeface="Times New Roman" panose="02020603050405020304" pitchFamily="18" charset="0"/>
              </a:rPr>
              <a:t>liên tưởng</a:t>
            </a:r>
            <a:r>
              <a:rPr lang="vi-VN" sz="1800" b="0" i="0" u="none" strike="noStrike" dirty="0">
                <a:solidFill>
                  <a:srgbClr val="000000"/>
                </a:solidFill>
                <a:effectLst/>
                <a:latin typeface="Times New Roman" panose="02020603050405020304" pitchFamily="18" charset="0"/>
              </a:rPr>
              <a:t> (từ/cụm ý) đang hình thành trong vô thức kéo hành động theo nó, dẫn đến nói/viết/bấm nhầm.</a:t>
            </a:r>
          </a:p>
          <a:p>
            <a:pPr>
              <a:buNone/>
            </a:pPr>
            <a:r>
              <a:rPr lang="vi-VN" sz="1800" b="0" i="0" u="none" strike="noStrike" dirty="0">
                <a:solidFill>
                  <a:srgbClr val="000000"/>
                </a:solidFill>
                <a:effectLst/>
                <a:latin typeface="Times New Roman" panose="02020603050405020304" pitchFamily="18" charset="0"/>
              </a:rPr>
              <a:t>Ví dụ: </a:t>
            </a:r>
            <a:r>
              <a:rPr lang="vi-VN" sz="2800" dirty="0"/>
              <a:t>Bạn định lái xe từ nhà đến </a:t>
            </a:r>
            <a:r>
              <a:rPr lang="vi-VN" sz="2800" b="1" dirty="0"/>
              <a:t>siêu thị</a:t>
            </a:r>
            <a:r>
              <a:rPr lang="vi-VN" sz="2800" dirty="0"/>
              <a:t>.</a:t>
            </a:r>
          </a:p>
          <a:p>
            <a:pPr>
              <a:buNone/>
            </a:pPr>
            <a:r>
              <a:rPr lang="vi-VN" sz="2800" dirty="0"/>
              <a:t>Nhưng vì ngày nào bạn cũng lái xe trên một đoạn đường chung để </a:t>
            </a:r>
            <a:r>
              <a:rPr lang="vi-VN" sz="2800" b="1" dirty="0"/>
              <a:t>đi làm</a:t>
            </a:r>
            <a:r>
              <a:rPr lang="vi-VN" sz="2800" dirty="0"/>
              <a:t>, bộ não của bạn đã hình thành một liên kết vô thức cực kỳ mạnh mẽ: (Ngồi lên xe = Đi làm).</a:t>
            </a:r>
          </a:p>
          <a:p>
            <a:r>
              <a:rPr lang="vi-VN" sz="2800" b="1" dirty="0"/>
              <a:t>Kết quả là:</a:t>
            </a:r>
            <a:r>
              <a:rPr lang="vi-VN" sz="2800" dirty="0"/>
              <a:t> Bạn lái xe một cách vô thức và khi sực tỉnh, bạn nhận ra mình đã lỡ đi qua lối rẽ vào siêu thị và đang... đi trên đường đến công ty.</a:t>
            </a:r>
          </a:p>
          <a:p>
            <a:pPr>
              <a:buNone/>
            </a:pPr>
            <a:endParaRPr lang="en-US" sz="1800" dirty="0"/>
          </a:p>
        </p:txBody>
      </p:sp>
      <p:sp>
        <p:nvSpPr>
          <p:cNvPr id="4" name="Slide Number Placeholder 3">
            <a:extLst>
              <a:ext uri="{FF2B5EF4-FFF2-40B4-BE49-F238E27FC236}">
                <a16:creationId xmlns:a16="http://schemas.microsoft.com/office/drawing/2014/main" id="{36E98F77-C96D-FEC3-DF85-FBBD443B8F8E}"/>
              </a:ext>
            </a:extLst>
          </p:cNvPr>
          <p:cNvSpPr>
            <a:spLocks noGrp="1"/>
          </p:cNvSpPr>
          <p:nvPr>
            <p:ph type="sldNum" sz="quarter" idx="5"/>
          </p:nvPr>
        </p:nvSpPr>
        <p:spPr/>
        <p:txBody>
          <a:bodyPr/>
          <a:lstStyle/>
          <a:p>
            <a:fld id="{2DCC0670-7746-4E74-90E4-D3E999690A6F}" type="slidenum">
              <a:rPr lang="en-US" smtClean="0"/>
              <a:t>10</a:t>
            </a:fld>
            <a:endParaRPr lang="en-US"/>
          </a:p>
        </p:txBody>
      </p:sp>
    </p:spTree>
    <p:extLst>
      <p:ext uri="{BB962C8B-B14F-4D97-AF65-F5344CB8AC3E}">
        <p14:creationId xmlns:p14="http://schemas.microsoft.com/office/powerpoint/2010/main" val="2858843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9D7EA-38F9-063F-3EF8-48A0CB352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7FE732-CC03-9F00-6DBE-C3A298AC33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C8D589-1656-590A-0C02-21A8B2D34AC0}"/>
              </a:ext>
            </a:extLst>
          </p:cNvPr>
          <p:cNvSpPr>
            <a:spLocks noGrp="1"/>
          </p:cNvSpPr>
          <p:nvPr>
            <p:ph type="body" idx="1"/>
          </p:nvPr>
        </p:nvSpPr>
        <p:spPr/>
        <p:txBody>
          <a:bodyPr/>
          <a:lstStyle/>
          <a:p>
            <a:pPr>
              <a:buNone/>
            </a:pPr>
            <a:r>
              <a:rPr lang="en-US" sz="1800" b="0" i="0" u="none" strike="noStrike" dirty="0" err="1">
                <a:solidFill>
                  <a:srgbClr val="000000"/>
                </a:solidFill>
                <a:effectLst/>
                <a:latin typeface="Times New Roman" panose="02020603050405020304" pitchFamily="18" charset="0"/>
              </a:rPr>
              <a:t>Là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lỗi</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mất</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não</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đó</a:t>
            </a:r>
            <a:r>
              <a:rPr lang="en-US" sz="1800" b="0" i="0" u="none" strike="noStrike" dirty="0">
                <a:solidFill>
                  <a:srgbClr val="000000"/>
                </a:solidFill>
                <a:effectLst/>
                <a:latin typeface="Times New Roman" panose="02020603050405020304" pitchFamily="18" charset="0"/>
              </a:rPr>
              <a:t> =))</a:t>
            </a:r>
            <a:endParaRPr lang="en-US" sz="1800" dirty="0"/>
          </a:p>
        </p:txBody>
      </p:sp>
      <p:sp>
        <p:nvSpPr>
          <p:cNvPr id="4" name="Slide Number Placeholder 3">
            <a:extLst>
              <a:ext uri="{FF2B5EF4-FFF2-40B4-BE49-F238E27FC236}">
                <a16:creationId xmlns:a16="http://schemas.microsoft.com/office/drawing/2014/main" id="{20E246F6-4844-BB28-AFDF-0757058B7CFE}"/>
              </a:ext>
            </a:extLst>
          </p:cNvPr>
          <p:cNvSpPr>
            <a:spLocks noGrp="1"/>
          </p:cNvSpPr>
          <p:nvPr>
            <p:ph type="sldNum" sz="quarter" idx="5"/>
          </p:nvPr>
        </p:nvSpPr>
        <p:spPr/>
        <p:txBody>
          <a:bodyPr/>
          <a:lstStyle/>
          <a:p>
            <a:fld id="{2DCC0670-7746-4E74-90E4-D3E999690A6F}" type="slidenum">
              <a:rPr lang="en-US" smtClean="0"/>
              <a:t>11</a:t>
            </a:fld>
            <a:endParaRPr lang="en-US"/>
          </a:p>
        </p:txBody>
      </p:sp>
    </p:spTree>
    <p:extLst>
      <p:ext uri="{BB962C8B-B14F-4D97-AF65-F5344CB8AC3E}">
        <p14:creationId xmlns:p14="http://schemas.microsoft.com/office/powerpoint/2010/main" val="1089173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D88F8-685A-E965-F380-9EFEA9E822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8C18D-1C6B-3C4B-B558-2205F5F7F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7EBC26-6509-520D-1F36-B333D8BA9D27}"/>
              </a:ext>
            </a:extLst>
          </p:cNvPr>
          <p:cNvSpPr>
            <a:spLocks noGrp="1"/>
          </p:cNvSpPr>
          <p:nvPr>
            <p:ph type="body" idx="1"/>
          </p:nvPr>
        </p:nvSpPr>
        <p:spPr/>
        <p:txBody>
          <a:bodyPr/>
          <a:lstStyle/>
          <a:p>
            <a:r>
              <a:rPr lang="vi-VN" sz="1800" b="0" i="0" u="none" strike="noStrike" dirty="0">
                <a:solidFill>
                  <a:srgbClr val="000000"/>
                </a:solidFill>
                <a:effectLst/>
                <a:latin typeface="Times New Roman" panose="02020603050405020304" pitchFamily="18" charset="0"/>
              </a:rPr>
              <a:t>Định nghĩa: Hành động đúng thao tác nhưng thực hiện trong chế độ sai → kết quả không như mong đợi.</a:t>
            </a:r>
          </a:p>
          <a:p>
            <a:r>
              <a:rPr lang="vi-VN" sz="1800" b="0" i="0" u="none" strike="noStrike" dirty="0">
                <a:solidFill>
                  <a:srgbClr val="000000"/>
                </a:solidFill>
                <a:effectLst/>
                <a:latin typeface="Times New Roman" panose="02020603050405020304" pitchFamily="18" charset="0"/>
              </a:rPr>
              <a:t>Ví dụ: Gõ số không ra vì Num Lock tắt; chỉnh tài liệu khi đang ở chế độ chỉ xem.</a:t>
            </a:r>
            <a:endParaRPr lang="en-US" sz="1800" b="0" dirty="0"/>
          </a:p>
        </p:txBody>
      </p:sp>
      <p:sp>
        <p:nvSpPr>
          <p:cNvPr id="4" name="Slide Number Placeholder 3">
            <a:extLst>
              <a:ext uri="{FF2B5EF4-FFF2-40B4-BE49-F238E27FC236}">
                <a16:creationId xmlns:a16="http://schemas.microsoft.com/office/drawing/2014/main" id="{ED0E6DDA-A813-021A-0374-DB3063490059}"/>
              </a:ext>
            </a:extLst>
          </p:cNvPr>
          <p:cNvSpPr>
            <a:spLocks noGrp="1"/>
          </p:cNvSpPr>
          <p:nvPr>
            <p:ph type="sldNum" sz="quarter" idx="5"/>
          </p:nvPr>
        </p:nvSpPr>
        <p:spPr/>
        <p:txBody>
          <a:bodyPr/>
          <a:lstStyle/>
          <a:p>
            <a:fld id="{2DCC0670-7746-4E74-90E4-D3E999690A6F}" type="slidenum">
              <a:rPr lang="en-US" smtClean="0"/>
              <a:t>12</a:t>
            </a:fld>
            <a:endParaRPr lang="en-US"/>
          </a:p>
        </p:txBody>
      </p:sp>
    </p:spTree>
    <p:extLst>
      <p:ext uri="{BB962C8B-B14F-4D97-AF65-F5344CB8AC3E}">
        <p14:creationId xmlns:p14="http://schemas.microsoft.com/office/powerpoint/2010/main" val="2171871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3BE1C-2742-7AC4-8118-8A9C96477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F44AD-5B64-FEDD-5436-42D311551A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49984B-90B4-0833-43AA-0E879A9F17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7C3FCA-A0A0-4FEB-2A62-082E875FCBE4}"/>
              </a:ext>
            </a:extLst>
          </p:cNvPr>
          <p:cNvSpPr>
            <a:spLocks noGrp="1"/>
          </p:cNvSpPr>
          <p:nvPr>
            <p:ph type="sldNum" sz="quarter" idx="5"/>
          </p:nvPr>
        </p:nvSpPr>
        <p:spPr/>
        <p:txBody>
          <a:bodyPr/>
          <a:lstStyle/>
          <a:p>
            <a:fld id="{2DCC0670-7746-4E74-90E4-D3E999690A6F}" type="slidenum">
              <a:rPr lang="en-US" smtClean="0"/>
              <a:t>13</a:t>
            </a:fld>
            <a:endParaRPr lang="en-US"/>
          </a:p>
        </p:txBody>
      </p:sp>
    </p:spTree>
    <p:extLst>
      <p:ext uri="{BB962C8B-B14F-4D97-AF65-F5344CB8AC3E}">
        <p14:creationId xmlns:p14="http://schemas.microsoft.com/office/powerpoint/2010/main" val="643849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68482-E833-9D37-DC87-4BB5A408E5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623EDE-0472-D130-8742-499ACD7245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F10052-CF8E-5133-C34A-17C5D26792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BB63B6-C416-DCB7-F4C0-C28962542FC9}"/>
              </a:ext>
            </a:extLst>
          </p:cNvPr>
          <p:cNvSpPr>
            <a:spLocks noGrp="1"/>
          </p:cNvSpPr>
          <p:nvPr>
            <p:ph type="sldNum" sz="quarter" idx="5"/>
          </p:nvPr>
        </p:nvSpPr>
        <p:spPr/>
        <p:txBody>
          <a:bodyPr/>
          <a:lstStyle/>
          <a:p>
            <a:fld id="{2DCC0670-7746-4E74-90E4-D3E999690A6F}" type="slidenum">
              <a:rPr lang="en-US" smtClean="0"/>
              <a:t>14</a:t>
            </a:fld>
            <a:endParaRPr lang="en-US"/>
          </a:p>
        </p:txBody>
      </p:sp>
    </p:spTree>
    <p:extLst>
      <p:ext uri="{BB962C8B-B14F-4D97-AF65-F5344CB8AC3E}">
        <p14:creationId xmlns:p14="http://schemas.microsoft.com/office/powerpoint/2010/main" val="1199735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B42D6-B0F3-FD53-EA37-2876FEB2F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22D2E-84FF-53F3-2412-DDD3E2C989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E753B-A7FA-ECEE-7457-7E7A369BF234}"/>
              </a:ext>
            </a:extLst>
          </p:cNvPr>
          <p:cNvSpPr>
            <a:spLocks noGrp="1"/>
          </p:cNvSpPr>
          <p:nvPr>
            <p:ph type="body" idx="1"/>
          </p:nvPr>
        </p:nvSpPr>
        <p:spPr/>
        <p:txBody>
          <a:bodyPr/>
          <a:lstStyle/>
          <a:p>
            <a:r>
              <a:rPr lang="vi-VN" sz="1800" b="1" i="0" u="sng" dirty="0">
                <a:solidFill>
                  <a:srgbClr val="000000"/>
                </a:solidFill>
                <a:effectLst/>
                <a:latin typeface="Times New Roman" panose="02020603050405020304" pitchFamily="18" charset="0"/>
              </a:rPr>
              <a:t>ngăn chặn sơ suất</a:t>
            </a:r>
            <a:r>
              <a:rPr lang="vi-VN" sz="1800" b="0" i="0" u="none" strike="noStrike" dirty="0">
                <a:solidFill>
                  <a:srgbClr val="000000"/>
                </a:solidFill>
                <a:effectLst/>
                <a:latin typeface="Times New Roman" panose="02020603050405020304" pitchFamily="18" charset="0"/>
              </a:rPr>
              <a:t>, nhà thiết kế nên </a:t>
            </a:r>
            <a:r>
              <a:rPr lang="vi-VN" sz="1800" b="1" i="0" u="none" strike="noStrike" dirty="0">
                <a:solidFill>
                  <a:srgbClr val="000000"/>
                </a:solidFill>
                <a:effectLst/>
                <a:latin typeface="Times New Roman" panose="02020603050405020304" pitchFamily="18" charset="0"/>
              </a:rPr>
              <a:t>giảm số chế độ</a:t>
            </a:r>
            <a:r>
              <a:rPr lang="vi-VN" sz="1800" b="0" i="0" u="none" strike="noStrike" dirty="0">
                <a:solidFill>
                  <a:srgbClr val="000000"/>
                </a:solidFill>
                <a:effectLst/>
                <a:latin typeface="Times New Roman" panose="02020603050405020304" pitchFamily="18" charset="0"/>
              </a:rPr>
              <a:t> hoặc ít nhất là </a:t>
            </a:r>
            <a:r>
              <a:rPr lang="vi-VN" sz="1800" b="1" i="0" u="none" strike="noStrike" dirty="0">
                <a:solidFill>
                  <a:srgbClr val="000000"/>
                </a:solidFill>
                <a:effectLst/>
                <a:latin typeface="Times New Roman" panose="02020603050405020304" pitchFamily="18" charset="0"/>
              </a:rPr>
              <a:t>làm cho chế độ trở nên hiển hiện</a:t>
            </a:r>
            <a:r>
              <a:rPr lang="vi-VN" sz="1800" b="0" i="0" u="none" strike="noStrike" dirty="0">
                <a:solidFill>
                  <a:srgbClr val="000000"/>
                </a:solidFill>
                <a:effectLst/>
                <a:latin typeface="Times New Roman" panose="02020603050405020304" pitchFamily="18" charset="0"/>
              </a:rPr>
              <a:t> (ví dụ như giảm lỗi chế độ trong ô tô bằng cách sử dụng </a:t>
            </a:r>
            <a:r>
              <a:rPr lang="vi-VN" sz="1800" b="1" i="0" u="none" strike="noStrike" dirty="0">
                <a:solidFill>
                  <a:srgbClr val="000000"/>
                </a:solidFill>
                <a:effectLst/>
                <a:latin typeface="Times New Roman" panose="02020603050405020304" pitchFamily="18" charset="0"/>
              </a:rPr>
              <a:t>hình dạng, kích thước miệng khác nhau</a:t>
            </a:r>
            <a:r>
              <a:rPr lang="vi-VN" sz="1800" b="0" i="0" u="none" strike="noStrike" dirty="0">
                <a:solidFill>
                  <a:srgbClr val="000000"/>
                </a:solidFill>
                <a:effectLst/>
                <a:latin typeface="Times New Roman" panose="02020603050405020304" pitchFamily="18" charset="0"/>
              </a:rPr>
              <a:t> và </a:t>
            </a:r>
            <a:r>
              <a:rPr lang="vi-VN" sz="1800" b="1" i="0" u="none" strike="noStrike" dirty="0">
                <a:solidFill>
                  <a:srgbClr val="000000"/>
                </a:solidFill>
                <a:effectLst/>
                <a:latin typeface="Times New Roman" panose="02020603050405020304" pitchFamily="18" charset="0"/>
              </a:rPr>
              <a:t>tô màu</a:t>
            </a:r>
            <a:r>
              <a:rPr lang="vi-VN" sz="1800" b="0" i="0" u="none" strike="noStrike" dirty="0">
                <a:solidFill>
                  <a:srgbClr val="000000"/>
                </a:solidFill>
                <a:effectLst/>
                <a:latin typeface="Times New Roman" panose="02020603050405020304" pitchFamily="18" charset="0"/>
              </a:rPr>
              <a:t> cho các khoang chứa chất lỏng). Ngược lại, việc sử dụng các thiết kế có cho những chức năng có hậu quả nghiêm trọng (ví dụ: nút </a:t>
            </a:r>
            <a:r>
              <a:rPr lang="vi-VN" sz="1800" b="1" i="0" u="none" strike="noStrike" dirty="0">
                <a:solidFill>
                  <a:srgbClr val="000000"/>
                </a:solidFill>
                <a:effectLst/>
                <a:latin typeface="Times New Roman" panose="02020603050405020304" pitchFamily="18" charset="0"/>
              </a:rPr>
              <a:t>đặt lại</a:t>
            </a:r>
            <a:r>
              <a:rPr lang="vi-VN" sz="1800" b="0" i="0" u="none" strike="noStrike" dirty="0">
                <a:solidFill>
                  <a:srgbClr val="000000"/>
                </a:solidFill>
                <a:effectLst/>
                <a:latin typeface="Times New Roman" panose="02020603050405020304" pitchFamily="18" charset="0"/>
              </a:rPr>
              <a:t> toàn bộ hệ thống) được coi là </a:t>
            </a:r>
            <a:r>
              <a:rPr lang="vi-VN" sz="1800" b="1" i="0" u="none" strike="noStrike" dirty="0">
                <a:solidFill>
                  <a:srgbClr val="000000"/>
                </a:solidFill>
                <a:effectLst/>
                <a:latin typeface="Times New Roman" panose="02020603050405020304" pitchFamily="18" charset="0"/>
              </a:rPr>
              <a:t>khuyến khích lỗi</a:t>
            </a:r>
            <a:r>
              <a:rPr lang="vi-VN" sz="1800" b="0" i="0" u="none" strike="noStrike" dirty="0">
                <a:solidFill>
                  <a:srgbClr val="000000"/>
                </a:solidFill>
                <a:effectLst/>
                <a:latin typeface="Times New Roman" panose="02020603050405020304" pitchFamily="18" charset="0"/>
              </a:rPr>
              <a:t>. </a:t>
            </a:r>
            <a:endParaRPr lang="en-US" dirty="0"/>
          </a:p>
        </p:txBody>
      </p:sp>
      <p:sp>
        <p:nvSpPr>
          <p:cNvPr id="4" name="Slide Number Placeholder 3">
            <a:extLst>
              <a:ext uri="{FF2B5EF4-FFF2-40B4-BE49-F238E27FC236}">
                <a16:creationId xmlns:a16="http://schemas.microsoft.com/office/drawing/2014/main" id="{127CE272-FF9B-47EC-3344-7E84F14784C9}"/>
              </a:ext>
            </a:extLst>
          </p:cNvPr>
          <p:cNvSpPr>
            <a:spLocks noGrp="1"/>
          </p:cNvSpPr>
          <p:nvPr>
            <p:ph type="sldNum" sz="quarter" idx="5"/>
          </p:nvPr>
        </p:nvSpPr>
        <p:spPr/>
        <p:txBody>
          <a:bodyPr/>
          <a:lstStyle/>
          <a:p>
            <a:fld id="{2DCC0670-7746-4E74-90E4-D3E999690A6F}" type="slidenum">
              <a:rPr lang="en-US" smtClean="0"/>
              <a:t>15</a:t>
            </a:fld>
            <a:endParaRPr lang="en-US"/>
          </a:p>
        </p:txBody>
      </p:sp>
    </p:spTree>
    <p:extLst>
      <p:ext uri="{BB962C8B-B14F-4D97-AF65-F5344CB8AC3E}">
        <p14:creationId xmlns:p14="http://schemas.microsoft.com/office/powerpoint/2010/main" val="2652191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01586-8EEA-BE67-BE2B-32398A3808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38358-ADD5-5DC6-D4C5-BAA455D4E3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49A49B-9374-C76D-CB31-CB8FA46137A4}"/>
              </a:ext>
            </a:extLst>
          </p:cNvPr>
          <p:cNvSpPr>
            <a:spLocks noGrp="1"/>
          </p:cNvSpPr>
          <p:nvPr>
            <p:ph type="body" idx="1"/>
          </p:nvPr>
        </p:nvSpPr>
        <p:spPr/>
        <p:txBody>
          <a:bodyPr/>
          <a:lstStyle/>
          <a:p>
            <a:r>
              <a:rPr lang="en-US" sz="1800" b="0" i="0" u="none" strike="noStrike" dirty="0" err="1">
                <a:solidFill>
                  <a:srgbClr val="000000"/>
                </a:solidFill>
                <a:effectLst/>
                <a:latin typeface="Times New Roman" panose="02020603050405020304" pitchFamily="18" charset="0"/>
              </a:rPr>
              <a:t>Đối</a:t>
            </a:r>
            <a:r>
              <a:rPr lang="en-US" sz="1800" b="0" i="0" u="none" strike="noStrike" dirty="0">
                <a:solidFill>
                  <a:srgbClr val="000000"/>
                </a:solidFill>
                <a:effectLst/>
                <a:latin typeface="Times New Roman" panose="02020603050405020304" pitchFamily="18" charset="0"/>
              </a:rPr>
              <a:t> </a:t>
            </a:r>
            <a:r>
              <a:rPr lang="vi-VN" sz="1800" b="0" i="0" u="none" strike="noStrike" dirty="0">
                <a:solidFill>
                  <a:srgbClr val="000000"/>
                </a:solidFill>
                <a:effectLst/>
                <a:latin typeface="Times New Roman" panose="02020603050405020304" pitchFamily="18" charset="0"/>
              </a:rPr>
              <a:t>với việc </a:t>
            </a:r>
            <a:r>
              <a:rPr lang="vi-VN" sz="1800" b="1" i="0" u="sng" dirty="0">
                <a:solidFill>
                  <a:srgbClr val="000000"/>
                </a:solidFill>
                <a:effectLst/>
                <a:latin typeface="Times New Roman" panose="02020603050405020304" pitchFamily="18" charset="0"/>
              </a:rPr>
              <a:t>phát hiện và sửa lỗi</a:t>
            </a:r>
            <a:r>
              <a:rPr lang="vi-VN" sz="1800" b="0" i="0" u="none" strike="noStrike" dirty="0">
                <a:solidFill>
                  <a:srgbClr val="000000"/>
                </a:solidFill>
                <a:effectLst/>
                <a:latin typeface="Times New Roman" panose="02020603050405020304" pitchFamily="18" charset="0"/>
              </a:rPr>
              <a:t>, các nguồn chỉ ra rằng việc </a:t>
            </a:r>
            <a:r>
              <a:rPr lang="vi-VN" sz="1800" b="1" i="0" u="none" strike="noStrike" dirty="0">
                <a:solidFill>
                  <a:srgbClr val="000000"/>
                </a:solidFill>
                <a:effectLst/>
                <a:latin typeface="Times New Roman" panose="02020603050405020304" pitchFamily="18" charset="0"/>
              </a:rPr>
              <a:t>yêu cầu xác nhận</a:t>
            </a:r>
            <a:r>
              <a:rPr lang="vi-VN" sz="1800" b="0" i="0" u="none" strike="noStrike" dirty="0">
                <a:solidFill>
                  <a:srgbClr val="000000"/>
                </a:solidFill>
                <a:effectLst/>
                <a:latin typeface="Times New Roman" panose="02020603050405020304" pitchFamily="18" charset="0"/>
              </a:rPr>
              <a:t> (ví dụ: trước khi xóa tệp) thường </a:t>
            </a:r>
            <a:r>
              <a:rPr lang="vi-VN" sz="1800" b="1" i="0" u="none" strike="noStrike" dirty="0">
                <a:solidFill>
                  <a:srgbClr val="000000"/>
                </a:solidFill>
                <a:effectLst/>
                <a:latin typeface="Times New Roman" panose="02020603050405020304" pitchFamily="18" charset="0"/>
              </a:rPr>
              <a:t>không hiệu quả</a:t>
            </a:r>
            <a:r>
              <a:rPr lang="vi-VN" sz="1800" b="0" i="0" u="none" strike="noStrike" dirty="0">
                <a:solidFill>
                  <a:srgbClr val="000000"/>
                </a:solidFill>
                <a:effectLst/>
                <a:latin typeface="Times New Roman" panose="02020603050405020304" pitchFamily="18" charset="0"/>
              </a:rPr>
              <a:t> vì người dùng lúc đó chỉ </a:t>
            </a:r>
            <a:r>
              <a:rPr lang="vi-VN" sz="1800" b="1" i="0" u="none" strike="noStrike" dirty="0">
                <a:solidFill>
                  <a:srgbClr val="000000"/>
                </a:solidFill>
                <a:effectLst/>
                <a:latin typeface="Times New Roman" panose="02020603050405020304" pitchFamily="18" charset="0"/>
              </a:rPr>
              <a:t>xác nhận hành động</a:t>
            </a:r>
            <a:r>
              <a:rPr lang="vi-VN" sz="1800" b="0" i="0" u="none" strike="noStrike" dirty="0">
                <a:solidFill>
                  <a:srgbClr val="000000"/>
                </a:solidFill>
                <a:effectLst/>
                <a:latin typeface="Times New Roman" panose="02020603050405020304" pitchFamily="18" charset="0"/>
              </a:rPr>
              <a:t> chứ không phải tên tệp. Giải pháp tốt hơn là </a:t>
            </a:r>
            <a:r>
              <a:rPr lang="vi-VN" sz="1800" b="1" i="0" u="none" strike="noStrike" dirty="0">
                <a:solidFill>
                  <a:srgbClr val="000000"/>
                </a:solidFill>
                <a:effectLst/>
                <a:latin typeface="Times New Roman" panose="02020603050405020304" pitchFamily="18" charset="0"/>
              </a:rPr>
              <a:t>loại bỏ các hành động không thể đảo ngược</a:t>
            </a:r>
            <a:r>
              <a:rPr lang="vi-VN" sz="1800" b="0" i="0" u="none" strike="noStrike" dirty="0">
                <a:solidFill>
                  <a:srgbClr val="000000"/>
                </a:solidFill>
                <a:effectLst/>
                <a:latin typeface="Times New Roman" panose="02020603050405020304" pitchFamily="18" charset="0"/>
              </a:rPr>
              <a:t>; ví dụ, thay vì xóa vĩnh viễn tệp, hệ thống nên </a:t>
            </a:r>
            <a:r>
              <a:rPr lang="vi-VN" sz="1800" b="1" i="0" u="none" strike="noStrike" dirty="0">
                <a:solidFill>
                  <a:srgbClr val="000000"/>
                </a:solidFill>
                <a:effectLst/>
                <a:latin typeface="Times New Roman" panose="02020603050405020304" pitchFamily="18" charset="0"/>
              </a:rPr>
              <a:t>chuyển tệp vào nơi lưu tạm</a:t>
            </a:r>
            <a:r>
              <a:rPr lang="vi-VN" sz="1800" b="0" i="0" u="none" strike="noStrike" dirty="0">
                <a:solidFill>
                  <a:srgbClr val="000000"/>
                </a:solidFill>
                <a:effectLst/>
                <a:latin typeface="Times New Roman" panose="02020603050405020304" pitchFamily="18" charset="0"/>
              </a:rPr>
              <a:t>, cho phép người dùng </a:t>
            </a:r>
            <a:r>
              <a:rPr lang="vi-VN" sz="1800" b="1" i="0" u="none" strike="noStrike" dirty="0">
                <a:solidFill>
                  <a:srgbClr val="000000"/>
                </a:solidFill>
                <a:effectLst/>
                <a:latin typeface="Times New Roman" panose="02020603050405020304" pitchFamily="18" charset="0"/>
              </a:rPr>
              <a:t>thời gian cân nhắc lại và khôi phục</a:t>
            </a:r>
            <a:r>
              <a:rPr lang="vi-VN" sz="1800" b="0" i="0" u="none" strike="noStrike" dirty="0">
                <a:solidFill>
                  <a:srgbClr val="000000"/>
                </a:solidFill>
                <a:effectLst/>
                <a:latin typeface="Times New Roman" panose="02020603050405020304" pitchFamily="18" charset="0"/>
              </a:rPr>
              <a:t> (tương tự triết lý sử dụng </a:t>
            </a:r>
            <a:r>
              <a:rPr lang="vi-VN" sz="1800" b="1" i="0" u="none" strike="noStrike" dirty="0">
                <a:solidFill>
                  <a:srgbClr val="000000"/>
                </a:solidFill>
                <a:effectLst/>
                <a:latin typeface="Times New Roman" panose="02020603050405020304" pitchFamily="18" charset="0"/>
              </a:rPr>
              <a:t>thùng rác dự phòng</a:t>
            </a:r>
            <a:r>
              <a:rPr lang="vi-VN" sz="1800" b="0" i="0" u="none" strike="noStrike" dirty="0">
                <a:solidFill>
                  <a:srgbClr val="000000"/>
                </a:solidFill>
                <a:effectLst/>
                <a:latin typeface="Times New Roman" panose="02020603050405020304" pitchFamily="18" charset="0"/>
              </a:rPr>
              <a:t> trong phòng thí nghiệm). Tuy nhiên, thiết kế là </a:t>
            </a:r>
            <a:r>
              <a:rPr lang="vi-VN" sz="1800" b="1" i="0" u="none" strike="noStrike" dirty="0">
                <a:solidFill>
                  <a:srgbClr val="000000"/>
                </a:solidFill>
                <a:effectLst/>
                <a:latin typeface="Times New Roman" panose="02020603050405020304" pitchFamily="18" charset="0"/>
              </a:rPr>
              <a:t>sự đánh đổi</a:t>
            </a:r>
            <a:r>
              <a:rPr lang="vi-VN" sz="1800" b="0" i="0" u="none" strike="noStrike" dirty="0">
                <a:solidFill>
                  <a:srgbClr val="000000"/>
                </a:solidFill>
                <a:effectLst/>
                <a:latin typeface="Times New Roman" panose="02020603050405020304" pitchFamily="18" charset="0"/>
              </a:rPr>
              <a:t>, và khi tạo ra một </a:t>
            </a:r>
            <a:r>
              <a:rPr lang="vi-VN" sz="1800" b="1" i="0" u="none" strike="noStrike" dirty="0">
                <a:solidFill>
                  <a:srgbClr val="000000"/>
                </a:solidFill>
                <a:effectLst/>
                <a:latin typeface="Times New Roman" panose="02020603050405020304" pitchFamily="18" charset="0"/>
              </a:rPr>
              <a:t>cơ chế khoan dung lỗi</a:t>
            </a:r>
            <a:r>
              <a:rPr lang="vi-VN" sz="1800" b="0" i="0" u="none" strike="noStrike" dirty="0">
                <a:solidFill>
                  <a:srgbClr val="000000"/>
                </a:solidFill>
                <a:effectLst/>
                <a:latin typeface="Times New Roman" panose="02020603050405020304" pitchFamily="18" charset="0"/>
              </a:rPr>
              <a:t> (mà người dùng sẽ </a:t>
            </a:r>
            <a:r>
              <a:rPr lang="vi-VN" sz="1800" b="1" i="0" u="none" strike="noStrike" dirty="0">
                <a:solidFill>
                  <a:srgbClr val="000000"/>
                </a:solidFill>
                <a:effectLst/>
                <a:latin typeface="Times New Roman" panose="02020603050405020304" pitchFamily="18" charset="0"/>
              </a:rPr>
              <a:t>trông cậy</a:t>
            </a:r>
            <a:r>
              <a:rPr lang="vi-VN" sz="1800" b="0" i="0" u="none" strike="noStrike" dirty="0">
                <a:solidFill>
                  <a:srgbClr val="000000"/>
                </a:solidFill>
                <a:effectLst/>
                <a:latin typeface="Times New Roman" panose="02020603050405020304" pitchFamily="18" charset="0"/>
              </a:rPr>
              <a:t> vào), </a:t>
            </a:r>
            <a:r>
              <a:rPr lang="vi-VN" sz="1800" b="1" i="0" u="none" strike="noStrike" dirty="0">
                <a:solidFill>
                  <a:srgbClr val="000000"/>
                </a:solidFill>
                <a:effectLst/>
                <a:latin typeface="Times New Roman" panose="02020603050405020304" pitchFamily="18" charset="0"/>
              </a:rPr>
              <a:t>nó phải đủ tin cậy</a:t>
            </a:r>
            <a:r>
              <a:rPr lang="vi-VN" sz="1800" b="0" i="0" u="none" strike="noStrike" dirty="0">
                <a:solidFill>
                  <a:srgbClr val="000000"/>
                </a:solidFill>
                <a:effectLst/>
                <a:latin typeface="Times New Roman" panose="02020603050405020304" pitchFamily="18" charset="0"/>
              </a:rPr>
              <a:t>, vì nếu thất bại, hậu quả có thể rất tệ.</a:t>
            </a:r>
            <a:endParaRPr lang="en-US" dirty="0"/>
          </a:p>
        </p:txBody>
      </p:sp>
      <p:sp>
        <p:nvSpPr>
          <p:cNvPr id="4" name="Slide Number Placeholder 3">
            <a:extLst>
              <a:ext uri="{FF2B5EF4-FFF2-40B4-BE49-F238E27FC236}">
                <a16:creationId xmlns:a16="http://schemas.microsoft.com/office/drawing/2014/main" id="{91A59167-04B4-6DDC-BA29-FCD76405514F}"/>
              </a:ext>
            </a:extLst>
          </p:cNvPr>
          <p:cNvSpPr>
            <a:spLocks noGrp="1"/>
          </p:cNvSpPr>
          <p:nvPr>
            <p:ph type="sldNum" sz="quarter" idx="5"/>
          </p:nvPr>
        </p:nvSpPr>
        <p:spPr/>
        <p:txBody>
          <a:bodyPr/>
          <a:lstStyle/>
          <a:p>
            <a:fld id="{2DCC0670-7746-4E74-90E4-D3E999690A6F}" type="slidenum">
              <a:rPr lang="en-US" smtClean="0"/>
              <a:t>16</a:t>
            </a:fld>
            <a:endParaRPr lang="en-US"/>
          </a:p>
        </p:txBody>
      </p:sp>
    </p:spTree>
    <p:extLst>
      <p:ext uri="{BB962C8B-B14F-4D97-AF65-F5344CB8AC3E}">
        <p14:creationId xmlns:p14="http://schemas.microsoft.com/office/powerpoint/2010/main" val="16260647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0525D-9145-7E06-9988-C57C676CF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FA823-E969-1F51-D9B1-FE2F259F82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725E5F-DCB5-7A86-4614-C3324B3B08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57A5B8-EBC5-48CB-112E-9F8B8683B886}"/>
              </a:ext>
            </a:extLst>
          </p:cNvPr>
          <p:cNvSpPr>
            <a:spLocks noGrp="1"/>
          </p:cNvSpPr>
          <p:nvPr>
            <p:ph type="sldNum" sz="quarter" idx="5"/>
          </p:nvPr>
        </p:nvSpPr>
        <p:spPr/>
        <p:txBody>
          <a:bodyPr/>
          <a:lstStyle/>
          <a:p>
            <a:fld id="{2DCC0670-7746-4E74-90E4-D3E999690A6F}" type="slidenum">
              <a:rPr lang="en-US" smtClean="0"/>
              <a:t>18</a:t>
            </a:fld>
            <a:endParaRPr lang="en-US"/>
          </a:p>
        </p:txBody>
      </p:sp>
    </p:spTree>
    <p:extLst>
      <p:ext uri="{BB962C8B-B14F-4D97-AF65-F5344CB8AC3E}">
        <p14:creationId xmlns:p14="http://schemas.microsoft.com/office/powerpoint/2010/main" val="1447404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09373-2350-B06B-D1A6-FCB676115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38AF4-E854-46E6-7C97-7ECB5C1690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D0E436-6F73-86A7-D638-9BDA473F184B}"/>
              </a:ext>
            </a:extLst>
          </p:cNvPr>
          <p:cNvSpPr>
            <a:spLocks noGrp="1"/>
          </p:cNvSpPr>
          <p:nvPr>
            <p:ph type="body" idx="1"/>
          </p:nvPr>
        </p:nvSpPr>
        <p:spPr/>
        <p:txBody>
          <a:bodyPr/>
          <a:lstStyle/>
          <a:p>
            <a:r>
              <a:rPr lang="vi-VN" sz="1800" b="1" i="0" u="none" strike="noStrike" dirty="0">
                <a:solidFill>
                  <a:srgbClr val="000000"/>
                </a:solidFill>
                <a:effectLst/>
                <a:latin typeface="Times New Roman" panose="02020603050405020304" pitchFamily="18" charset="0"/>
              </a:rPr>
              <a:t>Slips (sơ suất):</a:t>
            </a:r>
            <a:r>
              <a:rPr lang="vi-VN" sz="1800" b="0" i="0" u="none" strike="noStrike" dirty="0">
                <a:solidFill>
                  <a:srgbClr val="000000"/>
                </a:solidFill>
                <a:effectLst/>
                <a:latin typeface="Times New Roman" panose="02020603050405020304" pitchFamily="18" charset="0"/>
              </a:rPr>
              <a:t> Phát sinh từ hành vi tự động khi các hành động tiềm thức đi chệch hướng, mặc dù mục tiêu ban đầu là phù hợp. Slips thường là những sự việc nhỏ, dễ dàng phát hiện bằng cách quan sát đơn giản</a:t>
            </a:r>
            <a:endParaRPr lang="en-US" sz="1800" b="0" i="0" u="none" strike="noStrike" dirty="0">
              <a:solidFill>
                <a:srgbClr val="000000"/>
              </a:solidFill>
              <a:effectLst/>
              <a:latin typeface="Times New Roman" panose="02020603050405020304" pitchFamily="18" charset="0"/>
            </a:endParaRPr>
          </a:p>
          <a:p>
            <a:r>
              <a:rPr lang="vi-VN" sz="1800" b="1" i="0" u="none" strike="noStrike" dirty="0">
                <a:solidFill>
                  <a:srgbClr val="000000"/>
                </a:solidFill>
                <a:effectLst/>
                <a:latin typeface="Times New Roman" panose="02020603050405020304" pitchFamily="18" charset="0"/>
              </a:rPr>
              <a:t>Mistakes (Sai lầm):</a:t>
            </a:r>
            <a:r>
              <a:rPr lang="vi-VN" sz="1800" b="0" i="0" u="none" strike="noStrike" dirty="0">
                <a:solidFill>
                  <a:srgbClr val="000000"/>
                </a:solidFill>
                <a:effectLst/>
                <a:latin typeface="Times New Roman" panose="02020603050405020304" pitchFamily="18" charset="0"/>
              </a:rPr>
              <a:t> Phát sinh từ sự cân nhắc có ý thức, khi một người hình thành mục tiêu sai lầm. Mistakes có thể là các sự kiện lớn và khó phát hiện hơn, bởi vì hành động được thực hiện là phù hợp với mục tiêu sai đó.</a:t>
            </a:r>
            <a:endParaRPr lang="en-US" dirty="0"/>
          </a:p>
        </p:txBody>
      </p:sp>
      <p:sp>
        <p:nvSpPr>
          <p:cNvPr id="4" name="Slide Number Placeholder 3">
            <a:extLst>
              <a:ext uri="{FF2B5EF4-FFF2-40B4-BE49-F238E27FC236}">
                <a16:creationId xmlns:a16="http://schemas.microsoft.com/office/drawing/2014/main" id="{94D496A4-F82F-C1D7-3F40-B3476B077197}"/>
              </a:ext>
            </a:extLst>
          </p:cNvPr>
          <p:cNvSpPr>
            <a:spLocks noGrp="1"/>
          </p:cNvSpPr>
          <p:nvPr>
            <p:ph type="sldNum" sz="quarter" idx="5"/>
          </p:nvPr>
        </p:nvSpPr>
        <p:spPr/>
        <p:txBody>
          <a:bodyPr/>
          <a:lstStyle/>
          <a:p>
            <a:fld id="{2DCC0670-7746-4E74-90E4-D3E999690A6F}" type="slidenum">
              <a:rPr lang="en-US" smtClean="0"/>
              <a:t>19</a:t>
            </a:fld>
            <a:endParaRPr lang="en-US"/>
          </a:p>
        </p:txBody>
      </p:sp>
    </p:spTree>
    <p:extLst>
      <p:ext uri="{BB962C8B-B14F-4D97-AF65-F5344CB8AC3E}">
        <p14:creationId xmlns:p14="http://schemas.microsoft.com/office/powerpoint/2010/main" val="3334440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CEE49-C102-195E-9CC7-65D8DB0151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13E74-0CD6-64AF-4345-05BD20B88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40BE2-9097-7CDE-3DB9-5D92D6B378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C403C0-EDC5-AD12-CB29-39478CB3A2F1}"/>
              </a:ext>
            </a:extLst>
          </p:cNvPr>
          <p:cNvSpPr>
            <a:spLocks noGrp="1"/>
          </p:cNvSpPr>
          <p:nvPr>
            <p:ph type="sldNum" sz="quarter" idx="5"/>
          </p:nvPr>
        </p:nvSpPr>
        <p:spPr/>
        <p:txBody>
          <a:bodyPr/>
          <a:lstStyle/>
          <a:p>
            <a:fld id="{2DCC0670-7746-4E74-90E4-D3E999690A6F}" type="slidenum">
              <a:rPr lang="en-US" smtClean="0"/>
              <a:t>20</a:t>
            </a:fld>
            <a:endParaRPr lang="en-US"/>
          </a:p>
        </p:txBody>
      </p:sp>
    </p:spTree>
    <p:extLst>
      <p:ext uri="{BB962C8B-B14F-4D97-AF65-F5344CB8AC3E}">
        <p14:creationId xmlns:p14="http://schemas.microsoft.com/office/powerpoint/2010/main" val="4205935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8F421-AAF8-D3AF-D9F8-BEE3CBDCA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B4C9F-9106-19B7-D513-1C59051114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64E56C-8014-FA4A-3381-22DA9B617597}"/>
              </a:ext>
            </a:extLst>
          </p:cNvPr>
          <p:cNvSpPr>
            <a:spLocks noGrp="1"/>
          </p:cNvSpPr>
          <p:nvPr>
            <p:ph type="body" idx="1"/>
          </p:nvPr>
        </p:nvSpPr>
        <p:spPr/>
        <p:txBody>
          <a:bodyPr/>
          <a:lstStyle/>
          <a:p>
            <a:r>
              <a:rPr lang="vi-VN" sz="1800" b="0" i="0" u="none" strike="noStrike" dirty="0">
                <a:solidFill>
                  <a:srgbClr val="000000"/>
                </a:solidFill>
                <a:effectLst/>
                <a:latin typeface="Times New Roman" panose="02020603050405020304" pitchFamily="18" charset="0"/>
              </a:rPr>
              <a:t>Cách vận hành: Ta hình dung người ra quyết định giống như “máy suy luận”: tập hợp dữ liệu → áp dụng quy tắc suy diễn (như trong toán–logic) → so sánh các lựa chọn → chọn phương án tối ưu.</a:t>
            </a:r>
            <a:endParaRPr lang="en-US" sz="1800" b="0" i="0" u="none" strike="noStrike" dirty="0">
              <a:solidFill>
                <a:srgbClr val="000000"/>
              </a:solidFill>
              <a:effectLst/>
              <a:latin typeface="Times New Roman" panose="02020603050405020304" pitchFamily="18" charset="0"/>
            </a:endParaRPr>
          </a:p>
          <a:p>
            <a:r>
              <a:rPr lang="vi-VN" sz="1800" b="0" i="0" u="none" strike="noStrike" dirty="0">
                <a:solidFill>
                  <a:srgbClr val="000000"/>
                </a:solidFill>
                <a:effectLst/>
                <a:latin typeface="Times New Roman" panose="02020603050405020304" pitchFamily="18" charset="0"/>
              </a:rPr>
              <a:t>Ví dụ: Buổi sáng chọn món ăn, bạn không ngồi tính bài toán “giá–calo–vi chất” để tối ưu sức khỏe và chi phí. Thay vào đó, bạn nhớ hôm qua ăn phở thấy ngon, liên tưởng đến quán quen, hình dung mùi nước dùng… rồi quyết luôn: “Ăn phở.” Đây là quyết định hợp tình, dễ hiểu, nhưng không phải quy trình tối ưu mang tính logic hình thức như mô hình lý tính giả định.</a:t>
            </a:r>
            <a:endParaRPr lang="en-US" dirty="0"/>
          </a:p>
        </p:txBody>
      </p:sp>
      <p:sp>
        <p:nvSpPr>
          <p:cNvPr id="4" name="Slide Number Placeholder 3">
            <a:extLst>
              <a:ext uri="{FF2B5EF4-FFF2-40B4-BE49-F238E27FC236}">
                <a16:creationId xmlns:a16="http://schemas.microsoft.com/office/drawing/2014/main" id="{5B7411CF-1883-D41E-9D8A-AF2EBB1F6CBD}"/>
              </a:ext>
            </a:extLst>
          </p:cNvPr>
          <p:cNvSpPr>
            <a:spLocks noGrp="1"/>
          </p:cNvSpPr>
          <p:nvPr>
            <p:ph type="sldNum" sz="quarter" idx="5"/>
          </p:nvPr>
        </p:nvSpPr>
        <p:spPr/>
        <p:txBody>
          <a:bodyPr/>
          <a:lstStyle/>
          <a:p>
            <a:fld id="{2DCC0670-7746-4E74-90E4-D3E999690A6F}" type="slidenum">
              <a:rPr lang="en-US" smtClean="0"/>
              <a:t>21</a:t>
            </a:fld>
            <a:endParaRPr lang="en-US"/>
          </a:p>
        </p:txBody>
      </p:sp>
    </p:spTree>
    <p:extLst>
      <p:ext uri="{BB962C8B-B14F-4D97-AF65-F5344CB8AC3E}">
        <p14:creationId xmlns:p14="http://schemas.microsoft.com/office/powerpoint/2010/main" val="19771119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8A41D-BA16-CF1D-EA7B-566BF262E7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2D88C-A8E7-F08D-02C0-C1AA91F00D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D997AE-C262-6AED-2840-7B10CF4D3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74B0FD-6E21-019B-6A31-57133309271B}"/>
              </a:ext>
            </a:extLst>
          </p:cNvPr>
          <p:cNvSpPr>
            <a:spLocks noGrp="1"/>
          </p:cNvSpPr>
          <p:nvPr>
            <p:ph type="sldNum" sz="quarter" idx="5"/>
          </p:nvPr>
        </p:nvSpPr>
        <p:spPr/>
        <p:txBody>
          <a:bodyPr/>
          <a:lstStyle/>
          <a:p>
            <a:fld id="{2DCC0670-7746-4E74-90E4-D3E999690A6F}" type="slidenum">
              <a:rPr lang="en-US" smtClean="0"/>
              <a:t>22</a:t>
            </a:fld>
            <a:endParaRPr lang="en-US"/>
          </a:p>
        </p:txBody>
      </p:sp>
    </p:spTree>
    <p:extLst>
      <p:ext uri="{BB962C8B-B14F-4D97-AF65-F5344CB8AC3E}">
        <p14:creationId xmlns:p14="http://schemas.microsoft.com/office/powerpoint/2010/main" val="9792422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6748C-89D7-88AA-59CD-46C96929D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33BD2-8380-AFCB-30D8-A1B676879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0B476D-8FFE-2CC6-BA67-E96F6271A9DE}"/>
              </a:ext>
            </a:extLst>
          </p:cNvPr>
          <p:cNvSpPr>
            <a:spLocks noGrp="1"/>
          </p:cNvSpPr>
          <p:nvPr>
            <p:ph type="body" idx="1"/>
          </p:nvPr>
        </p:nvSpPr>
        <p:spPr/>
        <p:txBody>
          <a:bodyPr/>
          <a:lstStyle/>
          <a:p>
            <a:pPr>
              <a:buNone/>
            </a:pPr>
            <a:r>
              <a:rPr lang="vi-VN" b="1" dirty="0">
                <a:effectLst/>
              </a:rPr>
              <a:t>A. Vận hành tự động (Dựa trên Kinh nghiệm):</a:t>
            </a:r>
            <a:endParaRPr lang="vi-VN" dirty="0">
              <a:effectLst/>
            </a:endParaRPr>
          </a:p>
          <a:p>
            <a:pPr>
              <a:buNone/>
            </a:pPr>
            <a:r>
              <a:rPr lang="vi-VN" dirty="0">
                <a:effectLst/>
              </a:rPr>
              <a:t>Hầu hết các hành vi hàng ngày được thực hiện một cách tự động, vô thức, không cần nhận thức rõ ràng.</a:t>
            </a:r>
          </a:p>
          <a:p>
            <a:pPr>
              <a:buNone/>
            </a:pPr>
            <a:r>
              <a:rPr lang="vi-VN" dirty="0">
                <a:effectLst/>
              </a:rPr>
              <a:t>• </a:t>
            </a:r>
            <a:r>
              <a:rPr lang="vi-VN" b="1" dirty="0">
                <a:effectLst/>
              </a:rPr>
              <a:t>So khớp mẫu (Pattern Matching):</a:t>
            </a:r>
            <a:r>
              <a:rPr lang="vi-VN" dirty="0">
                <a:effectLst/>
              </a:rPr>
              <a:t> Tư duy tiềm thức hoạt động bằng cách tìm ra sự khớp nối tốt nhất của kinh nghiệm trong quá khứ với tình huống hiện tại. Đây là quá trình nhanh chóng và tự động, không cần nỗ lực.</a:t>
            </a:r>
          </a:p>
          <a:p>
            <a:pPr>
              <a:buNone/>
            </a:pPr>
            <a:r>
              <a:rPr lang="vi-VN" dirty="0">
                <a:effectLst/>
              </a:rPr>
              <a:t>• </a:t>
            </a:r>
            <a:r>
              <a:rPr lang="vi-VN" b="1" dirty="0">
                <a:effectLst/>
              </a:rPr>
              <a:t>Sử dụng Kiến thức bên ngoài:</a:t>
            </a:r>
            <a:r>
              <a:rPr lang="vi-VN" dirty="0">
                <a:effectLst/>
              </a:rPr>
              <a:t> Hành vi chính xác có thể xuất phát từ kiến thức không chính xác trong đầu, vì phần lớn thông tin cần thiết nằm sẵn trong môi trường (ví dụ: nhãn mác, hình dạng vật lý của đối tượng).</a:t>
            </a:r>
          </a:p>
          <a:p>
            <a:pPr>
              <a:buNone/>
            </a:pPr>
            <a:r>
              <a:rPr lang="vi-VN" dirty="0">
                <a:effectLst/>
              </a:rPr>
              <a:t>• </a:t>
            </a:r>
            <a:r>
              <a:rPr lang="vi-VN" b="1" dirty="0">
                <a:effectLst/>
              </a:rPr>
              <a:t>Cấu trúc nhiệm vụ đơn giản hóa:</a:t>
            </a:r>
            <a:r>
              <a:rPr lang="vi-VN" dirty="0">
                <a:effectLst/>
              </a:rPr>
              <a:t> Các hoạt động hàng ngày thường có </a:t>
            </a:r>
            <a:r>
              <a:rPr lang="vi-VN" b="1" dirty="0">
                <a:effectLst/>
              </a:rPr>
              <a:t>cấu trúc nông (shallow)</a:t>
            </a:r>
            <a:r>
              <a:rPr lang="vi-VN" dirty="0">
                <a:effectLst/>
              </a:rPr>
              <a:t> (nhiều lựa chọn nhưng chỉ cần một quyết định cấp cao) hoặc </a:t>
            </a:r>
            <a:r>
              <a:rPr lang="vi-VN" b="1" dirty="0">
                <a:effectLst/>
              </a:rPr>
              <a:t>cấu trúc hẹp (narrow)</a:t>
            </a:r>
            <a:r>
              <a:rPr lang="vi-VN" dirty="0">
                <a:effectLst/>
              </a:rPr>
              <a:t> (nhiều bước liên tiếp nhưng ít lựa chọn ở mỗi bước). Cấu trúc đơn giản này giúp giảm thiểu sự lập kế hoạch phức tạp.</a:t>
            </a:r>
          </a:p>
          <a:p>
            <a:pPr>
              <a:buNone/>
            </a:pPr>
            <a:r>
              <a:rPr lang="vi-VN" b="1" dirty="0">
                <a:effectLst/>
              </a:rPr>
              <a:t>B. Vận hành có ý thức (Dựa trên Sáng tạo và Giải quyết vấn đề):</a:t>
            </a:r>
            <a:endParaRPr lang="vi-VN" dirty="0">
              <a:effectLst/>
            </a:endParaRPr>
          </a:p>
          <a:p>
            <a:pPr>
              <a:buNone/>
            </a:pPr>
            <a:r>
              <a:rPr lang="vi-VN" dirty="0">
                <a:effectLst/>
              </a:rPr>
              <a:t>Khi đối mặt với các tình huống phức tạp hoặc không quen thuộc, tư duy có ý thức được kích hoạt.</a:t>
            </a:r>
          </a:p>
          <a:p>
            <a:pPr>
              <a:buNone/>
            </a:pPr>
            <a:r>
              <a:rPr lang="vi-VN" dirty="0">
                <a:effectLst/>
              </a:rPr>
              <a:t>• </a:t>
            </a:r>
            <a:r>
              <a:rPr lang="vi-VN" b="1" dirty="0">
                <a:effectLst/>
              </a:rPr>
              <a:t>Phân tích và Giải thích:</a:t>
            </a:r>
            <a:r>
              <a:rPr lang="vi-VN" dirty="0">
                <a:effectLst/>
              </a:rPr>
              <a:t> Chúng ta hình thành các mô hình giải thích (explanatory models) để cố gắng hiểu những gì đã quan sát.</a:t>
            </a:r>
          </a:p>
          <a:p>
            <a:pPr>
              <a:buNone/>
            </a:pPr>
            <a:r>
              <a:rPr lang="vi-VN" dirty="0">
                <a:effectLst/>
              </a:rPr>
              <a:t>• </a:t>
            </a:r>
            <a:r>
              <a:rPr lang="vi-VN" b="1" dirty="0">
                <a:effectLst/>
              </a:rPr>
              <a:t>Học thông qua Khám phá (Exploration):</a:t>
            </a:r>
            <a:r>
              <a:rPr lang="vi-VN" dirty="0">
                <a:effectLst/>
              </a:rPr>
              <a:t> Hệ thống được thiết kế </a:t>
            </a:r>
            <a:r>
              <a:rPr lang="vi-VN" b="1" dirty="0">
                <a:effectLst/>
              </a:rPr>
              <a:t>có thể khám phá (explorable)</a:t>
            </a:r>
            <a:r>
              <a:rPr lang="vi-VN" dirty="0">
                <a:effectLst/>
              </a:rPr>
              <a:t> khuyến khích người dùng thử nghiệm để tìm hiểu các khả năng. Để quá trình này hiệu quả, hiệu ứng của mỗi hành động phải hiển thị rõ ràng và dễ diễn giải (phản hồi), và các hành động phải không tốn kém (dễ dàng hoàn tác).</a:t>
            </a:r>
          </a:p>
          <a:p>
            <a:r>
              <a:rPr lang="vi-VN" dirty="0">
                <a:effectLst/>
              </a:rPr>
              <a:t>• </a:t>
            </a:r>
            <a:r>
              <a:rPr lang="vi-VN" b="1" dirty="0">
                <a:effectLst/>
              </a:rPr>
              <a:t>Khái quát hóa và Đột phá:</a:t>
            </a:r>
            <a:r>
              <a:rPr lang="vi-VN" dirty="0">
                <a:effectLst/>
              </a:rPr>
              <a:t> Mặc dù bộ nhớ ngắn hạn của chúng ta bị giới hạn (khoảng 5 đến 7 mục không liên quan), chúng ta có thể vượt qua giới hạn này bằng cách </a:t>
            </a:r>
            <a:r>
              <a:rPr lang="vi-VN" b="1" dirty="0">
                <a:effectLst/>
              </a:rPr>
              <a:t>tổ chức thông tin thành các cấu trúc có ý nghĩa</a:t>
            </a:r>
            <a:r>
              <a:rPr lang="vi-VN" dirty="0">
                <a:effectLst/>
              </a:rPr>
              <a:t> (mô hình tinh thần). Chính sự khác biệt trong tư duy so với logic máy móc này đã dẫn đến sự khám phá sáng tạo.</a:t>
            </a:r>
          </a:p>
          <a:p>
            <a:endParaRPr lang="en-US" dirty="0"/>
          </a:p>
        </p:txBody>
      </p:sp>
      <p:sp>
        <p:nvSpPr>
          <p:cNvPr id="4" name="Slide Number Placeholder 3">
            <a:extLst>
              <a:ext uri="{FF2B5EF4-FFF2-40B4-BE49-F238E27FC236}">
                <a16:creationId xmlns:a16="http://schemas.microsoft.com/office/drawing/2014/main" id="{1B71E00B-B31F-DB2A-66B1-208F8C2A7D80}"/>
              </a:ext>
            </a:extLst>
          </p:cNvPr>
          <p:cNvSpPr>
            <a:spLocks noGrp="1"/>
          </p:cNvSpPr>
          <p:nvPr>
            <p:ph type="sldNum" sz="quarter" idx="5"/>
          </p:nvPr>
        </p:nvSpPr>
        <p:spPr/>
        <p:txBody>
          <a:bodyPr/>
          <a:lstStyle/>
          <a:p>
            <a:fld id="{2DCC0670-7746-4E74-90E4-D3E999690A6F}" type="slidenum">
              <a:rPr lang="en-US" smtClean="0"/>
              <a:t>23</a:t>
            </a:fld>
            <a:endParaRPr lang="en-US"/>
          </a:p>
        </p:txBody>
      </p:sp>
    </p:spTree>
    <p:extLst>
      <p:ext uri="{BB962C8B-B14F-4D97-AF65-F5344CB8AC3E}">
        <p14:creationId xmlns:p14="http://schemas.microsoft.com/office/powerpoint/2010/main" val="8258360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14E73-1491-205E-F78F-9CC353DD7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EAA26-80A7-79D9-25F3-995E5386A6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AC7875-D761-9F20-5025-2DB8EC5B9A94}"/>
              </a:ext>
            </a:extLst>
          </p:cNvPr>
          <p:cNvSpPr>
            <a:spLocks noGrp="1"/>
          </p:cNvSpPr>
          <p:nvPr>
            <p:ph type="body" idx="1"/>
          </p:nvPr>
        </p:nvSpPr>
        <p:spPr/>
        <p:txBody>
          <a:bodyPr/>
          <a:lstStyle/>
          <a:p>
            <a:r>
              <a:rPr lang="vi-VN" b="0" dirty="0"/>
              <a:t>Định nghĩa: Mô hình này coi kiến thức của chúng ta được sắp xếp thành các schema/khung (những “tập hồ sơ” về một chủ đề: khái niệm, thuộc tính, quan hệ). Các schema kết nối với nhau tạo thành mạng liên tưởng; thông tin được biểu diễn dưới dạng mệnh đề (ai/cái gì – có thuộc tính gì – quan hệ gì với cái gì).</a:t>
            </a:r>
          </a:p>
          <a:p>
            <a:r>
              <a:rPr lang="vi-VN" b="0" dirty="0"/>
              <a:t>Cách vận hành:</a:t>
            </a:r>
          </a:p>
          <a:p>
            <a:r>
              <a:rPr lang="vi-VN" b="1" dirty="0"/>
              <a:t>Kích hoạt theo ngữ cảnh (priming): </a:t>
            </a:r>
            <a:r>
              <a:rPr lang="vi-VN" b="0" dirty="0"/>
              <a:t>Khi gặp một tín hiệu (từ, hình ảnh, tình huống), schema liên quan sẽ được “đánh thức”. Từ một schema, sóng kích hoạt lan sang các schema gần nghĩa (chim → cánh, bay, tổ, di cư…). Nhờ vậy, não nhanh chóng gom đúng “cụm kiến thức” phù hợp bối cảnh.</a:t>
            </a:r>
          </a:p>
          <a:p>
            <a:r>
              <a:rPr lang="vi-VN" b="1" dirty="0"/>
              <a:t>Lấy thông tin bằng mệnh đề (propositional): </a:t>
            </a:r>
            <a:r>
              <a:rPr lang="vi-VN" b="0" dirty="0"/>
              <a:t>Mỗi schema lưu tri thức dưới dạng mệnh đề ngắn gọn: “chim → có cánh”, “chim → thường bay”, “cánh → giúp bay”. Dạng mệnh đề giúp ta kết nối – suy diễn nhanh giữa các khái niệm (ai/cái gì – có thuộc tính gì – quan hệ gì).</a:t>
            </a:r>
          </a:p>
          <a:p>
            <a:r>
              <a:rPr lang="vi-VN" b="1" dirty="0"/>
              <a:t>Mặc định được kế thừa (default inheritance): </a:t>
            </a:r>
            <a:r>
              <a:rPr lang="vi-VN" b="0" dirty="0"/>
              <a:t>Thuộc tính chung của một khái niệm tự lan xuống trường hợp cụ thể: biết “động vật sống thì thở” ⇒ gặp một con vật mới, ta mặc định nó cũng thở, không cần học lại từ đầu. Đây là cách trí nhớ tiết kiệm công và đưa ra dự đoán nhanh.</a:t>
            </a:r>
          </a:p>
          <a:p>
            <a:r>
              <a:rPr lang="vi-VN" b="1" dirty="0"/>
              <a:t>Ngoại lệ ghi đè (exception override): </a:t>
            </a:r>
            <a:r>
              <a:rPr lang="vi-VN" b="0" dirty="0"/>
              <a:t>Nếu có thông tin mâu thuẫn với mặc định, schema chứa ngoại lệ sẽ ghi đè (chim nhưng là cánh cụt → không bay). Cơ chế “mặc định → trừ khi” giúp ta vừa nhanh (nhờ mặc định), vừa chính xác (nhờ ngoại lệ).</a:t>
            </a:r>
          </a:p>
          <a:p>
            <a:r>
              <a:rPr lang="vi-VN" b="1" dirty="0"/>
              <a:t>Suy diễn qua mạng (spreading inference): </a:t>
            </a:r>
            <a:r>
              <a:rPr lang="vi-VN" b="0" dirty="0"/>
              <a:t>Khi một vài mệnh đề được kích hoạt, ta có thể suy ra các mệnh đề khác dù chưa từng học trực tiếp. Ví dụ: “chim nhỏ → nhẹ; nhẹ + có cánh → nhiều khả năng bay tốt” → ta đoán chim sẻ bay nhanh, dù chưa đọc tài liệu nào nói vậy.</a:t>
            </a:r>
            <a:endParaRPr lang="en-US" b="0" dirty="0"/>
          </a:p>
          <a:p>
            <a:endParaRPr lang="en-US" b="0" dirty="0"/>
          </a:p>
          <a:p>
            <a:r>
              <a:rPr lang="vi-VN" sz="4400" kern="1200" spc="11" dirty="0">
                <a:solidFill>
                  <a:srgbClr val="002060"/>
                </a:solidFill>
                <a:latin typeface="Source Sans Pro" panose="020B0503030403020204" pitchFamily="34" charset="0"/>
                <a:ea typeface="Source Sans Pro" panose="020B0503030403020204" pitchFamily="34" charset="0"/>
              </a:rPr>
              <a:t>Ví dụ: Khi bạn thấy một con chim lạ trong công viên:</a:t>
            </a:r>
          </a:p>
          <a:p>
            <a:r>
              <a:rPr lang="vi-VN" sz="4400" kern="1200" spc="11" dirty="0">
                <a:solidFill>
                  <a:srgbClr val="002060"/>
                </a:solidFill>
                <a:latin typeface="Source Sans Pro" panose="020B0503030403020204" pitchFamily="34" charset="0"/>
                <a:ea typeface="Source Sans Pro" panose="020B0503030403020204" pitchFamily="34" charset="0"/>
              </a:rPr>
              <a:t>Kích hoạt theo ngữ cảnh (priming): Hình ảnh con chim làm bật schema “chim” và cụm “cánh, bay, làm tổ”.</a:t>
            </a:r>
          </a:p>
          <a:p>
            <a:r>
              <a:rPr lang="vi-VN" sz="4400" kern="1200" spc="11" dirty="0">
                <a:solidFill>
                  <a:srgbClr val="002060"/>
                </a:solidFill>
                <a:latin typeface="Source Sans Pro" panose="020B0503030403020204" pitchFamily="34" charset="0"/>
                <a:ea typeface="Source Sans Pro" panose="020B0503030403020204" pitchFamily="34" charset="0"/>
              </a:rPr>
              <a:t>Lấy thông tin bằng mệnh đề (propositional): Trong đầu có sẵn các mệnh đề như “chim có cánh”, “chim thường bay”.</a:t>
            </a:r>
          </a:p>
          <a:p>
            <a:r>
              <a:rPr lang="vi-VN" sz="4400" kern="1200" spc="11" dirty="0">
                <a:solidFill>
                  <a:srgbClr val="002060"/>
                </a:solidFill>
                <a:latin typeface="Source Sans Pro" panose="020B0503030403020204" pitchFamily="34" charset="0"/>
                <a:ea typeface="Source Sans Pro" panose="020B0503030403020204" pitchFamily="34" charset="0"/>
              </a:rPr>
              <a:t>Mặc định được kế thừa (default inheritance): Bạn mặc định con chim này biết bay vì nó thuộc nhóm “chim”.</a:t>
            </a:r>
          </a:p>
          <a:p>
            <a:r>
              <a:rPr lang="vi-VN" sz="4400" kern="1200" spc="11" dirty="0">
                <a:solidFill>
                  <a:srgbClr val="002060"/>
                </a:solidFill>
                <a:latin typeface="Source Sans Pro" panose="020B0503030403020204" pitchFamily="34" charset="0"/>
                <a:ea typeface="Source Sans Pro" panose="020B0503030403020204" pitchFamily="34" charset="0"/>
              </a:rPr>
              <a:t>Ngoại lệ ghi đè (exception override): Người trông vườn nói “đó là cánh cụt non”. Schema “cánh cụt” bật lên và ghi đè: không bay.</a:t>
            </a:r>
          </a:p>
          <a:p>
            <a:r>
              <a:rPr lang="vi-VN" sz="4400" kern="1200" spc="11" dirty="0">
                <a:solidFill>
                  <a:srgbClr val="002060"/>
                </a:solidFill>
                <a:latin typeface="Source Sans Pro" panose="020B0503030403020204" pitchFamily="34" charset="0"/>
                <a:ea typeface="Source Sans Pro" panose="020B0503030403020204" pitchFamily="34" charset="0"/>
              </a:rPr>
              <a:t>Suy diễn qua mạng (spreading inference): Từ “cánh cụt” bạn suy ra nó bơi giỏi, sống lạnh, và có lẽ cần chuồng mát — các suy luận này lan qua mạng liên kết dù bạn không học riêng về “con cánh cụt này”.</a:t>
            </a:r>
          </a:p>
          <a:p>
            <a:endParaRPr lang="en-US" sz="4400" kern="1200" spc="11" dirty="0">
              <a:solidFill>
                <a:srgbClr val="002060"/>
              </a:solidFill>
              <a:latin typeface="Source Sans Pro" panose="020B0503030403020204" pitchFamily="34" charset="0"/>
              <a:ea typeface="Source Sans Pro" panose="020B0503030403020204" pitchFamily="34" charset="0"/>
            </a:endParaRPr>
          </a:p>
        </p:txBody>
      </p:sp>
      <p:sp>
        <p:nvSpPr>
          <p:cNvPr id="4" name="Slide Number Placeholder 3">
            <a:extLst>
              <a:ext uri="{FF2B5EF4-FFF2-40B4-BE49-F238E27FC236}">
                <a16:creationId xmlns:a16="http://schemas.microsoft.com/office/drawing/2014/main" id="{393F02D7-326C-046A-E0FD-5A5429CBB82B}"/>
              </a:ext>
            </a:extLst>
          </p:cNvPr>
          <p:cNvSpPr>
            <a:spLocks noGrp="1"/>
          </p:cNvSpPr>
          <p:nvPr>
            <p:ph type="sldNum" sz="quarter" idx="5"/>
          </p:nvPr>
        </p:nvSpPr>
        <p:spPr/>
        <p:txBody>
          <a:bodyPr/>
          <a:lstStyle/>
          <a:p>
            <a:fld id="{2DCC0670-7746-4E74-90E4-D3E999690A6F}" type="slidenum">
              <a:rPr lang="en-US" smtClean="0"/>
              <a:t>24</a:t>
            </a:fld>
            <a:endParaRPr lang="en-US"/>
          </a:p>
        </p:txBody>
      </p:sp>
    </p:spTree>
    <p:extLst>
      <p:ext uri="{BB962C8B-B14F-4D97-AF65-F5344CB8AC3E}">
        <p14:creationId xmlns:p14="http://schemas.microsoft.com/office/powerpoint/2010/main" val="7538893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12A9F-3241-7485-DA54-28CF03C9F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23D8D4-19E4-C90F-A827-CD0F2C0519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16E0D0-0907-39B1-5BF0-A757AF4C95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E77FE9-FAAE-B018-0E27-9C0C00296E8D}"/>
              </a:ext>
            </a:extLst>
          </p:cNvPr>
          <p:cNvSpPr>
            <a:spLocks noGrp="1"/>
          </p:cNvSpPr>
          <p:nvPr>
            <p:ph type="sldNum" sz="quarter" idx="5"/>
          </p:nvPr>
        </p:nvSpPr>
        <p:spPr/>
        <p:txBody>
          <a:bodyPr/>
          <a:lstStyle/>
          <a:p>
            <a:fld id="{2DCC0670-7746-4E74-90E4-D3E999690A6F}" type="slidenum">
              <a:rPr lang="en-US" smtClean="0"/>
              <a:t>25</a:t>
            </a:fld>
            <a:endParaRPr lang="en-US"/>
          </a:p>
        </p:txBody>
      </p:sp>
    </p:spTree>
    <p:extLst>
      <p:ext uri="{BB962C8B-B14F-4D97-AF65-F5344CB8AC3E}">
        <p14:creationId xmlns:p14="http://schemas.microsoft.com/office/powerpoint/2010/main" val="25884173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3679D-6D84-154C-8164-289142932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5D7C5-A55F-B6AC-9EBD-5EAC9F8AA8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C3983C-8B76-3ED5-8387-2292EC872B04}"/>
              </a:ext>
            </a:extLst>
          </p:cNvPr>
          <p:cNvSpPr>
            <a:spLocks noGrp="1"/>
          </p:cNvSpPr>
          <p:nvPr>
            <p:ph type="body" idx="1"/>
          </p:nvPr>
        </p:nvSpPr>
        <p:spPr/>
        <p:txBody>
          <a:bodyPr/>
          <a:lstStyle/>
          <a:p>
            <a:pPr marL="342900" marR="0" lvl="0" indent="-34290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vi-VN" sz="1800" dirty="0">
                <a:solidFill>
                  <a:srgbClr val="000000"/>
                </a:solidFill>
                <a:effectLst/>
                <a:latin typeface="Noto Sans Symbols"/>
                <a:ea typeface="Noto Sans Symbols"/>
                <a:cs typeface="Noto Sans Symbols"/>
              </a:rPr>
              <a:t>Ví dụ dễ hình dung: trong cờ vua (hoặc cờ ca-rô), bạn đi một nước → đối thủ có nhiều nước đáp → bạn lại có nhiều nước đối đáp… Cứ thế tạo thành một “cây quyết định” khổng lồ khi nhìn trước vài lượt.</a:t>
            </a:r>
            <a:endParaRPr lang="en-US" sz="1800" dirty="0">
              <a:solidFill>
                <a:srgbClr val="000000"/>
              </a:solidFill>
              <a:effectLst/>
              <a:latin typeface="Noto Sans Symbols"/>
              <a:ea typeface="Noto Sans Symbols"/>
              <a:cs typeface="Noto Sans Symbols"/>
            </a:endParaRPr>
          </a:p>
          <a:p>
            <a:pPr marL="342900" lvl="0" indent="-342900">
              <a:lnSpc>
                <a:spcPct val="107000"/>
              </a:lnSpc>
              <a:spcAft>
                <a:spcPts val="800"/>
              </a:spcAft>
              <a:buFont typeface="Arial" panose="020B0604020202020204" pitchFamily="34" charset="0"/>
              <a:buChar char="●"/>
            </a:pPr>
            <a:r>
              <a:rPr lang="vi-VN" sz="1800" dirty="0">
                <a:solidFill>
                  <a:srgbClr val="000000"/>
                </a:solidFill>
                <a:effectLst/>
                <a:latin typeface="Noto Sans Symbols"/>
                <a:ea typeface="Noto Sans Symbols"/>
                <a:cs typeface="Noto Sans Symbols"/>
              </a:rPr>
              <a:t>Hàm ý thiết kế/làm việc: những nhiệm vụ kiểu này không thể dựa vào trí nhớ ngắn hạn. Cần chiến lược (quy tắc, mẫu đòn), kỹ năng đã luyện sẵn, và/hoặc công cụ hỗ trợ như ghi chú, sơ đồ cây, lọc bớt lựa chọn, gợi ý bước tiếp theo—để thu hẹp không gian quyết định và giảm tải nhận thức.</a:t>
            </a:r>
            <a:endParaRPr lang="en-US" sz="1800" dirty="0">
              <a:effectLst/>
              <a:latin typeface="Noto Sans Symbols"/>
              <a:ea typeface="Noto Sans Symbols"/>
              <a:cs typeface="Noto Sans Symbols"/>
            </a:endParaRPr>
          </a:p>
        </p:txBody>
      </p:sp>
      <p:sp>
        <p:nvSpPr>
          <p:cNvPr id="4" name="Slide Number Placeholder 3">
            <a:extLst>
              <a:ext uri="{FF2B5EF4-FFF2-40B4-BE49-F238E27FC236}">
                <a16:creationId xmlns:a16="http://schemas.microsoft.com/office/drawing/2014/main" id="{6DC328D0-8C75-7DF0-01E6-5CC3EA8182C6}"/>
              </a:ext>
            </a:extLst>
          </p:cNvPr>
          <p:cNvSpPr>
            <a:spLocks noGrp="1"/>
          </p:cNvSpPr>
          <p:nvPr>
            <p:ph type="sldNum" sz="quarter" idx="5"/>
          </p:nvPr>
        </p:nvSpPr>
        <p:spPr/>
        <p:txBody>
          <a:bodyPr/>
          <a:lstStyle/>
          <a:p>
            <a:fld id="{2DCC0670-7746-4E74-90E4-D3E999690A6F}" type="slidenum">
              <a:rPr lang="en-US" smtClean="0"/>
              <a:t>27</a:t>
            </a:fld>
            <a:endParaRPr lang="en-US"/>
          </a:p>
        </p:txBody>
      </p:sp>
    </p:spTree>
    <p:extLst>
      <p:ext uri="{BB962C8B-B14F-4D97-AF65-F5344CB8AC3E}">
        <p14:creationId xmlns:p14="http://schemas.microsoft.com/office/powerpoint/2010/main" val="31894625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E078A-4585-1A61-C012-83FDE6F592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808B16-BF26-6EC2-A3D8-D42DFD5C1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06B58-C502-2E7C-29B1-29C6AFDDBB99}"/>
              </a:ext>
            </a:extLst>
          </p:cNvPr>
          <p:cNvSpPr>
            <a:spLocks noGrp="1"/>
          </p:cNvSpPr>
          <p:nvPr>
            <p:ph type="body" idx="1"/>
          </p:nvPr>
        </p:nvSpPr>
        <p:spPr/>
        <p:txBody>
          <a:bodyPr/>
          <a:lstStyle/>
          <a:p>
            <a:pPr marL="342900" lvl="0" indent="-342900">
              <a:lnSpc>
                <a:spcPct val="107000"/>
              </a:lnSpc>
              <a:spcAft>
                <a:spcPts val="800"/>
              </a:spcAft>
              <a:buFont typeface="Arial" panose="020B0604020202020204" pitchFamily="34" charset="0"/>
              <a:buChar char="●"/>
            </a:pPr>
            <a:r>
              <a:rPr lang="vi-VN" sz="1800" dirty="0">
                <a:solidFill>
                  <a:srgbClr val="000000"/>
                </a:solidFill>
                <a:effectLst/>
                <a:latin typeface="Noto Sans Symbols"/>
                <a:ea typeface="Noto Sans Symbols"/>
                <a:cs typeface="Noto Sans Symbols"/>
              </a:rPr>
              <a:t>Đây là kiểu nhiệm vụ có rất nhiều lựa chọn ban đầu, nhưng sau khi chọn xong điều quan trọng nhất, các bước tiếp theo rất đơn giản hoặc gần như không còn phải chọn.</a:t>
            </a:r>
            <a:endParaRPr lang="en-US" sz="1800" dirty="0">
              <a:effectLst/>
              <a:latin typeface="Noto Sans Symbols"/>
              <a:ea typeface="Noto Sans Symbols"/>
              <a:cs typeface="Noto Sans Symbols"/>
            </a:endParaRPr>
          </a:p>
          <a:p>
            <a:pPr marL="342900" lvl="0" indent="-342900">
              <a:lnSpc>
                <a:spcPct val="107000"/>
              </a:lnSpc>
              <a:spcAft>
                <a:spcPts val="800"/>
              </a:spcAft>
              <a:buFont typeface="Arial" panose="020B0604020202020204" pitchFamily="34" charset="0"/>
              <a:buChar char="●"/>
            </a:pPr>
            <a:r>
              <a:rPr lang="vi-VN" sz="1800" dirty="0">
                <a:solidFill>
                  <a:srgbClr val="000000"/>
                </a:solidFill>
                <a:effectLst/>
                <a:latin typeface="Noto Sans Symbols"/>
                <a:ea typeface="Noto Sans Symbols"/>
                <a:cs typeface="Noto Sans Symbols"/>
              </a:rPr>
              <a:t>Ví dụ dễ hình dung: vào quán kem, quyết định chính là chọn vị. Khi đã chọn vị, phần còn lại chỉ là vỏ ốc quế hay ly, mấy viên, có rắc topping không—những lựa chọn nhỏ, dễ quyết.</a:t>
            </a:r>
            <a:r>
              <a:rPr lang="vi-VN" sz="1800" dirty="0">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Arial" panose="020B0604020202020204" pitchFamily="34" charset="0"/>
              <a:buChar char="●"/>
            </a:pPr>
            <a:r>
              <a:rPr lang="vi-VN" sz="1800" dirty="0">
                <a:solidFill>
                  <a:srgbClr val="000000"/>
                </a:solidFill>
                <a:effectLst/>
                <a:latin typeface="Noto Sans Symbols"/>
                <a:ea typeface="Noto Sans Symbols"/>
                <a:cs typeface="Noto Sans Symbols"/>
              </a:rPr>
              <a:t>Hàm ý khi thiết kế/làm việc: “đau đầu” nằm ở quá nhiều lựa chọn cạnh tranh ngay bước đầu. Vì vậy, hãy nhóm và sắp xếp các lựa chọn (theo vị, theo phong cách), đưa ra mặc định hợp lý hoặc gợi ý nổi bật để người dùng quyết nhanh ở bước chính; các bước sau giữ đơn giản, ít ma sát.</a:t>
            </a:r>
            <a:endParaRPr lang="en-US" sz="1800" dirty="0">
              <a:effectLst/>
              <a:latin typeface="Noto Sans Symbols"/>
              <a:ea typeface="Noto Sans Symbols"/>
              <a:cs typeface="Noto Sans Symbols"/>
            </a:endParaRPr>
          </a:p>
          <a:p>
            <a:endParaRPr lang="en-US" dirty="0"/>
          </a:p>
        </p:txBody>
      </p:sp>
      <p:sp>
        <p:nvSpPr>
          <p:cNvPr id="4" name="Slide Number Placeholder 3">
            <a:extLst>
              <a:ext uri="{FF2B5EF4-FFF2-40B4-BE49-F238E27FC236}">
                <a16:creationId xmlns:a16="http://schemas.microsoft.com/office/drawing/2014/main" id="{BE63D415-7322-2622-640F-3239E4D77503}"/>
              </a:ext>
            </a:extLst>
          </p:cNvPr>
          <p:cNvSpPr>
            <a:spLocks noGrp="1"/>
          </p:cNvSpPr>
          <p:nvPr>
            <p:ph type="sldNum" sz="quarter" idx="5"/>
          </p:nvPr>
        </p:nvSpPr>
        <p:spPr/>
        <p:txBody>
          <a:bodyPr/>
          <a:lstStyle/>
          <a:p>
            <a:fld id="{2DCC0670-7746-4E74-90E4-D3E999690A6F}" type="slidenum">
              <a:rPr lang="en-US" smtClean="0"/>
              <a:t>28</a:t>
            </a:fld>
            <a:endParaRPr lang="en-US"/>
          </a:p>
        </p:txBody>
      </p:sp>
    </p:spTree>
    <p:extLst>
      <p:ext uri="{BB962C8B-B14F-4D97-AF65-F5344CB8AC3E}">
        <p14:creationId xmlns:p14="http://schemas.microsoft.com/office/powerpoint/2010/main" val="3108024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8017A-7E72-9659-E557-090A97083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8B63C-5F5A-96B6-5D6B-19173C5B1C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51EDF5-C437-EF69-2DCC-619A4E3B43DE}"/>
              </a:ext>
            </a:extLst>
          </p:cNvPr>
          <p:cNvSpPr>
            <a:spLocks noGrp="1"/>
          </p:cNvSpPr>
          <p:nvPr>
            <p:ph type="body" idx="1"/>
          </p:nvPr>
        </p:nvSpPr>
        <p:spPr/>
        <p:txBody>
          <a:bodyPr/>
          <a:lstStyle/>
          <a:p>
            <a:pPr marL="342900" lvl="0" indent="-342900">
              <a:lnSpc>
                <a:spcPct val="107000"/>
              </a:lnSpc>
              <a:spcAft>
                <a:spcPts val="800"/>
              </a:spcAft>
              <a:buFont typeface="Arial" panose="020B0604020202020204" pitchFamily="34" charset="0"/>
              <a:buChar char="●"/>
            </a:pPr>
            <a:r>
              <a:rPr lang="vi-VN" sz="1800" dirty="0">
                <a:solidFill>
                  <a:srgbClr val="000000"/>
                </a:solidFill>
                <a:effectLst/>
                <a:latin typeface="Noto Sans Symbols"/>
                <a:ea typeface="Noto Sans Symbols"/>
                <a:cs typeface="Noto Sans Symbols"/>
              </a:rPr>
              <a:t>Đây là kiểu nhiệm vụ mà mỗi bước chỉ có rất ít lựa chọn (thậm chí chỉ một cách đúng), nhưng để hoàn thành thì phải đi qua nhiều bước theo đúng thứ tự. Điểm khó không nằm ở việc so sánh nhiều phương án, mà ở việc nhớ và làm đúng trình tự từ đầu đến cuối.</a:t>
            </a:r>
            <a:endParaRPr lang="en-US" sz="1800" dirty="0">
              <a:effectLst/>
              <a:latin typeface="Noto Sans Symbols"/>
              <a:ea typeface="Noto Sans Symbols"/>
              <a:cs typeface="Noto Sans Symbols"/>
            </a:endParaRPr>
          </a:p>
          <a:p>
            <a:pPr marL="342900" lvl="0" indent="-342900">
              <a:lnSpc>
                <a:spcPct val="107000"/>
              </a:lnSpc>
              <a:spcAft>
                <a:spcPts val="800"/>
              </a:spcAft>
              <a:buFont typeface="Arial" panose="020B0604020202020204" pitchFamily="34" charset="0"/>
              <a:buChar char="●"/>
            </a:pPr>
            <a:r>
              <a:rPr lang="vi-VN" sz="1800" dirty="0">
                <a:solidFill>
                  <a:srgbClr val="000000"/>
                </a:solidFill>
                <a:effectLst/>
                <a:latin typeface="Noto Sans Symbols"/>
                <a:ea typeface="Noto Sans Symbols"/>
                <a:cs typeface="Noto Sans Symbols"/>
              </a:rPr>
              <a:t>Ví dụ dễ hình dung: Nấu món theo công thức: cân – ướp – xào – ninh – nêm – trình bày; mỗi công đoạn gần như đã được ấn định.</a:t>
            </a:r>
            <a:endParaRPr lang="en-US" sz="1800" dirty="0">
              <a:effectLst/>
              <a:latin typeface="Noto Sans Symbols"/>
              <a:ea typeface="Noto Sans Symbols"/>
              <a:cs typeface="Noto Sans Symbols"/>
            </a:endParaRPr>
          </a:p>
          <a:p>
            <a:pPr marL="342900" lvl="0" indent="-342900">
              <a:lnSpc>
                <a:spcPct val="107000"/>
              </a:lnSpc>
              <a:spcAft>
                <a:spcPts val="800"/>
              </a:spcAft>
              <a:buFont typeface="Arial" panose="020B0604020202020204" pitchFamily="34" charset="0"/>
              <a:buChar char="●"/>
            </a:pPr>
            <a:r>
              <a:rPr lang="vi-VN" sz="1800" dirty="0">
                <a:solidFill>
                  <a:srgbClr val="000000"/>
                </a:solidFill>
                <a:effectLst/>
                <a:latin typeface="Noto Sans Symbols"/>
                <a:ea typeface="Noto Sans Symbols"/>
                <a:cs typeface="Noto Sans Symbols"/>
              </a:rPr>
              <a:t>Hàm ý khi thiết kế/làm việc:</a:t>
            </a:r>
            <a:endParaRPr lang="en-US" sz="1800" dirty="0">
              <a:effectLst/>
              <a:latin typeface="Noto Sans Symbols"/>
              <a:ea typeface="Noto Sans Symbols"/>
              <a:cs typeface="Noto Sans Symbols"/>
            </a:endParaRPr>
          </a:p>
          <a:p>
            <a:pPr marL="342900" lvl="0" indent="-342900">
              <a:lnSpc>
                <a:spcPct val="107000"/>
              </a:lnSpc>
              <a:spcAft>
                <a:spcPts val="800"/>
              </a:spcAft>
              <a:buFont typeface="Courier New" panose="02070309020205020404" pitchFamily="49" charset="0"/>
              <a:buChar char="o"/>
            </a:pPr>
            <a:r>
              <a:rPr lang="vi-VN" sz="1800"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Làm rõ trình tự (bước 1, 2, 3…) và trạng thái từng bước.</a:t>
            </a:r>
            <a:endParaRPr lang="en-US" sz="1800" dirty="0">
              <a:effectLst/>
              <a:latin typeface="Courier New" panose="02070309020205020404" pitchFamily="49" charset="0"/>
              <a:ea typeface="Courier New" panose="02070309020205020404" pitchFamily="49" charset="0"/>
              <a:cs typeface="Courier New" panose="02070309020205020404" pitchFamily="49" charset="0"/>
            </a:endParaRPr>
          </a:p>
          <a:p>
            <a:pPr marL="342900" lvl="0" indent="-342900">
              <a:lnSpc>
                <a:spcPct val="107000"/>
              </a:lnSpc>
              <a:spcAft>
                <a:spcPts val="800"/>
              </a:spcAft>
              <a:buFont typeface="Courier New" panose="02070309020205020404" pitchFamily="49" charset="0"/>
              <a:buChar char="o"/>
            </a:pPr>
            <a:r>
              <a:rPr lang="vi-VN" sz="1800"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Cho phản hồi ngay ở mỗi bước (đã xong/chưa xong) để người dùng biết mình đang ở đâu.</a:t>
            </a:r>
            <a:endParaRPr lang="en-US" sz="1800" dirty="0">
              <a:effectLst/>
              <a:latin typeface="Courier New" panose="02070309020205020404" pitchFamily="49" charset="0"/>
              <a:ea typeface="Courier New" panose="02070309020205020404" pitchFamily="49" charset="0"/>
              <a:cs typeface="Courier New" panose="02070309020205020404" pitchFamily="49" charset="0"/>
            </a:endParaRPr>
          </a:p>
          <a:p>
            <a:pPr marL="342900" lvl="0" indent="-342900">
              <a:lnSpc>
                <a:spcPct val="107000"/>
              </a:lnSpc>
              <a:spcAft>
                <a:spcPts val="800"/>
              </a:spcAft>
              <a:buFont typeface="Courier New" panose="02070309020205020404" pitchFamily="49" charset="0"/>
              <a:buChar char="o"/>
            </a:pPr>
            <a:r>
              <a:rPr lang="vi-VN" sz="1800"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Giảm gánh nhớ: đưa nhắc nhở tại chỗ, checklist, nút “tiếp tục” thay vì bắt nhớ cả chuỗi dài.</a:t>
            </a:r>
            <a:endParaRPr lang="en-US" sz="1800" dirty="0">
              <a:effectLst/>
              <a:latin typeface="Courier New" panose="02070309020205020404" pitchFamily="49" charset="0"/>
              <a:ea typeface="Courier New" panose="02070309020205020404" pitchFamily="49" charset="0"/>
              <a:cs typeface="Courier New" panose="02070309020205020404" pitchFamily="49" charset="0"/>
            </a:endParaRPr>
          </a:p>
          <a:p>
            <a:pPr marL="342900" lvl="0" indent="-342900">
              <a:lnSpc>
                <a:spcPct val="107000"/>
              </a:lnSpc>
              <a:spcAft>
                <a:spcPts val="800"/>
              </a:spcAft>
              <a:buFont typeface="Courier New" panose="02070309020205020404" pitchFamily="49" charset="0"/>
              <a:buChar char="o"/>
            </a:pPr>
            <a:r>
              <a:rPr lang="vi-VN" sz="1800"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Nếu có thể, khóa trình tự (không cho qua bước 3 khi bước 2 chưa xong) để tránh sai do nhảy bước.</a:t>
            </a:r>
            <a:endParaRPr lang="en-US" sz="1800" dirty="0">
              <a:effectLst/>
              <a:latin typeface="Courier New" panose="02070309020205020404" pitchFamily="49" charset="0"/>
              <a:ea typeface="Courier New" panose="02070309020205020404" pitchFamily="49" charset="0"/>
              <a:cs typeface="Courier New" panose="02070309020205020404" pitchFamily="49" charset="0"/>
            </a:endParaRPr>
          </a:p>
          <a:p>
            <a:endParaRPr lang="en-US" dirty="0"/>
          </a:p>
        </p:txBody>
      </p:sp>
      <p:sp>
        <p:nvSpPr>
          <p:cNvPr id="4" name="Slide Number Placeholder 3">
            <a:extLst>
              <a:ext uri="{FF2B5EF4-FFF2-40B4-BE49-F238E27FC236}">
                <a16:creationId xmlns:a16="http://schemas.microsoft.com/office/drawing/2014/main" id="{4373ACD8-7E42-E446-7A2E-A00F5C3548A3}"/>
              </a:ext>
            </a:extLst>
          </p:cNvPr>
          <p:cNvSpPr>
            <a:spLocks noGrp="1"/>
          </p:cNvSpPr>
          <p:nvPr>
            <p:ph type="sldNum" sz="quarter" idx="5"/>
          </p:nvPr>
        </p:nvSpPr>
        <p:spPr/>
        <p:txBody>
          <a:bodyPr/>
          <a:lstStyle/>
          <a:p>
            <a:fld id="{2DCC0670-7746-4E74-90E4-D3E999690A6F}" type="slidenum">
              <a:rPr lang="en-US" smtClean="0"/>
              <a:t>29</a:t>
            </a:fld>
            <a:endParaRPr lang="en-US"/>
          </a:p>
        </p:txBody>
      </p:sp>
    </p:spTree>
    <p:extLst>
      <p:ext uri="{BB962C8B-B14F-4D97-AF65-F5344CB8AC3E}">
        <p14:creationId xmlns:p14="http://schemas.microsoft.com/office/powerpoint/2010/main" val="17553115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58ABB-61E1-10B8-7599-1538E6A85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324D4-AB69-1FFA-554F-B6CBA5FF6B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5E1324-837E-67D6-96C7-1D94E2FA12DE}"/>
              </a:ext>
            </a:extLst>
          </p:cNvPr>
          <p:cNvSpPr>
            <a:spLocks noGrp="1"/>
          </p:cNvSpPr>
          <p:nvPr>
            <p:ph type="body" idx="1"/>
          </p:nvPr>
        </p:nvSpPr>
        <p:spPr/>
        <p:txBody>
          <a:bodyPr/>
          <a:lstStyle/>
          <a:p>
            <a:r>
              <a:rPr lang="vi-VN" sz="1800" dirty="0">
                <a:solidFill>
                  <a:srgbClr val="000000"/>
                </a:solidFill>
                <a:effectLst/>
                <a:latin typeface="Times New Roman" panose="02020603050405020304" pitchFamily="18" charset="0"/>
                <a:ea typeface="Times New Roman" panose="02020603050405020304" pitchFamily="18" charset="0"/>
              </a:rPr>
              <a:t>Những việc rộng &amp; sâu (nhiều lựa chọn, nhiều bước) đòi hỏi chiến lược rõ ràng và giảm tải nhận thức bằng công cụ hỗ trợ. Còn phần lớn việc hằng ngày thuộc kiểu nông hoặc hẹp: hoặc chọn một lần cho xong, hoặc làm theo chuỗi bước định sẵn. </a:t>
            </a:r>
            <a:r>
              <a:rPr lang="en-US" sz="1800" dirty="0" err="1">
                <a:solidFill>
                  <a:srgbClr val="000000"/>
                </a:solidFill>
                <a:effectLst/>
                <a:latin typeface="Times New Roman" panose="02020603050405020304" pitchFamily="18" charset="0"/>
                <a:ea typeface="Times New Roman" panose="02020603050405020304" pitchFamily="18" charset="0"/>
              </a:rPr>
              <a:t>Vì</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vậy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để</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thieets</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kế</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trở</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nên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tốt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hơn</a:t>
            </a:r>
            <a:r>
              <a:rPr lang="en-US" sz="1800" dirty="0">
                <a:solidFill>
                  <a:srgbClr val="000000"/>
                </a:solidFill>
                <a:effectLst/>
                <a:latin typeface="Times New Roman" panose="02020603050405020304" pitchFamily="18" charset="0"/>
                <a:ea typeface="Times New Roman" panose="02020603050405020304" pitchFamily="18" charset="0"/>
              </a:rPr>
              <a:t>, ta </a:t>
            </a:r>
            <a:r>
              <a:rPr lang="en-US" sz="1800" dirty="0" err="1">
                <a:solidFill>
                  <a:srgbClr val="000000"/>
                </a:solidFill>
                <a:effectLst/>
                <a:latin typeface="Times New Roman" panose="02020603050405020304" pitchFamily="18" charset="0"/>
                <a:ea typeface="Times New Roman" panose="02020603050405020304" pitchFamily="18" charset="0"/>
              </a:rPr>
              <a:t>cần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lưu</a:t>
            </a:r>
            <a:r>
              <a:rPr lang="en-US" sz="1800" dirty="0">
                <a:solidFill>
                  <a:srgbClr val="000000"/>
                </a:solidFill>
                <a:effectLst/>
                <a:latin typeface="Times New Roman" panose="02020603050405020304" pitchFamily="18" charset="0"/>
                <a:ea typeface="Times New Roman" panose="02020603050405020304" pitchFamily="18" charset="0"/>
              </a:rPr>
              <a:t> ý một </a:t>
            </a:r>
            <a:r>
              <a:rPr lang="en-US" sz="1800" dirty="0" err="1">
                <a:solidFill>
                  <a:srgbClr val="000000"/>
                </a:solidFill>
                <a:effectLst/>
                <a:latin typeface="Times New Roman" panose="02020603050405020304" pitchFamily="18" charset="0"/>
                <a:ea typeface="Times New Roman" panose="02020603050405020304" pitchFamily="18" charset="0"/>
              </a:rPr>
              <a:t>số</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nội</a:t>
            </a:r>
            <a:r>
              <a:rPr lang="en-US" sz="1800" dirty="0">
                <a:solidFill>
                  <a:srgbClr val="000000"/>
                </a:solidFill>
                <a:effectLst/>
                <a:latin typeface="Times New Roman" panose="02020603050405020304" pitchFamily="18" charset="0"/>
                <a:ea typeface="Times New Roman" panose="02020603050405020304" pitchFamily="18" charset="0"/>
              </a:rPr>
              <a:t> dung </a:t>
            </a:r>
            <a:r>
              <a:rPr lang="en-US" sz="1800" dirty="0" err="1">
                <a:solidFill>
                  <a:srgbClr val="000000"/>
                </a:solidFill>
                <a:effectLst/>
                <a:latin typeface="Times New Roman" panose="02020603050405020304" pitchFamily="18" charset="0"/>
                <a:ea typeface="Times New Roman" panose="02020603050405020304" pitchFamily="18" charset="0"/>
              </a:rPr>
              <a:t>sau</a:t>
            </a:r>
            <a:r>
              <a:rPr lang="en-US" sz="1800" dirty="0">
                <a:solidFill>
                  <a:srgbClr val="000000"/>
                </a:solidFill>
                <a:effectLst/>
                <a:latin typeface="Times New Roman" panose="02020603050405020304" pitchFamily="18" charset="0"/>
                <a:ea typeface="Times New Roman" panose="02020603050405020304" pitchFamily="18" charset="0"/>
              </a:rPr>
              <a:t>:</a:t>
            </a:r>
            <a:endParaRPr lang="en-US" dirty="0"/>
          </a:p>
        </p:txBody>
      </p:sp>
      <p:sp>
        <p:nvSpPr>
          <p:cNvPr id="4" name="Slide Number Placeholder 3">
            <a:extLst>
              <a:ext uri="{FF2B5EF4-FFF2-40B4-BE49-F238E27FC236}">
                <a16:creationId xmlns:a16="http://schemas.microsoft.com/office/drawing/2014/main" id="{61CD8332-B36D-FD9B-98DA-27E2E1AEB4E4}"/>
              </a:ext>
            </a:extLst>
          </p:cNvPr>
          <p:cNvSpPr>
            <a:spLocks noGrp="1"/>
          </p:cNvSpPr>
          <p:nvPr>
            <p:ph type="sldNum" sz="quarter" idx="5"/>
          </p:nvPr>
        </p:nvSpPr>
        <p:spPr/>
        <p:txBody>
          <a:bodyPr/>
          <a:lstStyle/>
          <a:p>
            <a:fld id="{2DCC0670-7746-4E74-90E4-D3E999690A6F}" type="slidenum">
              <a:rPr lang="en-US" smtClean="0"/>
              <a:t>30</a:t>
            </a:fld>
            <a:endParaRPr lang="en-US"/>
          </a:p>
        </p:txBody>
      </p:sp>
    </p:spTree>
    <p:extLst>
      <p:ext uri="{BB962C8B-B14F-4D97-AF65-F5344CB8AC3E}">
        <p14:creationId xmlns:p14="http://schemas.microsoft.com/office/powerpoint/2010/main" val="31902338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9B96C-D042-476B-BCB3-E60B2F6FE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7E094-608C-DAFD-F3E8-517E09FE7C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852750-A148-47E9-7D04-081702C147B6}"/>
              </a:ext>
            </a:extLst>
          </p:cNvPr>
          <p:cNvSpPr>
            <a:spLocks noGrp="1"/>
          </p:cNvSpPr>
          <p:nvPr>
            <p:ph type="body" idx="1"/>
          </p:nvPr>
        </p:nvSpPr>
        <p:spPr/>
        <p:txBody>
          <a:bodyPr/>
          <a:lstStyle/>
          <a:p>
            <a:pPr rtl="0">
              <a:buNone/>
            </a:pPr>
            <a:r>
              <a:rPr lang="vi-VN" sz="1800" b="0" i="0" u="none" strike="noStrike" dirty="0">
                <a:solidFill>
                  <a:srgbClr val="000000"/>
                </a:solidFill>
                <a:effectLst/>
                <a:latin typeface="Times New Roman" panose="02020603050405020304" pitchFamily="18" charset="0"/>
              </a:rPr>
              <a:t>Biện minh cho lỗi (</a:t>
            </a:r>
            <a:r>
              <a:rPr lang="vi-VN" sz="1800" b="0" i="1" u="none" strike="noStrike" dirty="0">
                <a:solidFill>
                  <a:srgbClr val="000000"/>
                </a:solidFill>
                <a:effectLst/>
                <a:latin typeface="Times New Roman" panose="02020603050405020304" pitchFamily="18" charset="0"/>
              </a:rPr>
              <a:t>Explaining Away Errors</a:t>
            </a:r>
            <a:r>
              <a:rPr lang="vi-VN" sz="1800" b="0" i="0" u="none" strike="noStrike" dirty="0">
                <a:solidFill>
                  <a:srgbClr val="000000"/>
                </a:solidFill>
                <a:effectLst/>
                <a:latin typeface="Times New Roman" panose="02020603050405020304" pitchFamily="18" charset="0"/>
              </a:rPr>
              <a:t>) là một vấn đề phổ biến, xảy ra khi </a:t>
            </a:r>
            <a:r>
              <a:rPr lang="vi-VN" sz="1800" b="1" i="0" u="none" strike="noStrike" dirty="0">
                <a:solidFill>
                  <a:srgbClr val="000000"/>
                </a:solidFill>
                <a:effectLst/>
                <a:latin typeface="Times New Roman" panose="02020603050405020304" pitchFamily="18" charset="0"/>
              </a:rPr>
              <a:t>sai lầm</a:t>
            </a:r>
            <a:r>
              <a:rPr lang="vi-VN" sz="1800" b="0" i="0" u="none" strike="noStrike" dirty="0">
                <a:solidFill>
                  <a:srgbClr val="000000"/>
                </a:solidFill>
                <a:effectLst/>
                <a:latin typeface="Times New Roman" panose="02020603050405020304" pitchFamily="18" charset="0"/>
              </a:rPr>
              <a:t>, đặc biệt là </a:t>
            </a:r>
            <a:r>
              <a:rPr lang="vi-VN" sz="1800" b="1" i="0" u="none" strike="noStrike" dirty="0">
                <a:solidFill>
                  <a:srgbClr val="000000"/>
                </a:solidFill>
                <a:effectLst/>
                <a:latin typeface="Times New Roman" panose="02020603050405020304" pitchFamily="18" charset="0"/>
              </a:rPr>
              <a:t>diễn giải sai tình huống</a:t>
            </a:r>
            <a:r>
              <a:rPr lang="vi-VN" sz="1800" b="0" i="0" u="none" strike="noStrike" dirty="0">
                <a:solidFill>
                  <a:srgbClr val="000000"/>
                </a:solidFill>
                <a:effectLst/>
                <a:latin typeface="Times New Roman" panose="02020603050405020304" pitchFamily="18" charset="0"/>
              </a:rPr>
              <a:t> (thường do lẫn lộn sự kiện hiếm với sự kiện thường gặp), rất </a:t>
            </a:r>
            <a:r>
              <a:rPr lang="vi-VN" sz="1800" b="1" i="0" u="none" strike="noStrike" dirty="0">
                <a:solidFill>
                  <a:srgbClr val="000000"/>
                </a:solidFill>
                <a:effectLst/>
                <a:latin typeface="Times New Roman" panose="02020603050405020304" pitchFamily="18" charset="0"/>
              </a:rPr>
              <a:t>khó bị phát hiện</a:t>
            </a:r>
            <a:r>
              <a:rPr lang="vi-VN" sz="1800" b="0" i="0" u="none" strike="noStrike" dirty="0">
                <a:solidFill>
                  <a:srgbClr val="000000"/>
                </a:solidFill>
                <a:effectLst/>
                <a:latin typeface="Times New Roman" panose="02020603050405020304" pitchFamily="18" charset="0"/>
              </a:rPr>
              <a:t> vì cách lý giải tại thời điểm đó </a:t>
            </a:r>
            <a:r>
              <a:rPr lang="vi-VN" sz="1800" b="1" i="0" u="none" strike="noStrike" dirty="0">
                <a:solidFill>
                  <a:srgbClr val="000000"/>
                </a:solidFill>
                <a:effectLst/>
                <a:latin typeface="Times New Roman" panose="02020603050405020304" pitchFamily="18" charset="0"/>
              </a:rPr>
              <a:t>hoàn toàn có lý</a:t>
            </a:r>
            <a:r>
              <a:rPr lang="vi-VN" sz="1800" b="0" i="0" u="none" strike="noStrike" dirty="0">
                <a:solidFill>
                  <a:srgbClr val="000000"/>
                </a:solidFill>
                <a:effectLst/>
                <a:latin typeface="Times New Roman" panose="02020603050405020304" pitchFamily="18" charset="0"/>
              </a:rPr>
              <a:t>. </a:t>
            </a:r>
            <a:endParaRPr lang="vi-VN" sz="6000" b="0" dirty="0">
              <a:effectLst/>
            </a:endParaRPr>
          </a:p>
          <a:p>
            <a:pPr rtl="0">
              <a:buNone/>
            </a:pPr>
            <a:r>
              <a:rPr lang="vi-VN" sz="1800" b="0" i="0" u="none" strike="noStrike" dirty="0">
                <a:solidFill>
                  <a:srgbClr val="000000"/>
                </a:solidFill>
                <a:effectLst/>
                <a:latin typeface="Times New Roman" panose="02020603050405020304" pitchFamily="18" charset="0"/>
              </a:rPr>
              <a:t>Xu hướng tự nhiên của con người là </a:t>
            </a:r>
            <a:r>
              <a:rPr lang="vi-VN" sz="1800" b="1" i="0" u="none" strike="noStrike" dirty="0">
                <a:solidFill>
                  <a:srgbClr val="000000"/>
                </a:solidFill>
                <a:effectLst/>
                <a:latin typeface="Times New Roman" panose="02020603050405020304" pitchFamily="18" charset="0"/>
              </a:rPr>
              <a:t>hợp lý hóa</a:t>
            </a:r>
            <a:r>
              <a:rPr lang="vi-VN" sz="1800" b="0" i="0" u="none" strike="noStrike" dirty="0">
                <a:solidFill>
                  <a:srgbClr val="000000"/>
                </a:solidFill>
                <a:effectLst/>
                <a:latin typeface="Times New Roman" panose="02020603050405020304" pitchFamily="18" charset="0"/>
              </a:rPr>
              <a:t> các dấu hiệu bất thường (ví dụ: giải thích tiếng nổ là do ống xả xe), và dù phần lớn thời gian các giải thích này là đúng, khi chúng sai thì lại trở nên </a:t>
            </a:r>
            <a:r>
              <a:rPr lang="vi-VN" sz="1800" b="1" i="0" u="none" strike="noStrike" dirty="0">
                <a:solidFill>
                  <a:srgbClr val="000000"/>
                </a:solidFill>
                <a:effectLst/>
                <a:latin typeface="Times New Roman" panose="02020603050405020304" pitchFamily="18" charset="0"/>
              </a:rPr>
              <a:t>ngớ ngẩn và khó biện hộ</a:t>
            </a:r>
            <a:r>
              <a:rPr lang="vi-VN" sz="1800" b="0" i="0" u="none" strike="noStrike" dirty="0">
                <a:solidFill>
                  <a:srgbClr val="000000"/>
                </a:solidFill>
                <a:effectLst/>
                <a:latin typeface="Times New Roman" panose="02020603050405020304" pitchFamily="18" charset="0"/>
              </a:rPr>
              <a:t>. </a:t>
            </a:r>
            <a:endParaRPr lang="vi-VN" sz="6000" b="0" dirty="0">
              <a:effectLst/>
            </a:endParaRPr>
          </a:p>
          <a:p>
            <a:pPr rtl="0">
              <a:buNone/>
            </a:pPr>
            <a:r>
              <a:rPr lang="vi-VN" sz="1800" b="0" i="0" u="none" strike="noStrike" dirty="0">
                <a:solidFill>
                  <a:srgbClr val="000000"/>
                </a:solidFill>
                <a:effectLst/>
                <a:latin typeface="Times New Roman" panose="02020603050405020304" pitchFamily="18" charset="0"/>
              </a:rPr>
              <a:t>Vấn đề này thường dẫn đến </a:t>
            </a:r>
            <a:r>
              <a:rPr lang="vi-VN" sz="1800" b="1" i="0" u="none" strike="noStrike" dirty="0">
                <a:solidFill>
                  <a:srgbClr val="000000"/>
                </a:solidFill>
                <a:effectLst/>
                <a:latin typeface="Times New Roman" panose="02020603050405020304" pitchFamily="18" charset="0"/>
              </a:rPr>
              <a:t>thảm họa</a:t>
            </a:r>
            <a:r>
              <a:rPr lang="vi-VN" sz="1800" b="0" i="0" u="none" strike="noStrike" dirty="0">
                <a:solidFill>
                  <a:srgbClr val="000000"/>
                </a:solidFill>
                <a:effectLst/>
                <a:latin typeface="Times New Roman" panose="02020603050405020304" pitchFamily="18" charset="0"/>
              </a:rPr>
              <a:t> lớn, khi tai nạn công nghiệp là kết quả của </a:t>
            </a:r>
            <a:r>
              <a:rPr lang="vi-VN" sz="1800" b="1" i="0" u="none" strike="noStrike" dirty="0">
                <a:solidFill>
                  <a:srgbClr val="000000"/>
                </a:solidFill>
                <a:effectLst/>
                <a:latin typeface="Times New Roman" panose="02020603050405020304" pitchFamily="18" charset="0"/>
              </a:rPr>
              <a:t>một chuỗi sự cố và sai sót</a:t>
            </a:r>
            <a:r>
              <a:rPr lang="vi-VN" sz="1800" b="0" i="0" u="none" strike="noStrike" dirty="0">
                <a:solidFill>
                  <a:srgbClr val="000000"/>
                </a:solidFill>
                <a:effectLst/>
                <a:latin typeface="Times New Roman" panose="02020603050405020304" pitchFamily="18" charset="0"/>
              </a:rPr>
              <a:t> liên tiếp; trong đó, những người liên quan đã </a:t>
            </a:r>
            <a:r>
              <a:rPr lang="vi-VN" sz="1800" b="1" i="0" u="none" strike="noStrike" dirty="0">
                <a:solidFill>
                  <a:srgbClr val="000000"/>
                </a:solidFill>
                <a:effectLst/>
                <a:latin typeface="Times New Roman" panose="02020603050405020304" pitchFamily="18" charset="0"/>
              </a:rPr>
              <a:t>lưu ý</a:t>
            </a:r>
            <a:r>
              <a:rPr lang="vi-VN" sz="1800" b="0" i="0" u="none" strike="noStrike" dirty="0">
                <a:solidFill>
                  <a:srgbClr val="000000"/>
                </a:solidFill>
                <a:effectLst/>
                <a:latin typeface="Times New Roman" panose="02020603050405020304" pitchFamily="18" charset="0"/>
              </a:rPr>
              <a:t> đến từng vấn đề nhưng lại </a:t>
            </a:r>
            <a:r>
              <a:rPr lang="vi-VN" sz="1800" b="1" i="0" u="none" strike="noStrike" dirty="0">
                <a:solidFill>
                  <a:srgbClr val="000000"/>
                </a:solidFill>
                <a:effectLst/>
                <a:latin typeface="Times New Roman" panose="02020603050405020304" pitchFamily="18" charset="0"/>
              </a:rPr>
              <a:t>giải thích nó</a:t>
            </a:r>
            <a:r>
              <a:rPr lang="vi-VN" sz="1800" b="0" i="0" u="none" strike="noStrike" dirty="0">
                <a:solidFill>
                  <a:srgbClr val="000000"/>
                </a:solidFill>
                <a:effectLst/>
                <a:latin typeface="Times New Roman" panose="02020603050405020304" pitchFamily="18" charset="0"/>
              </a:rPr>
              <a:t> một cách logic dựa trên </a:t>
            </a:r>
            <a:r>
              <a:rPr lang="vi-VN" sz="1800" b="1" i="0" u="none" strike="noStrike" dirty="0">
                <a:solidFill>
                  <a:srgbClr val="000000"/>
                </a:solidFill>
                <a:effectLst/>
                <a:latin typeface="Times New Roman" panose="02020603050405020304" pitchFamily="18" charset="0"/>
              </a:rPr>
              <a:t>quan sát hạn chế</a:t>
            </a:r>
            <a:r>
              <a:rPr lang="vi-VN" sz="1800" b="0" i="0" u="none" strike="noStrike" dirty="0">
                <a:solidFill>
                  <a:srgbClr val="000000"/>
                </a:solidFill>
                <a:effectLst/>
                <a:latin typeface="Times New Roman" panose="02020603050405020304" pitchFamily="18" charset="0"/>
              </a:rPr>
              <a:t> của riêng họ, khiến các bước hành động khi đó tưởng chừng hợp lý. </a:t>
            </a:r>
            <a:endParaRPr lang="vi-VN" sz="6000" b="0" dirty="0">
              <a:effectLst/>
            </a:endParaRPr>
          </a:p>
          <a:p>
            <a:pPr>
              <a:buNone/>
            </a:pPr>
            <a:r>
              <a:rPr lang="vi-VN" sz="1800" b="0" i="0" u="none" strike="noStrike" dirty="0">
                <a:solidFill>
                  <a:srgbClr val="000000"/>
                </a:solidFill>
                <a:effectLst/>
                <a:latin typeface="Times New Roman" panose="02020603050405020304" pitchFamily="18" charset="0"/>
              </a:rPr>
              <a:t>Hiện tượng này liên quan mật thiết đến </a:t>
            </a:r>
            <a:r>
              <a:rPr lang="vi-VN" sz="1800" b="1" i="0" u="none" strike="noStrike" dirty="0">
                <a:solidFill>
                  <a:srgbClr val="000000"/>
                </a:solidFill>
                <a:effectLst/>
                <a:latin typeface="Times New Roman" panose="02020603050405020304" pitchFamily="18" charset="0"/>
              </a:rPr>
              <a:t>biện giải hồi tưởng</a:t>
            </a:r>
            <a:r>
              <a:rPr lang="vi-VN" sz="1800" b="0" i="0" u="none" strike="noStrike" dirty="0">
                <a:solidFill>
                  <a:srgbClr val="000000"/>
                </a:solidFill>
                <a:effectLst/>
                <a:latin typeface="Times New Roman" panose="02020603050405020304" pitchFamily="18" charset="0"/>
              </a:rPr>
              <a:t> (</a:t>
            </a:r>
            <a:r>
              <a:rPr lang="vi-VN" sz="1800" b="0" i="1" u="none" strike="noStrike" dirty="0">
                <a:solidFill>
                  <a:srgbClr val="000000"/>
                </a:solidFill>
                <a:effectLst/>
                <a:latin typeface="Times New Roman" panose="02020603050405020304" pitchFamily="18" charset="0"/>
              </a:rPr>
              <a:t>hindsight explanations</a:t>
            </a:r>
            <a:r>
              <a:rPr lang="vi-VN" sz="1800" b="0" i="0" u="none" strike="noStrike" dirty="0">
                <a:solidFill>
                  <a:srgbClr val="000000"/>
                </a:solidFill>
                <a:effectLst/>
                <a:latin typeface="Times New Roman" panose="02020603050405020304" pitchFamily="18" charset="0"/>
              </a:rPr>
              <a:t>), trong đó, </a:t>
            </a:r>
            <a:r>
              <a:rPr lang="vi-VN" sz="1800" b="1" i="0" u="none" strike="noStrike" dirty="0">
                <a:solidFill>
                  <a:srgbClr val="000000"/>
                </a:solidFill>
                <a:effectLst/>
                <a:latin typeface="Times New Roman" panose="02020603050405020304" pitchFamily="18" charset="0"/>
              </a:rPr>
              <a:t>sau khi</a:t>
            </a:r>
            <a:r>
              <a:rPr lang="vi-VN" sz="1800" b="0" i="0" u="none" strike="noStrike" dirty="0">
                <a:solidFill>
                  <a:srgbClr val="000000"/>
                </a:solidFill>
                <a:effectLst/>
                <a:latin typeface="Times New Roman" panose="02020603050405020304" pitchFamily="18" charset="0"/>
              </a:rPr>
              <a:t> kết cục đã xảy ra, sự kiện đó </a:t>
            </a:r>
            <a:r>
              <a:rPr lang="vi-VN" sz="1800" b="1" i="0" u="none" strike="noStrike" dirty="0">
                <a:solidFill>
                  <a:srgbClr val="000000"/>
                </a:solidFill>
                <a:effectLst/>
                <a:latin typeface="Times New Roman" panose="02020603050405020304" pitchFamily="18" charset="0"/>
              </a:rPr>
              <a:t>có vẻ hiển nhiên và có thể dự đoán được</a:t>
            </a:r>
            <a:r>
              <a:rPr lang="vi-VN" sz="1800" b="0" i="0" u="none" strike="noStrike" dirty="0">
                <a:solidFill>
                  <a:srgbClr val="000000"/>
                </a:solidFill>
                <a:effectLst/>
                <a:latin typeface="Times New Roman" panose="02020603050405020304" pitchFamily="18" charset="0"/>
              </a:rPr>
              <a:t>, nhưng </a:t>
            </a:r>
            <a:r>
              <a:rPr lang="vi-VN" sz="1800" b="1" i="0" u="none" strike="noStrike" dirty="0">
                <a:solidFill>
                  <a:srgbClr val="000000"/>
                </a:solidFill>
                <a:effectLst/>
                <a:latin typeface="Times New Roman" panose="02020603050405020304" pitchFamily="18" charset="0"/>
              </a:rPr>
              <a:t>hoàn toàn không thể đoán trước</a:t>
            </a:r>
            <a:r>
              <a:rPr lang="vi-VN" sz="1800" b="0" i="0" u="none" strike="noStrike" dirty="0">
                <a:solidFill>
                  <a:srgbClr val="000000"/>
                </a:solidFill>
                <a:effectLst/>
                <a:latin typeface="Times New Roman" panose="02020603050405020304" pitchFamily="18" charset="0"/>
              </a:rPr>
              <a:t> trước khi nó xảy ra, chứng tỏ rằng </a:t>
            </a:r>
            <a:r>
              <a:rPr lang="vi-VN" sz="1800" b="1" i="0" u="none" strike="noStrike" dirty="0">
                <a:solidFill>
                  <a:srgbClr val="000000"/>
                </a:solidFill>
                <a:effectLst/>
                <a:latin typeface="Times New Roman" panose="02020603050405020304" pitchFamily="18" charset="0"/>
              </a:rPr>
              <a:t>xác định điều “hiển nhiên” dễ hơn rất nhiều sau khi nó đã xảy ra</a:t>
            </a:r>
            <a:r>
              <a:rPr lang="vi-VN" sz="1800" b="0" i="0" u="none" strike="noStrike" dirty="0">
                <a:solidFill>
                  <a:srgbClr val="000000"/>
                </a:solidFill>
                <a:effectLst/>
                <a:latin typeface="Times New Roman" panose="02020603050405020304" pitchFamily="18" charset="0"/>
              </a:rPr>
              <a:t>.</a:t>
            </a:r>
            <a:endParaRPr lang="en-US" sz="1800" b="0" i="0" u="none" strike="noStrike" dirty="0">
              <a:solidFill>
                <a:srgbClr val="000000"/>
              </a:solidFill>
              <a:effectLst/>
              <a:latin typeface="Times New Roman" panose="02020603050405020304" pitchFamily="18" charset="0"/>
            </a:endParaRPr>
          </a:p>
          <a:p>
            <a:pPr>
              <a:buNone/>
            </a:pPr>
            <a:r>
              <a:rPr lang="en-US" sz="1800" b="0" i="0" u="none" strike="noStrike" dirty="0">
                <a:solidFill>
                  <a:srgbClr val="000000"/>
                </a:solidFill>
                <a:effectLst/>
                <a:latin typeface="Times New Roman" panose="02020603050405020304" pitchFamily="18" charset="0"/>
              </a:rPr>
              <a:t>VD: </a:t>
            </a:r>
            <a:r>
              <a:rPr lang="vi-VN" sz="1800" b="0" i="0" u="none" strike="noStrike" dirty="0">
                <a:solidFill>
                  <a:srgbClr val="000000"/>
                </a:solidFill>
                <a:effectLst/>
                <a:latin typeface="Times New Roman" panose="02020603050405020304" pitchFamily="18" charset="0"/>
              </a:rPr>
              <a:t>Bạn đang nấu ăn thì ngửi thấy mùi khét và thấy ổ cắm hơi nóng, đèn bếp nhấp nháy. Thay vì kiểm tra ngay, bạn tự giải thích: “Chắc do nồi cơm cũ” / “Gió thổi làm đèn chập chờn thôi” và tiếp tục nấu. Mười lăm phút sau, ổ cắm tóe tia lửa, khói bốc lên — hóa ra dây điện bị chảy, suýt gây cháy.</a:t>
            </a:r>
            <a:endParaRPr lang="vi-VN" sz="4400" kern="1200" spc="11" dirty="0">
              <a:solidFill>
                <a:srgbClr val="002060"/>
              </a:solidFill>
              <a:latin typeface="Source Sans Pro" panose="020B0503030403020204" pitchFamily="34" charset="0"/>
              <a:ea typeface="Source Sans Pro" panose="020B0503030403020204" pitchFamily="34" charset="0"/>
            </a:endParaRPr>
          </a:p>
        </p:txBody>
      </p:sp>
      <p:sp>
        <p:nvSpPr>
          <p:cNvPr id="4" name="Slide Number Placeholder 3">
            <a:extLst>
              <a:ext uri="{FF2B5EF4-FFF2-40B4-BE49-F238E27FC236}">
                <a16:creationId xmlns:a16="http://schemas.microsoft.com/office/drawing/2014/main" id="{C82A9D2E-8286-D778-6FFB-33AE1BF2DEF9}"/>
              </a:ext>
            </a:extLst>
          </p:cNvPr>
          <p:cNvSpPr>
            <a:spLocks noGrp="1"/>
          </p:cNvSpPr>
          <p:nvPr>
            <p:ph type="sldNum" sz="quarter" idx="5"/>
          </p:nvPr>
        </p:nvSpPr>
        <p:spPr/>
        <p:txBody>
          <a:bodyPr/>
          <a:lstStyle/>
          <a:p>
            <a:fld id="{2DCC0670-7746-4E74-90E4-D3E999690A6F}" type="slidenum">
              <a:rPr lang="en-US" smtClean="0"/>
              <a:t>32</a:t>
            </a:fld>
            <a:endParaRPr lang="en-US"/>
          </a:p>
        </p:txBody>
      </p:sp>
    </p:spTree>
    <p:extLst>
      <p:ext uri="{BB962C8B-B14F-4D97-AF65-F5344CB8AC3E}">
        <p14:creationId xmlns:p14="http://schemas.microsoft.com/office/powerpoint/2010/main" val="33783573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39F31-B953-2F59-36B1-25D5E7379E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84437B-62C7-F250-0786-C6B04FD49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CE6AC-703F-9B42-7B36-90693CC59FED}"/>
              </a:ext>
            </a:extLst>
          </p:cNvPr>
          <p:cNvSpPr>
            <a:spLocks noGrp="1"/>
          </p:cNvSpPr>
          <p:nvPr>
            <p:ph type="body" idx="1"/>
          </p:nvPr>
        </p:nvSpPr>
        <p:spPr/>
        <p:txBody>
          <a:bodyPr/>
          <a:lstStyle/>
          <a:p>
            <a:r>
              <a:rPr lang="en-US" sz="1800" dirty="0" err="1">
                <a:solidFill>
                  <a:srgbClr val="000000"/>
                </a:solidFill>
                <a:effectLst/>
                <a:latin typeface="Times New Roman" panose="02020603050405020304" pitchFamily="18" charset="0"/>
                <a:ea typeface="Times New Roman" panose="02020603050405020304" pitchFamily="18" charset="0"/>
              </a:rPr>
              <a:t>Lôi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ví</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dụ</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chạy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xe</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bị</a:t>
            </a:r>
            <a:r>
              <a:rPr lang="en-US" sz="1800" dirty="0">
                <a:solidFill>
                  <a:srgbClr val="000000"/>
                </a:solidFill>
                <a:effectLst/>
                <a:latin typeface="Times New Roman" panose="02020603050405020304" pitchFamily="18" charset="0"/>
                <a:ea typeface="Times New Roman" panose="02020603050405020304" pitchFamily="18" charset="0"/>
              </a:rPr>
              <a:t> CA </a:t>
            </a:r>
            <a:r>
              <a:rPr lang="en-US" sz="1800" dirty="0" err="1">
                <a:solidFill>
                  <a:srgbClr val="000000"/>
                </a:solidFill>
                <a:effectLst/>
                <a:latin typeface="Times New Roman" panose="02020603050405020304" pitchFamily="18" charset="0"/>
                <a:ea typeface="Times New Roman" panose="02020603050405020304" pitchFamily="18" charset="0"/>
              </a:rPr>
              <a:t>hốt</a:t>
            </a:r>
            <a:endParaRPr lang="vi-VN" sz="1800" dirty="0">
              <a:solidFill>
                <a:srgbClr val="000000"/>
              </a:solidFill>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2937D47C-6A61-78A5-A57A-EA6526EDDBC6}"/>
              </a:ext>
            </a:extLst>
          </p:cNvPr>
          <p:cNvSpPr>
            <a:spLocks noGrp="1"/>
          </p:cNvSpPr>
          <p:nvPr>
            <p:ph type="sldNum" sz="quarter" idx="5"/>
          </p:nvPr>
        </p:nvSpPr>
        <p:spPr/>
        <p:txBody>
          <a:bodyPr/>
          <a:lstStyle/>
          <a:p>
            <a:fld id="{2DCC0670-7746-4E74-90E4-D3E999690A6F}" type="slidenum">
              <a:rPr lang="en-US" smtClean="0"/>
              <a:t>33</a:t>
            </a:fld>
            <a:endParaRPr lang="en-US"/>
          </a:p>
        </p:txBody>
      </p:sp>
    </p:spTree>
    <p:extLst>
      <p:ext uri="{BB962C8B-B14F-4D97-AF65-F5344CB8AC3E}">
        <p14:creationId xmlns:p14="http://schemas.microsoft.com/office/powerpoint/2010/main" val="12448770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34F1B-476A-EA3F-D19D-BEE5571C8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61C39-EB70-B120-4B24-56D44A6DF1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B6F517-238E-61B0-8E2C-3A90CF46F90D}"/>
              </a:ext>
            </a:extLst>
          </p:cNvPr>
          <p:cNvSpPr>
            <a:spLocks noGrp="1"/>
          </p:cNvSpPr>
          <p:nvPr>
            <p:ph type="body" idx="1"/>
          </p:nvPr>
        </p:nvSpPr>
        <p:spPr/>
        <p:txBody>
          <a:bodyPr/>
          <a:lstStyle/>
          <a:p>
            <a:endParaRPr lang="vi-VN" sz="1800" dirty="0">
              <a:solidFill>
                <a:srgbClr val="000000"/>
              </a:solidFill>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8E7AE7A0-0A82-3E7E-644E-26934439E024}"/>
              </a:ext>
            </a:extLst>
          </p:cNvPr>
          <p:cNvSpPr>
            <a:spLocks noGrp="1"/>
          </p:cNvSpPr>
          <p:nvPr>
            <p:ph type="sldNum" sz="quarter" idx="5"/>
          </p:nvPr>
        </p:nvSpPr>
        <p:spPr/>
        <p:txBody>
          <a:bodyPr/>
          <a:lstStyle/>
          <a:p>
            <a:fld id="{2DCC0670-7746-4E74-90E4-D3E999690A6F}" type="slidenum">
              <a:rPr lang="en-US" smtClean="0"/>
              <a:t>35</a:t>
            </a:fld>
            <a:endParaRPr lang="en-US"/>
          </a:p>
        </p:txBody>
      </p:sp>
    </p:spTree>
    <p:extLst>
      <p:ext uri="{BB962C8B-B14F-4D97-AF65-F5344CB8AC3E}">
        <p14:creationId xmlns:p14="http://schemas.microsoft.com/office/powerpoint/2010/main" val="11521535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D80BC-F961-DCCD-FAD6-062658A9A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D4648-C989-92AF-4FA7-44F21EC8FA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4C1FA6-E2BB-BFEB-C97C-FA157A1BA9C8}"/>
              </a:ext>
            </a:extLst>
          </p:cNvPr>
          <p:cNvSpPr>
            <a:spLocks noGrp="1"/>
          </p:cNvSpPr>
          <p:nvPr>
            <p:ph type="body" idx="1"/>
          </p:nvPr>
        </p:nvSpPr>
        <p:spPr/>
        <p:txBody>
          <a:bodyPr/>
          <a:lstStyle/>
          <a:p>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Kiến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thức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cần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được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trình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bày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rõ</a:t>
            </a:r>
            <a:r>
              <a:rPr lang="en-US" sz="1800" dirty="0">
                <a:solidFill>
                  <a:srgbClr val="000000"/>
                </a:solidFill>
                <a:effectLst/>
                <a:latin typeface="Times New Roman" panose="02020603050405020304" pitchFamily="18" charset="0"/>
                <a:ea typeface="Times New Roman" panose="02020603050405020304" pitchFamily="18" charset="0"/>
              </a:rPr>
              <a:t> rang </a:t>
            </a:r>
            <a:r>
              <a:rPr lang="en-US" sz="1800" dirty="0" err="1">
                <a:solidFill>
                  <a:srgbClr val="000000"/>
                </a:solidFill>
                <a:effectLst/>
                <a:latin typeface="Times New Roman" panose="02020603050405020304" pitchFamily="18" charset="0"/>
                <a:ea typeface="Times New Roman" panose="02020603050405020304" pitchFamily="18" charset="0"/>
              </a:rPr>
              <a:t>và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đầy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đủ</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không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bắt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người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dùng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phải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ghi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nhớ</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tất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cả</a:t>
            </a:r>
            <a:endParaRPr lang="en-US" sz="1800" dirty="0">
              <a:solidFill>
                <a:srgbClr val="000000"/>
              </a:solidFill>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Thiết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kế</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cần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sử</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dụng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ràng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buộc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sao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hợp</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lý</a:t>
            </a:r>
            <a:endParaRPr lang="en-US" sz="1800" dirty="0">
              <a:solidFill>
                <a:srgbClr val="000000"/>
              </a:solidFill>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Times New Roman" panose="02020603050405020304" pitchFamily="18" charset="0"/>
                <a:ea typeface="Times New Roman" panose="02020603050405020304" pitchFamily="18" charset="0"/>
              </a:rPr>
              <a:t>- </a:t>
            </a:r>
            <a:r>
              <a:rPr lang="vi-VN" sz="1800" dirty="0">
                <a:solidFill>
                  <a:srgbClr val="000000"/>
                </a:solidFill>
                <a:effectLst/>
                <a:latin typeface="Times New Roman" panose="02020603050405020304" pitchFamily="18" charset="0"/>
                <a:ea typeface="Times New Roman" panose="02020603050405020304" pitchFamily="18" charset="0"/>
              </a:rPr>
              <a:t>thu hẹp “khe hở” giữa thực thi và đánh giá bằng cách làm cho các lựa chọn trở nên dễ thấy và dễ tiếp cận ở mặt thực thi, và làm cho kết quả của mỗi hành động cùng trạng thái hệ thống trở nên rõ ràng, nhanh, chính xác và phù hợp với mục tiêu của con người ở mặt đánh giá.</a:t>
            </a:r>
          </a:p>
          <a:p>
            <a:endParaRPr lang="vi-VN" sz="1800" dirty="0">
              <a:solidFill>
                <a:srgbClr val="000000"/>
              </a:solidFill>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047000FD-FE4E-FFA3-657C-919AB3047AD1}"/>
              </a:ext>
            </a:extLst>
          </p:cNvPr>
          <p:cNvSpPr>
            <a:spLocks noGrp="1"/>
          </p:cNvSpPr>
          <p:nvPr>
            <p:ph type="sldNum" sz="quarter" idx="5"/>
          </p:nvPr>
        </p:nvSpPr>
        <p:spPr/>
        <p:txBody>
          <a:bodyPr/>
          <a:lstStyle/>
          <a:p>
            <a:fld id="{2DCC0670-7746-4E74-90E4-D3E999690A6F}" type="slidenum">
              <a:rPr lang="en-US" smtClean="0"/>
              <a:t>36</a:t>
            </a:fld>
            <a:endParaRPr lang="en-US"/>
          </a:p>
        </p:txBody>
      </p:sp>
    </p:spTree>
    <p:extLst>
      <p:ext uri="{BB962C8B-B14F-4D97-AF65-F5344CB8AC3E}">
        <p14:creationId xmlns:p14="http://schemas.microsoft.com/office/powerpoint/2010/main" val="190223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E1C7-000F-B493-7F85-4845E76F5CD9}"/>
              </a:ext>
            </a:extLst>
          </p:cNvPr>
          <p:cNvSpPr>
            <a:spLocks noGrp="1"/>
          </p:cNvSpPr>
          <p:nvPr>
            <p:ph type="ctrTitle"/>
          </p:nvPr>
        </p:nvSpPr>
        <p:spPr>
          <a:xfrm>
            <a:off x="2286000" y="1684338"/>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844AD6-DCB3-EA55-7BFD-253B8F59020F}"/>
              </a:ext>
            </a:extLst>
          </p:cNvPr>
          <p:cNvSpPr>
            <a:spLocks noGrp="1"/>
          </p:cNvSpPr>
          <p:nvPr>
            <p:ph type="subTitle" idx="1"/>
          </p:nvPr>
        </p:nvSpPr>
        <p:spPr>
          <a:xfrm>
            <a:off x="2286000" y="5403850"/>
            <a:ext cx="13716000" cy="248285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D229F5-B312-82E8-847A-516C5A87A033}"/>
              </a:ext>
            </a:extLst>
          </p:cNvPr>
          <p:cNvSpPr>
            <a:spLocks noGrp="1"/>
          </p:cNvSpPr>
          <p:nvPr>
            <p:ph type="dt" sz="half" idx="10"/>
          </p:nvPr>
        </p:nvSpPr>
        <p:spPr/>
        <p:txBody>
          <a:bodyPr/>
          <a:lstStyle/>
          <a:p>
            <a:fld id="{40FFCBE1-702C-49D3-A362-B9DB54C27070}" type="datetimeFigureOut">
              <a:rPr lang="en-US" smtClean="0"/>
              <a:t>10/24/2025</a:t>
            </a:fld>
            <a:endParaRPr lang="en-US"/>
          </a:p>
        </p:txBody>
      </p:sp>
      <p:sp>
        <p:nvSpPr>
          <p:cNvPr id="5" name="Footer Placeholder 4">
            <a:extLst>
              <a:ext uri="{FF2B5EF4-FFF2-40B4-BE49-F238E27FC236}">
                <a16:creationId xmlns:a16="http://schemas.microsoft.com/office/drawing/2014/main" id="{0A04208D-D4FC-156F-7E8C-855CF659BB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48747A-C329-C033-C2F1-730D5BC15146}"/>
              </a:ext>
            </a:extLst>
          </p:cNvPr>
          <p:cNvSpPr>
            <a:spLocks noGrp="1"/>
          </p:cNvSpPr>
          <p:nvPr>
            <p:ph type="sldNum" sz="quarter" idx="12"/>
          </p:nvPr>
        </p:nvSpPr>
        <p:spPr/>
        <p:txBody>
          <a:bodyPr/>
          <a:lstStyle/>
          <a:p>
            <a:fld id="{77DC71D6-7182-4756-AAC5-869639665C32}" type="slidenum">
              <a:rPr lang="en-US" smtClean="0"/>
              <a:t>‹#›</a:t>
            </a:fld>
            <a:endParaRPr lang="en-US"/>
          </a:p>
        </p:txBody>
      </p:sp>
    </p:spTree>
    <p:extLst>
      <p:ext uri="{BB962C8B-B14F-4D97-AF65-F5344CB8AC3E}">
        <p14:creationId xmlns:p14="http://schemas.microsoft.com/office/powerpoint/2010/main" val="3061249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8E11D-38B2-3DEA-0B98-0C48105BF5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82512F-63BC-0153-F50E-6574A5C333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3AA0D9-A6E9-DB97-AD06-537E0A4B9352}"/>
              </a:ext>
            </a:extLst>
          </p:cNvPr>
          <p:cNvSpPr>
            <a:spLocks noGrp="1"/>
          </p:cNvSpPr>
          <p:nvPr>
            <p:ph type="dt" sz="half" idx="10"/>
          </p:nvPr>
        </p:nvSpPr>
        <p:spPr/>
        <p:txBody>
          <a:bodyPr/>
          <a:lstStyle/>
          <a:p>
            <a:fld id="{40FFCBE1-702C-49D3-A362-B9DB54C27070}" type="datetimeFigureOut">
              <a:rPr lang="en-US" smtClean="0"/>
              <a:t>10/24/2025</a:t>
            </a:fld>
            <a:endParaRPr lang="en-US"/>
          </a:p>
        </p:txBody>
      </p:sp>
      <p:sp>
        <p:nvSpPr>
          <p:cNvPr id="5" name="Footer Placeholder 4">
            <a:extLst>
              <a:ext uri="{FF2B5EF4-FFF2-40B4-BE49-F238E27FC236}">
                <a16:creationId xmlns:a16="http://schemas.microsoft.com/office/drawing/2014/main" id="{0E507117-BD3E-30DB-72A8-2E0F347D65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E26115-80E9-4431-894E-305677C9044F}"/>
              </a:ext>
            </a:extLst>
          </p:cNvPr>
          <p:cNvSpPr>
            <a:spLocks noGrp="1"/>
          </p:cNvSpPr>
          <p:nvPr>
            <p:ph type="sldNum" sz="quarter" idx="12"/>
          </p:nvPr>
        </p:nvSpPr>
        <p:spPr/>
        <p:txBody>
          <a:bodyPr/>
          <a:lstStyle/>
          <a:p>
            <a:fld id="{77DC71D6-7182-4756-AAC5-869639665C32}" type="slidenum">
              <a:rPr lang="en-US" smtClean="0"/>
              <a:t>‹#›</a:t>
            </a:fld>
            <a:endParaRPr lang="en-US"/>
          </a:p>
        </p:txBody>
      </p:sp>
    </p:spTree>
    <p:extLst>
      <p:ext uri="{BB962C8B-B14F-4D97-AF65-F5344CB8AC3E}">
        <p14:creationId xmlns:p14="http://schemas.microsoft.com/office/powerpoint/2010/main" val="424270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EEFB6-F8BE-85DD-1C9E-1DDAE406AB97}"/>
              </a:ext>
            </a:extLst>
          </p:cNvPr>
          <p:cNvSpPr>
            <a:spLocks noGrp="1"/>
          </p:cNvSpPr>
          <p:nvPr>
            <p:ph type="title"/>
          </p:nvPr>
        </p:nvSpPr>
        <p:spPr>
          <a:xfrm>
            <a:off x="1247775" y="2565400"/>
            <a:ext cx="15773400" cy="4278313"/>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1BF09C-F950-3D12-29C7-8533C8F469DE}"/>
              </a:ext>
            </a:extLst>
          </p:cNvPr>
          <p:cNvSpPr>
            <a:spLocks noGrp="1"/>
          </p:cNvSpPr>
          <p:nvPr>
            <p:ph type="body" idx="1"/>
          </p:nvPr>
        </p:nvSpPr>
        <p:spPr>
          <a:xfrm>
            <a:off x="1247775" y="6884988"/>
            <a:ext cx="15773400" cy="22494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4ECE64-9650-E49F-D0FC-EA7E9201FA2B}"/>
              </a:ext>
            </a:extLst>
          </p:cNvPr>
          <p:cNvSpPr>
            <a:spLocks noGrp="1"/>
          </p:cNvSpPr>
          <p:nvPr>
            <p:ph type="dt" sz="half" idx="10"/>
          </p:nvPr>
        </p:nvSpPr>
        <p:spPr/>
        <p:txBody>
          <a:bodyPr/>
          <a:lstStyle/>
          <a:p>
            <a:fld id="{40FFCBE1-702C-49D3-A362-B9DB54C27070}" type="datetimeFigureOut">
              <a:rPr lang="en-US" smtClean="0"/>
              <a:t>10/24/2025</a:t>
            </a:fld>
            <a:endParaRPr lang="en-US"/>
          </a:p>
        </p:txBody>
      </p:sp>
      <p:sp>
        <p:nvSpPr>
          <p:cNvPr id="5" name="Footer Placeholder 4">
            <a:extLst>
              <a:ext uri="{FF2B5EF4-FFF2-40B4-BE49-F238E27FC236}">
                <a16:creationId xmlns:a16="http://schemas.microsoft.com/office/drawing/2014/main" id="{8D69AB13-D279-8034-1590-B468CDD3C5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265CF5-8943-95CD-CB6F-20B256334798}"/>
              </a:ext>
            </a:extLst>
          </p:cNvPr>
          <p:cNvSpPr>
            <a:spLocks noGrp="1"/>
          </p:cNvSpPr>
          <p:nvPr>
            <p:ph type="sldNum" sz="quarter" idx="12"/>
          </p:nvPr>
        </p:nvSpPr>
        <p:spPr/>
        <p:txBody>
          <a:bodyPr/>
          <a:lstStyle/>
          <a:p>
            <a:fld id="{77DC71D6-7182-4756-AAC5-869639665C32}" type="slidenum">
              <a:rPr lang="en-US" smtClean="0"/>
              <a:t>‹#›</a:t>
            </a:fld>
            <a:endParaRPr lang="en-US"/>
          </a:p>
        </p:txBody>
      </p:sp>
    </p:spTree>
    <p:extLst>
      <p:ext uri="{BB962C8B-B14F-4D97-AF65-F5344CB8AC3E}">
        <p14:creationId xmlns:p14="http://schemas.microsoft.com/office/powerpoint/2010/main" val="950018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94A11-429A-4A7C-3C43-11CD170C985C}"/>
              </a:ext>
            </a:extLst>
          </p:cNvPr>
          <p:cNvSpPr>
            <a:spLocks noGrp="1"/>
          </p:cNvSpPr>
          <p:nvPr>
            <p:ph type="title"/>
          </p:nvPr>
        </p:nvSpPr>
        <p:spPr/>
        <p:txBody>
          <a:bodyPr/>
          <a:lstStyle>
            <a:lvl1pPr>
              <a:defRPr/>
            </a:lvl1pPr>
          </a:lstStyle>
          <a:p>
            <a:endParaRPr lang="en-US" dirty="0"/>
          </a:p>
        </p:txBody>
      </p:sp>
      <p:sp>
        <p:nvSpPr>
          <p:cNvPr id="3" name="Content Placeholder 2">
            <a:extLst>
              <a:ext uri="{FF2B5EF4-FFF2-40B4-BE49-F238E27FC236}">
                <a16:creationId xmlns:a16="http://schemas.microsoft.com/office/drawing/2014/main" id="{9CF4C6E5-A41B-7F12-F0B3-E17FAB964533}"/>
              </a:ext>
            </a:extLst>
          </p:cNvPr>
          <p:cNvSpPr>
            <a:spLocks noGrp="1"/>
          </p:cNvSpPr>
          <p:nvPr>
            <p:ph sz="half" idx="1"/>
          </p:nvPr>
        </p:nvSpPr>
        <p:spPr>
          <a:xfrm>
            <a:off x="1257300" y="2738438"/>
            <a:ext cx="7810500" cy="652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39B6ED-0678-1088-5BC3-535CE4EE869F}"/>
              </a:ext>
            </a:extLst>
          </p:cNvPr>
          <p:cNvSpPr>
            <a:spLocks noGrp="1"/>
          </p:cNvSpPr>
          <p:nvPr>
            <p:ph sz="half" idx="2"/>
          </p:nvPr>
        </p:nvSpPr>
        <p:spPr>
          <a:xfrm>
            <a:off x="9220200" y="2738438"/>
            <a:ext cx="7810500" cy="652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8BE2F6-0AE1-6D2C-249A-DB378662D10A}"/>
              </a:ext>
            </a:extLst>
          </p:cNvPr>
          <p:cNvSpPr>
            <a:spLocks noGrp="1"/>
          </p:cNvSpPr>
          <p:nvPr>
            <p:ph type="dt" sz="half" idx="10"/>
          </p:nvPr>
        </p:nvSpPr>
        <p:spPr/>
        <p:txBody>
          <a:bodyPr/>
          <a:lstStyle/>
          <a:p>
            <a:fld id="{40FFCBE1-702C-49D3-A362-B9DB54C27070}" type="datetimeFigureOut">
              <a:rPr lang="en-US" smtClean="0"/>
              <a:t>10/24/2025</a:t>
            </a:fld>
            <a:endParaRPr lang="en-US"/>
          </a:p>
        </p:txBody>
      </p:sp>
      <p:sp>
        <p:nvSpPr>
          <p:cNvPr id="6" name="Footer Placeholder 5">
            <a:extLst>
              <a:ext uri="{FF2B5EF4-FFF2-40B4-BE49-F238E27FC236}">
                <a16:creationId xmlns:a16="http://schemas.microsoft.com/office/drawing/2014/main" id="{1377DEE3-B297-CCAB-9073-5367D72F92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D4332C-1DA9-EA59-1474-18AB47E400D0}"/>
              </a:ext>
            </a:extLst>
          </p:cNvPr>
          <p:cNvSpPr>
            <a:spLocks noGrp="1"/>
          </p:cNvSpPr>
          <p:nvPr>
            <p:ph type="sldNum" sz="quarter" idx="12"/>
          </p:nvPr>
        </p:nvSpPr>
        <p:spPr/>
        <p:txBody>
          <a:bodyPr/>
          <a:lstStyle/>
          <a:p>
            <a:fld id="{77DC71D6-7182-4756-AAC5-869639665C32}" type="slidenum">
              <a:rPr lang="en-US" smtClean="0"/>
              <a:t>‹#›</a:t>
            </a:fld>
            <a:endParaRPr lang="en-US"/>
          </a:p>
        </p:txBody>
      </p:sp>
    </p:spTree>
    <p:extLst>
      <p:ext uri="{BB962C8B-B14F-4D97-AF65-F5344CB8AC3E}">
        <p14:creationId xmlns:p14="http://schemas.microsoft.com/office/powerpoint/2010/main" val="3718528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BFC30-8126-EEDC-A8CF-95900A0AFC91}"/>
              </a:ext>
            </a:extLst>
          </p:cNvPr>
          <p:cNvSpPr>
            <a:spLocks noGrp="1"/>
          </p:cNvSpPr>
          <p:nvPr>
            <p:ph type="title"/>
          </p:nvPr>
        </p:nvSpPr>
        <p:spPr>
          <a:xfrm>
            <a:off x="1260475" y="547688"/>
            <a:ext cx="15773400" cy="1989137"/>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05D685-89F0-E979-CD29-364B8512FF69}"/>
              </a:ext>
            </a:extLst>
          </p:cNvPr>
          <p:cNvSpPr>
            <a:spLocks noGrp="1"/>
          </p:cNvSpPr>
          <p:nvPr>
            <p:ph type="body" idx="1"/>
          </p:nvPr>
        </p:nvSpPr>
        <p:spPr>
          <a:xfrm>
            <a:off x="1260475" y="2522538"/>
            <a:ext cx="7735888"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5C297D-BA2E-1D4F-75B2-53E030BCD109}"/>
              </a:ext>
            </a:extLst>
          </p:cNvPr>
          <p:cNvSpPr>
            <a:spLocks noGrp="1"/>
          </p:cNvSpPr>
          <p:nvPr>
            <p:ph sz="half" idx="2"/>
          </p:nvPr>
        </p:nvSpPr>
        <p:spPr>
          <a:xfrm>
            <a:off x="1260475" y="3757613"/>
            <a:ext cx="7735888" cy="5527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6FDD95-6E5C-515A-2E41-53D7CC5B8CFD}"/>
              </a:ext>
            </a:extLst>
          </p:cNvPr>
          <p:cNvSpPr>
            <a:spLocks noGrp="1"/>
          </p:cNvSpPr>
          <p:nvPr>
            <p:ph type="body" sz="quarter" idx="3"/>
          </p:nvPr>
        </p:nvSpPr>
        <p:spPr>
          <a:xfrm>
            <a:off x="9258300" y="2522538"/>
            <a:ext cx="7775575"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555FF7-19CE-0597-5A28-7E39A6DA2B89}"/>
              </a:ext>
            </a:extLst>
          </p:cNvPr>
          <p:cNvSpPr>
            <a:spLocks noGrp="1"/>
          </p:cNvSpPr>
          <p:nvPr>
            <p:ph sz="quarter" idx="4"/>
          </p:nvPr>
        </p:nvSpPr>
        <p:spPr>
          <a:xfrm>
            <a:off x="9258300" y="3757613"/>
            <a:ext cx="7775575" cy="5527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1A97C4-8B3C-0CA8-A779-DD8923C082D2}"/>
              </a:ext>
            </a:extLst>
          </p:cNvPr>
          <p:cNvSpPr>
            <a:spLocks noGrp="1"/>
          </p:cNvSpPr>
          <p:nvPr>
            <p:ph type="dt" sz="half" idx="10"/>
          </p:nvPr>
        </p:nvSpPr>
        <p:spPr/>
        <p:txBody>
          <a:bodyPr/>
          <a:lstStyle/>
          <a:p>
            <a:fld id="{40FFCBE1-702C-49D3-A362-B9DB54C27070}" type="datetimeFigureOut">
              <a:rPr lang="en-US" smtClean="0"/>
              <a:t>10/24/2025</a:t>
            </a:fld>
            <a:endParaRPr lang="en-US"/>
          </a:p>
        </p:txBody>
      </p:sp>
      <p:sp>
        <p:nvSpPr>
          <p:cNvPr id="8" name="Footer Placeholder 7">
            <a:extLst>
              <a:ext uri="{FF2B5EF4-FFF2-40B4-BE49-F238E27FC236}">
                <a16:creationId xmlns:a16="http://schemas.microsoft.com/office/drawing/2014/main" id="{8293AFAC-AAAC-73F2-C0CF-D2BF7AA527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74C361-91E7-23FF-5E0B-67CF9146FCDB}"/>
              </a:ext>
            </a:extLst>
          </p:cNvPr>
          <p:cNvSpPr>
            <a:spLocks noGrp="1"/>
          </p:cNvSpPr>
          <p:nvPr>
            <p:ph type="sldNum" sz="quarter" idx="12"/>
          </p:nvPr>
        </p:nvSpPr>
        <p:spPr/>
        <p:txBody>
          <a:bodyPr/>
          <a:lstStyle/>
          <a:p>
            <a:fld id="{77DC71D6-7182-4756-AAC5-869639665C32}" type="slidenum">
              <a:rPr lang="en-US" smtClean="0"/>
              <a:t>‹#›</a:t>
            </a:fld>
            <a:endParaRPr lang="en-US"/>
          </a:p>
        </p:txBody>
      </p:sp>
    </p:spTree>
    <p:extLst>
      <p:ext uri="{BB962C8B-B14F-4D97-AF65-F5344CB8AC3E}">
        <p14:creationId xmlns:p14="http://schemas.microsoft.com/office/powerpoint/2010/main" val="1220424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9B434-24A1-3ADE-E21E-DC465EF680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8C805F-81AA-64FF-18F0-E4FA9A7B34A7}"/>
              </a:ext>
            </a:extLst>
          </p:cNvPr>
          <p:cNvSpPr>
            <a:spLocks noGrp="1"/>
          </p:cNvSpPr>
          <p:nvPr>
            <p:ph type="dt" sz="half" idx="10"/>
          </p:nvPr>
        </p:nvSpPr>
        <p:spPr/>
        <p:txBody>
          <a:bodyPr/>
          <a:lstStyle/>
          <a:p>
            <a:fld id="{40FFCBE1-702C-49D3-A362-B9DB54C27070}" type="datetimeFigureOut">
              <a:rPr lang="en-US" smtClean="0"/>
              <a:t>10/24/2025</a:t>
            </a:fld>
            <a:endParaRPr lang="en-US"/>
          </a:p>
        </p:txBody>
      </p:sp>
      <p:sp>
        <p:nvSpPr>
          <p:cNvPr id="4" name="Footer Placeholder 3">
            <a:extLst>
              <a:ext uri="{FF2B5EF4-FFF2-40B4-BE49-F238E27FC236}">
                <a16:creationId xmlns:a16="http://schemas.microsoft.com/office/drawing/2014/main" id="{8E5A0D5C-8BF2-B095-E484-AD24FA9C0B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93A5D8-D958-9B24-6C82-A682002477E4}"/>
              </a:ext>
            </a:extLst>
          </p:cNvPr>
          <p:cNvSpPr>
            <a:spLocks noGrp="1"/>
          </p:cNvSpPr>
          <p:nvPr>
            <p:ph type="sldNum" sz="quarter" idx="12"/>
          </p:nvPr>
        </p:nvSpPr>
        <p:spPr/>
        <p:txBody>
          <a:bodyPr/>
          <a:lstStyle/>
          <a:p>
            <a:fld id="{77DC71D6-7182-4756-AAC5-869639665C32}" type="slidenum">
              <a:rPr lang="en-US" smtClean="0"/>
              <a:t>‹#›</a:t>
            </a:fld>
            <a:endParaRPr lang="en-US"/>
          </a:p>
        </p:txBody>
      </p:sp>
    </p:spTree>
    <p:extLst>
      <p:ext uri="{BB962C8B-B14F-4D97-AF65-F5344CB8AC3E}">
        <p14:creationId xmlns:p14="http://schemas.microsoft.com/office/powerpoint/2010/main" val="3630097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969485-C3EB-3DFA-99FF-13D182A80B16}"/>
              </a:ext>
            </a:extLst>
          </p:cNvPr>
          <p:cNvSpPr>
            <a:spLocks noGrp="1"/>
          </p:cNvSpPr>
          <p:nvPr>
            <p:ph type="dt" sz="half" idx="10"/>
          </p:nvPr>
        </p:nvSpPr>
        <p:spPr/>
        <p:txBody>
          <a:bodyPr/>
          <a:lstStyle/>
          <a:p>
            <a:fld id="{40FFCBE1-702C-49D3-A362-B9DB54C27070}" type="datetimeFigureOut">
              <a:rPr lang="en-US" smtClean="0"/>
              <a:t>10/24/2025</a:t>
            </a:fld>
            <a:endParaRPr lang="en-US"/>
          </a:p>
        </p:txBody>
      </p:sp>
      <p:sp>
        <p:nvSpPr>
          <p:cNvPr id="3" name="Footer Placeholder 2">
            <a:extLst>
              <a:ext uri="{FF2B5EF4-FFF2-40B4-BE49-F238E27FC236}">
                <a16:creationId xmlns:a16="http://schemas.microsoft.com/office/drawing/2014/main" id="{3E666765-60EA-9B6D-7B67-48D64F7868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B3BCC7-2086-44CA-C0E9-5DB5972421EB}"/>
              </a:ext>
            </a:extLst>
          </p:cNvPr>
          <p:cNvSpPr>
            <a:spLocks noGrp="1"/>
          </p:cNvSpPr>
          <p:nvPr>
            <p:ph type="sldNum" sz="quarter" idx="12"/>
          </p:nvPr>
        </p:nvSpPr>
        <p:spPr/>
        <p:txBody>
          <a:bodyPr/>
          <a:lstStyle/>
          <a:p>
            <a:fld id="{77DC71D6-7182-4756-AAC5-869639665C32}" type="slidenum">
              <a:rPr lang="en-US" smtClean="0"/>
              <a:t>‹#›</a:t>
            </a:fld>
            <a:endParaRPr lang="en-US"/>
          </a:p>
        </p:txBody>
      </p:sp>
    </p:spTree>
    <p:extLst>
      <p:ext uri="{BB962C8B-B14F-4D97-AF65-F5344CB8AC3E}">
        <p14:creationId xmlns:p14="http://schemas.microsoft.com/office/powerpoint/2010/main" val="1111276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75419-B4EC-308D-191F-F09CE164450F}"/>
              </a:ext>
            </a:extLst>
          </p:cNvPr>
          <p:cNvSpPr>
            <a:spLocks noGrp="1"/>
          </p:cNvSpPr>
          <p:nvPr>
            <p:ph type="title"/>
          </p:nvPr>
        </p:nvSpPr>
        <p:spPr>
          <a:xfrm>
            <a:off x="1260475" y="685800"/>
            <a:ext cx="5897563"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5486D8-25BC-647A-060B-BED117F315E7}"/>
              </a:ext>
            </a:extLst>
          </p:cNvPr>
          <p:cNvSpPr>
            <a:spLocks noGrp="1"/>
          </p:cNvSpPr>
          <p:nvPr>
            <p:ph idx="1"/>
          </p:nvPr>
        </p:nvSpPr>
        <p:spPr>
          <a:xfrm>
            <a:off x="7775575" y="1481138"/>
            <a:ext cx="9258300"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F88614-99C0-B996-90E9-C6CF0025FA35}"/>
              </a:ext>
            </a:extLst>
          </p:cNvPr>
          <p:cNvSpPr>
            <a:spLocks noGrp="1"/>
          </p:cNvSpPr>
          <p:nvPr>
            <p:ph type="body" sz="half" idx="2"/>
          </p:nvPr>
        </p:nvSpPr>
        <p:spPr>
          <a:xfrm>
            <a:off x="1260475" y="3086100"/>
            <a:ext cx="5897563"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D2638F-E360-35CD-41B6-E019AE0C7ACA}"/>
              </a:ext>
            </a:extLst>
          </p:cNvPr>
          <p:cNvSpPr>
            <a:spLocks noGrp="1"/>
          </p:cNvSpPr>
          <p:nvPr>
            <p:ph type="dt" sz="half" idx="10"/>
          </p:nvPr>
        </p:nvSpPr>
        <p:spPr/>
        <p:txBody>
          <a:bodyPr/>
          <a:lstStyle/>
          <a:p>
            <a:fld id="{40FFCBE1-702C-49D3-A362-B9DB54C27070}" type="datetimeFigureOut">
              <a:rPr lang="en-US" smtClean="0"/>
              <a:t>10/24/2025</a:t>
            </a:fld>
            <a:endParaRPr lang="en-US"/>
          </a:p>
        </p:txBody>
      </p:sp>
      <p:sp>
        <p:nvSpPr>
          <p:cNvPr id="6" name="Footer Placeholder 5">
            <a:extLst>
              <a:ext uri="{FF2B5EF4-FFF2-40B4-BE49-F238E27FC236}">
                <a16:creationId xmlns:a16="http://schemas.microsoft.com/office/drawing/2014/main" id="{ABE1CB03-8DD7-170E-C0B3-CFAB09B671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2ABF8B-2914-5DF1-B8B1-BE46B16438D8}"/>
              </a:ext>
            </a:extLst>
          </p:cNvPr>
          <p:cNvSpPr>
            <a:spLocks noGrp="1"/>
          </p:cNvSpPr>
          <p:nvPr>
            <p:ph type="sldNum" sz="quarter" idx="12"/>
          </p:nvPr>
        </p:nvSpPr>
        <p:spPr/>
        <p:txBody>
          <a:bodyPr/>
          <a:lstStyle/>
          <a:p>
            <a:fld id="{77DC71D6-7182-4756-AAC5-869639665C32}" type="slidenum">
              <a:rPr lang="en-US" smtClean="0"/>
              <a:t>‹#›</a:t>
            </a:fld>
            <a:endParaRPr lang="en-US"/>
          </a:p>
        </p:txBody>
      </p:sp>
    </p:spTree>
    <p:extLst>
      <p:ext uri="{BB962C8B-B14F-4D97-AF65-F5344CB8AC3E}">
        <p14:creationId xmlns:p14="http://schemas.microsoft.com/office/powerpoint/2010/main" val="3274661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CF262-F452-A814-44FD-58BCA776B531}"/>
              </a:ext>
            </a:extLst>
          </p:cNvPr>
          <p:cNvSpPr>
            <a:spLocks noGrp="1"/>
          </p:cNvSpPr>
          <p:nvPr>
            <p:ph type="title"/>
          </p:nvPr>
        </p:nvSpPr>
        <p:spPr>
          <a:xfrm>
            <a:off x="1260475" y="685800"/>
            <a:ext cx="5897563"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FDA726-013B-3108-2E96-8BB3A179F910}"/>
              </a:ext>
            </a:extLst>
          </p:cNvPr>
          <p:cNvSpPr>
            <a:spLocks noGrp="1"/>
          </p:cNvSpPr>
          <p:nvPr>
            <p:ph type="pic" idx="1"/>
          </p:nvPr>
        </p:nvSpPr>
        <p:spPr>
          <a:xfrm>
            <a:off x="7775575" y="1481138"/>
            <a:ext cx="9258300"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CD2021-F226-1069-2693-6BF916422F50}"/>
              </a:ext>
            </a:extLst>
          </p:cNvPr>
          <p:cNvSpPr>
            <a:spLocks noGrp="1"/>
          </p:cNvSpPr>
          <p:nvPr>
            <p:ph type="body" sz="half" idx="2"/>
          </p:nvPr>
        </p:nvSpPr>
        <p:spPr>
          <a:xfrm>
            <a:off x="1260475" y="3086100"/>
            <a:ext cx="5897563"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E738E-B53A-07D0-FE1D-9D67819719E5}"/>
              </a:ext>
            </a:extLst>
          </p:cNvPr>
          <p:cNvSpPr>
            <a:spLocks noGrp="1"/>
          </p:cNvSpPr>
          <p:nvPr>
            <p:ph type="dt" sz="half" idx="10"/>
          </p:nvPr>
        </p:nvSpPr>
        <p:spPr/>
        <p:txBody>
          <a:bodyPr/>
          <a:lstStyle/>
          <a:p>
            <a:fld id="{40FFCBE1-702C-49D3-A362-B9DB54C27070}" type="datetimeFigureOut">
              <a:rPr lang="en-US" smtClean="0"/>
              <a:t>10/24/2025</a:t>
            </a:fld>
            <a:endParaRPr lang="en-US"/>
          </a:p>
        </p:txBody>
      </p:sp>
      <p:sp>
        <p:nvSpPr>
          <p:cNvPr id="6" name="Footer Placeholder 5">
            <a:extLst>
              <a:ext uri="{FF2B5EF4-FFF2-40B4-BE49-F238E27FC236}">
                <a16:creationId xmlns:a16="http://schemas.microsoft.com/office/drawing/2014/main" id="{DB70DC59-3081-0D0C-53F9-CB7B48C0B6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686DF0-B242-306B-0B86-4FD047698930}"/>
              </a:ext>
            </a:extLst>
          </p:cNvPr>
          <p:cNvSpPr>
            <a:spLocks noGrp="1"/>
          </p:cNvSpPr>
          <p:nvPr>
            <p:ph type="sldNum" sz="quarter" idx="12"/>
          </p:nvPr>
        </p:nvSpPr>
        <p:spPr/>
        <p:txBody>
          <a:bodyPr/>
          <a:lstStyle/>
          <a:p>
            <a:fld id="{77DC71D6-7182-4756-AAC5-869639665C32}" type="slidenum">
              <a:rPr lang="en-US" smtClean="0"/>
              <a:t>‹#›</a:t>
            </a:fld>
            <a:endParaRPr lang="en-US"/>
          </a:p>
        </p:txBody>
      </p:sp>
    </p:spTree>
    <p:extLst>
      <p:ext uri="{BB962C8B-B14F-4D97-AF65-F5344CB8AC3E}">
        <p14:creationId xmlns:p14="http://schemas.microsoft.com/office/powerpoint/2010/main" val="1579958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4D081-31E2-C32D-F6FE-D623539C95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32ED5E-F844-276C-8196-9F9F7A14A8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6D7F8-BFCD-59FF-2AEB-5E31BDEE1604}"/>
              </a:ext>
            </a:extLst>
          </p:cNvPr>
          <p:cNvSpPr>
            <a:spLocks noGrp="1"/>
          </p:cNvSpPr>
          <p:nvPr>
            <p:ph type="dt" sz="half" idx="10"/>
          </p:nvPr>
        </p:nvSpPr>
        <p:spPr/>
        <p:txBody>
          <a:bodyPr/>
          <a:lstStyle/>
          <a:p>
            <a:fld id="{40FFCBE1-702C-49D3-A362-B9DB54C27070}" type="datetimeFigureOut">
              <a:rPr lang="en-US" smtClean="0"/>
              <a:t>10/24/2025</a:t>
            </a:fld>
            <a:endParaRPr lang="en-US"/>
          </a:p>
        </p:txBody>
      </p:sp>
      <p:sp>
        <p:nvSpPr>
          <p:cNvPr id="5" name="Footer Placeholder 4">
            <a:extLst>
              <a:ext uri="{FF2B5EF4-FFF2-40B4-BE49-F238E27FC236}">
                <a16:creationId xmlns:a16="http://schemas.microsoft.com/office/drawing/2014/main" id="{1A74EF79-47A4-0FC9-E99C-82732CF2A5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C39DCB-68BA-31AD-D7F3-C6C4FFEC09C9}"/>
              </a:ext>
            </a:extLst>
          </p:cNvPr>
          <p:cNvSpPr>
            <a:spLocks noGrp="1"/>
          </p:cNvSpPr>
          <p:nvPr>
            <p:ph type="sldNum" sz="quarter" idx="12"/>
          </p:nvPr>
        </p:nvSpPr>
        <p:spPr/>
        <p:txBody>
          <a:bodyPr/>
          <a:lstStyle/>
          <a:p>
            <a:fld id="{77DC71D6-7182-4756-AAC5-869639665C32}" type="slidenum">
              <a:rPr lang="en-US" smtClean="0"/>
              <a:t>‹#›</a:t>
            </a:fld>
            <a:endParaRPr lang="en-US"/>
          </a:p>
        </p:txBody>
      </p:sp>
    </p:spTree>
    <p:extLst>
      <p:ext uri="{BB962C8B-B14F-4D97-AF65-F5344CB8AC3E}">
        <p14:creationId xmlns:p14="http://schemas.microsoft.com/office/powerpoint/2010/main" val="3488607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CD6A69-E7A0-2E7D-4FD1-3ED801FB7B5E}"/>
              </a:ext>
            </a:extLst>
          </p:cNvPr>
          <p:cNvSpPr>
            <a:spLocks noGrp="1"/>
          </p:cNvSpPr>
          <p:nvPr>
            <p:ph type="title" orient="vert"/>
          </p:nvPr>
        </p:nvSpPr>
        <p:spPr>
          <a:xfrm>
            <a:off x="13087350" y="547688"/>
            <a:ext cx="3943350" cy="871855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557F6A-299A-E09E-D147-D807992FD199}"/>
              </a:ext>
            </a:extLst>
          </p:cNvPr>
          <p:cNvSpPr>
            <a:spLocks noGrp="1"/>
          </p:cNvSpPr>
          <p:nvPr>
            <p:ph type="body" orient="vert" idx="1"/>
          </p:nvPr>
        </p:nvSpPr>
        <p:spPr>
          <a:xfrm>
            <a:off x="1257300" y="547688"/>
            <a:ext cx="11677650" cy="8718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B25E0B-29AF-DD2C-2577-20E9FE12D5D0}"/>
              </a:ext>
            </a:extLst>
          </p:cNvPr>
          <p:cNvSpPr>
            <a:spLocks noGrp="1"/>
          </p:cNvSpPr>
          <p:nvPr>
            <p:ph type="dt" sz="half" idx="10"/>
          </p:nvPr>
        </p:nvSpPr>
        <p:spPr/>
        <p:txBody>
          <a:bodyPr/>
          <a:lstStyle/>
          <a:p>
            <a:fld id="{40FFCBE1-702C-49D3-A362-B9DB54C27070}" type="datetimeFigureOut">
              <a:rPr lang="en-US" smtClean="0"/>
              <a:t>10/24/2025</a:t>
            </a:fld>
            <a:endParaRPr lang="en-US"/>
          </a:p>
        </p:txBody>
      </p:sp>
      <p:sp>
        <p:nvSpPr>
          <p:cNvPr id="5" name="Footer Placeholder 4">
            <a:extLst>
              <a:ext uri="{FF2B5EF4-FFF2-40B4-BE49-F238E27FC236}">
                <a16:creationId xmlns:a16="http://schemas.microsoft.com/office/drawing/2014/main" id="{3FA94A5F-3290-468D-5928-F2CB7EC9BA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C7D033-80ED-3395-9B49-1CA8BFB36D15}"/>
              </a:ext>
            </a:extLst>
          </p:cNvPr>
          <p:cNvSpPr>
            <a:spLocks noGrp="1"/>
          </p:cNvSpPr>
          <p:nvPr>
            <p:ph type="sldNum" sz="quarter" idx="12"/>
          </p:nvPr>
        </p:nvSpPr>
        <p:spPr/>
        <p:txBody>
          <a:bodyPr/>
          <a:lstStyle/>
          <a:p>
            <a:fld id="{77DC71D6-7182-4756-AAC5-869639665C32}" type="slidenum">
              <a:rPr lang="en-US" smtClean="0"/>
              <a:t>‹#›</a:t>
            </a:fld>
            <a:endParaRPr lang="en-US"/>
          </a:p>
        </p:txBody>
      </p:sp>
    </p:spTree>
    <p:extLst>
      <p:ext uri="{BB962C8B-B14F-4D97-AF65-F5344CB8AC3E}">
        <p14:creationId xmlns:p14="http://schemas.microsoft.com/office/powerpoint/2010/main" val="1789451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14C673-E3AF-2F2A-E5D6-63A34855784A}"/>
              </a:ext>
            </a:extLst>
          </p:cNvPr>
          <p:cNvSpPr>
            <a:spLocks noGrp="1"/>
          </p:cNvSpPr>
          <p:nvPr>
            <p:ph type="title"/>
          </p:nvPr>
        </p:nvSpPr>
        <p:spPr>
          <a:xfrm>
            <a:off x="1257300" y="547688"/>
            <a:ext cx="15773400" cy="198913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0D862D-E049-B211-EB22-50992E5EB4C5}"/>
              </a:ext>
            </a:extLst>
          </p:cNvPr>
          <p:cNvSpPr>
            <a:spLocks noGrp="1"/>
          </p:cNvSpPr>
          <p:nvPr>
            <p:ph type="body" idx="1"/>
          </p:nvPr>
        </p:nvSpPr>
        <p:spPr>
          <a:xfrm>
            <a:off x="1257300" y="2738438"/>
            <a:ext cx="15773400" cy="6527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399BF4-288D-D005-CA78-7C4532E88345}"/>
              </a:ext>
            </a:extLst>
          </p:cNvPr>
          <p:cNvSpPr>
            <a:spLocks noGrp="1"/>
          </p:cNvSpPr>
          <p:nvPr>
            <p:ph type="dt" sz="half" idx="2"/>
          </p:nvPr>
        </p:nvSpPr>
        <p:spPr>
          <a:xfrm>
            <a:off x="1257300" y="9534525"/>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40FFCBE1-702C-49D3-A362-B9DB54C27070}" type="datetimeFigureOut">
              <a:rPr lang="en-US" smtClean="0"/>
              <a:t>10/24/2025</a:t>
            </a:fld>
            <a:endParaRPr lang="en-US"/>
          </a:p>
        </p:txBody>
      </p:sp>
      <p:sp>
        <p:nvSpPr>
          <p:cNvPr id="5" name="Footer Placeholder 4">
            <a:extLst>
              <a:ext uri="{FF2B5EF4-FFF2-40B4-BE49-F238E27FC236}">
                <a16:creationId xmlns:a16="http://schemas.microsoft.com/office/drawing/2014/main" id="{A257D27D-53AA-2307-DDB1-B15CAB3DA646}"/>
              </a:ext>
            </a:extLst>
          </p:cNvPr>
          <p:cNvSpPr>
            <a:spLocks noGrp="1"/>
          </p:cNvSpPr>
          <p:nvPr>
            <p:ph type="ftr" sz="quarter" idx="3"/>
          </p:nvPr>
        </p:nvSpPr>
        <p:spPr>
          <a:xfrm>
            <a:off x="6057900" y="9534525"/>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43C74C24-5F5F-1582-5848-7DACB8B8D22E}"/>
              </a:ext>
            </a:extLst>
          </p:cNvPr>
          <p:cNvSpPr>
            <a:spLocks noGrp="1"/>
          </p:cNvSpPr>
          <p:nvPr>
            <p:ph type="sldNum" sz="quarter" idx="4"/>
          </p:nvPr>
        </p:nvSpPr>
        <p:spPr>
          <a:xfrm>
            <a:off x="12915900" y="9534525"/>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r>
              <a:rPr lang="en-US" dirty="0"/>
              <a:t>1</a:t>
            </a:r>
          </a:p>
        </p:txBody>
      </p:sp>
    </p:spTree>
    <p:extLst>
      <p:ext uri="{BB962C8B-B14F-4D97-AF65-F5344CB8AC3E}">
        <p14:creationId xmlns:p14="http://schemas.microsoft.com/office/powerpoint/2010/main" val="32115656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microsoft.com/office/2007/relationships/hdphoto" Target="../media/hdphoto1.wdp"/><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0.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1.gif"/><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microsoft.com/office/2007/relationships/hdphoto" Target="../media/hdphoto1.wdp"/><Relationship Id="rId9" Type="http://schemas.openxmlformats.org/officeDocument/2006/relationships/image" Target="../media/image16.png"/></Relationships>
</file>

<file path=ppt/slides/_rels/slide22.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png"/><Relationship Id="rId3" Type="http://schemas.openxmlformats.org/officeDocument/2006/relationships/image" Target="../media/image3.png"/><Relationship Id="rId7" Type="http://schemas.openxmlformats.org/officeDocument/2006/relationships/image" Target="../media/image23.png"/><Relationship Id="rId12" Type="http://schemas.openxmlformats.org/officeDocument/2006/relationships/image" Target="../media/image28.svg"/><Relationship Id="rId17" Type="http://schemas.openxmlformats.org/officeDocument/2006/relationships/image" Target="../media/image32.svg"/><Relationship Id="rId2" Type="http://schemas.openxmlformats.org/officeDocument/2006/relationships/notesSlide" Target="../notesSlides/notesSlide19.xml"/><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20.png"/><Relationship Id="rId10" Type="http://schemas.openxmlformats.org/officeDocument/2006/relationships/image" Target="../media/image26.svg"/><Relationship Id="rId4" Type="http://schemas.microsoft.com/office/2007/relationships/hdphoto" Target="../media/hdphoto1.wdp"/><Relationship Id="rId9" Type="http://schemas.openxmlformats.org/officeDocument/2006/relationships/image" Target="../media/image25.png"/><Relationship Id="rId14" Type="http://schemas.openxmlformats.org/officeDocument/2006/relationships/image" Target="../media/image30.sv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33.jpg"/><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34.png"/><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35.jpg"/><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microsoft.com/office/2007/relationships/hdphoto" Target="../media/hdphoto1.wdp"/><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svg"/></Relationships>
</file>

<file path=ppt/slides/_rels/slide3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microsoft.com/office/2007/relationships/hdphoto" Target="../media/hdphoto1.wdp"/><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sv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6.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0.jpeg"/><Relationship Id="rId4" Type="http://schemas.openxmlformats.org/officeDocument/2006/relationships/image" Target="../media/image39.jpeg"/></Relationships>
</file>

<file path=ppt/slides/_rels/slide41.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s/_rels/slide4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svg"/><Relationship Id="rId7" Type="http://schemas.openxmlformats.org/officeDocument/2006/relationships/image" Target="../media/image51.sv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svg"/><Relationship Id="rId4" Type="http://schemas.openxmlformats.org/officeDocument/2006/relationships/image" Target="../media/image48.png"/><Relationship Id="rId9" Type="http://schemas.openxmlformats.org/officeDocument/2006/relationships/image" Target="../media/image53.svg"/></Relationships>
</file>

<file path=ppt/slides/_rels/slide43.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7.svg"/><Relationship Id="rId3" Type="http://schemas.openxmlformats.org/officeDocument/2006/relationships/image" Target="../media/image55.svg"/><Relationship Id="rId7" Type="http://schemas.openxmlformats.org/officeDocument/2006/relationships/image" Target="../media/image59.svg"/><Relationship Id="rId12" Type="http://schemas.openxmlformats.org/officeDocument/2006/relationships/image" Target="../media/image6.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7.sv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svg"/></Relationships>
</file>

<file path=ppt/slides/_rels/slide4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71.svg"/><Relationship Id="rId5" Type="http://schemas.openxmlformats.org/officeDocument/2006/relationships/image" Target="../media/image70.png"/><Relationship Id="rId10" Type="http://schemas.openxmlformats.org/officeDocument/2006/relationships/image" Target="../media/image75.svg"/><Relationship Id="rId4" Type="http://schemas.openxmlformats.org/officeDocument/2006/relationships/image" Target="../media/image69.svg"/><Relationship Id="rId9" Type="http://schemas.openxmlformats.org/officeDocument/2006/relationships/image" Target="../media/image74.png"/></Relationships>
</file>

<file path=ppt/slides/_rels/slide4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43.jpeg"/><Relationship Id="rId7" Type="http://schemas.openxmlformats.org/officeDocument/2006/relationships/image" Target="../media/image7.svg"/><Relationship Id="rId2" Type="http://schemas.openxmlformats.org/officeDocument/2006/relationships/image" Target="../media/image76.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06F53F17-4DDD-087C-DC48-7068A973D9D1}"/>
            </a:ext>
          </a:extLst>
        </p:cNvPr>
        <p:cNvGrpSpPr/>
        <p:nvPr/>
      </p:nvGrpSpPr>
      <p:grpSpPr>
        <a:xfrm>
          <a:off x="0" y="0"/>
          <a:ext cx="0" cy="0"/>
          <a:chOff x="0" y="0"/>
          <a:chExt cx="0" cy="0"/>
        </a:xfrm>
      </p:grpSpPr>
      <p:sp>
        <p:nvSpPr>
          <p:cNvPr id="36" name="Freeform 10">
            <a:extLst>
              <a:ext uri="{FF2B5EF4-FFF2-40B4-BE49-F238E27FC236}">
                <a16:creationId xmlns:a16="http://schemas.microsoft.com/office/drawing/2014/main" id="{69C6B4F0-3D0E-F8BE-26B0-56F6544B2040}"/>
              </a:ext>
            </a:extLst>
          </p:cNvPr>
          <p:cNvSpPr/>
          <p:nvPr/>
        </p:nvSpPr>
        <p:spPr>
          <a:xfrm rot="8289110">
            <a:off x="10269032" y="4271870"/>
            <a:ext cx="12716270" cy="6635581"/>
          </a:xfrm>
          <a:custGeom>
            <a:avLst/>
            <a:gdLst/>
            <a:ahLst/>
            <a:cxnLst/>
            <a:rect l="l" t="t" r="r" b="b"/>
            <a:pathLst>
              <a:path w="12716270" h="6635581">
                <a:moveTo>
                  <a:pt x="0" y="0"/>
                </a:moveTo>
                <a:lnTo>
                  <a:pt x="12716270" y="0"/>
                </a:lnTo>
                <a:lnTo>
                  <a:pt x="12716270" y="6635581"/>
                </a:lnTo>
                <a:lnTo>
                  <a:pt x="0" y="6635581"/>
                </a:lnTo>
                <a:lnTo>
                  <a:pt x="0" y="0"/>
                </a:lnTo>
                <a:close/>
              </a:path>
            </a:pathLst>
          </a:custGeom>
          <a:blipFill>
            <a:blip r:embed="rId2">
              <a:alphaModFix amt="87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38" name="Freeform 9">
            <a:extLst>
              <a:ext uri="{FF2B5EF4-FFF2-40B4-BE49-F238E27FC236}">
                <a16:creationId xmlns:a16="http://schemas.microsoft.com/office/drawing/2014/main" id="{31E0E968-7BB6-0343-6DCF-7BFCC11D39BB}"/>
              </a:ext>
            </a:extLst>
          </p:cNvPr>
          <p:cNvSpPr/>
          <p:nvPr/>
        </p:nvSpPr>
        <p:spPr>
          <a:xfrm rot="6306459" flipH="1" flipV="1">
            <a:off x="12251202" y="3280798"/>
            <a:ext cx="12716270" cy="6635581"/>
          </a:xfrm>
          <a:custGeom>
            <a:avLst/>
            <a:gdLst/>
            <a:ahLst/>
            <a:cxnLst/>
            <a:rect l="l" t="t" r="r" b="b"/>
            <a:pathLst>
              <a:path w="12716270" h="6635581">
                <a:moveTo>
                  <a:pt x="12716270" y="6635581"/>
                </a:moveTo>
                <a:lnTo>
                  <a:pt x="0" y="6635581"/>
                </a:lnTo>
                <a:lnTo>
                  <a:pt x="0" y="0"/>
                </a:lnTo>
                <a:lnTo>
                  <a:pt x="12716270" y="0"/>
                </a:lnTo>
                <a:lnTo>
                  <a:pt x="12716270" y="6635581"/>
                </a:lnTo>
                <a:close/>
              </a:path>
            </a:pathLst>
          </a:custGeom>
          <a:blipFill>
            <a:blip r:embed="rId2">
              <a:alphaModFix amt="87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35" name="Picture 34" descr="A blue logo with a black background&#10;&#10;AI-generated content may be incorrect.">
            <a:extLst>
              <a:ext uri="{FF2B5EF4-FFF2-40B4-BE49-F238E27FC236}">
                <a16:creationId xmlns:a16="http://schemas.microsoft.com/office/drawing/2014/main" id="{C4DA7DA1-8C8B-4E37-2BE3-A87464EA73A1}"/>
              </a:ext>
            </a:extLst>
          </p:cNvPr>
          <p:cNvPicPr>
            <a:picLocks noChangeAspect="1"/>
          </p:cNvPicPr>
          <p:nvPr/>
        </p:nvPicPr>
        <p:blipFill>
          <a:blip r:embed="rId4" cstate="print">
            <a:alphaModFix amt="5000"/>
            <a:extLst>
              <a:ext uri="{BEBA8EAE-BF5A-486C-A8C5-ECC9F3942E4B}">
                <a14:imgProps xmlns:a14="http://schemas.microsoft.com/office/drawing/2010/main">
                  <a14:imgLayer r:embed="rId5">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grpSp>
        <p:nvGrpSpPr>
          <p:cNvPr id="4" name="Group 4">
            <a:extLst>
              <a:ext uri="{FF2B5EF4-FFF2-40B4-BE49-F238E27FC236}">
                <a16:creationId xmlns:a16="http://schemas.microsoft.com/office/drawing/2014/main" id="{50486116-AB58-8B93-BEB3-0A47C8CB8A4B}"/>
              </a:ext>
            </a:extLst>
          </p:cNvPr>
          <p:cNvGrpSpPr/>
          <p:nvPr/>
        </p:nvGrpSpPr>
        <p:grpSpPr>
          <a:xfrm>
            <a:off x="19364553" y="7212126"/>
            <a:ext cx="7009358" cy="1398154"/>
            <a:chOff x="0" y="0"/>
            <a:chExt cx="9345810" cy="1864205"/>
          </a:xfrm>
        </p:grpSpPr>
        <p:grpSp>
          <p:nvGrpSpPr>
            <p:cNvPr id="5" name="Group 5">
              <a:extLst>
                <a:ext uri="{FF2B5EF4-FFF2-40B4-BE49-F238E27FC236}">
                  <a16:creationId xmlns:a16="http://schemas.microsoft.com/office/drawing/2014/main" id="{2C715D64-1074-BE2B-308D-CBD6AE4EFCF1}"/>
                </a:ext>
              </a:extLst>
            </p:cNvPr>
            <p:cNvGrpSpPr/>
            <p:nvPr/>
          </p:nvGrpSpPr>
          <p:grpSpPr>
            <a:xfrm>
              <a:off x="0" y="0"/>
              <a:ext cx="9345810" cy="1546271"/>
              <a:chOff x="0" y="0"/>
              <a:chExt cx="1250766" cy="206940"/>
            </a:xfrm>
          </p:grpSpPr>
          <p:sp>
            <p:nvSpPr>
              <p:cNvPr id="6" name="Freeform 6">
                <a:extLst>
                  <a:ext uri="{FF2B5EF4-FFF2-40B4-BE49-F238E27FC236}">
                    <a16:creationId xmlns:a16="http://schemas.microsoft.com/office/drawing/2014/main" id="{20FE95B6-73EE-DDA9-D8D8-835F8F1E8CFD}"/>
                  </a:ext>
                </a:extLst>
              </p:cNvPr>
              <p:cNvSpPr/>
              <p:nvPr/>
            </p:nvSpPr>
            <p:spPr>
              <a:xfrm>
                <a:off x="18844" y="0"/>
                <a:ext cx="1213078" cy="206940"/>
              </a:xfrm>
              <a:custGeom>
                <a:avLst/>
                <a:gdLst/>
                <a:ahLst/>
                <a:cxnLst/>
                <a:rect l="l" t="t" r="r" b="b"/>
                <a:pathLst>
                  <a:path w="1213078" h="206940">
                    <a:moveTo>
                      <a:pt x="218760" y="0"/>
                    </a:moveTo>
                    <a:lnTo>
                      <a:pt x="1197518" y="0"/>
                    </a:lnTo>
                    <a:cubicBezTo>
                      <a:pt x="1203332" y="0"/>
                      <a:pt x="1208579" y="3488"/>
                      <a:pt x="1210829" y="8850"/>
                    </a:cubicBezTo>
                    <a:cubicBezTo>
                      <a:pt x="1213078" y="14212"/>
                      <a:pt x="1211891" y="20399"/>
                      <a:pt x="1207817" y="24548"/>
                    </a:cubicBezTo>
                    <a:lnTo>
                      <a:pt x="1052827" y="182392"/>
                    </a:lnTo>
                    <a:cubicBezTo>
                      <a:pt x="1037408" y="198094"/>
                      <a:pt x="1016325" y="206940"/>
                      <a:pt x="994318" y="206940"/>
                    </a:cubicBezTo>
                    <a:lnTo>
                      <a:pt x="15560" y="206940"/>
                    </a:lnTo>
                    <a:cubicBezTo>
                      <a:pt x="9746" y="206940"/>
                      <a:pt x="4499" y="203452"/>
                      <a:pt x="2249" y="198090"/>
                    </a:cubicBezTo>
                    <a:cubicBezTo>
                      <a:pt x="0" y="192728"/>
                      <a:pt x="1187" y="186541"/>
                      <a:pt x="5261" y="182392"/>
                    </a:cubicBezTo>
                    <a:lnTo>
                      <a:pt x="160251" y="24548"/>
                    </a:lnTo>
                    <a:cubicBezTo>
                      <a:pt x="175670" y="8846"/>
                      <a:pt x="196753" y="0"/>
                      <a:pt x="218760" y="0"/>
                    </a:cubicBezTo>
                    <a:close/>
                  </a:path>
                </a:pathLst>
              </a:custGeom>
              <a:solidFill>
                <a:srgbClr val="3275C5"/>
              </a:solidFill>
            </p:spPr>
            <p:txBody>
              <a:bodyPr/>
              <a:lstStyle/>
              <a:p>
                <a:endParaRPr lang="en-US"/>
              </a:p>
            </p:txBody>
          </p:sp>
          <p:sp>
            <p:nvSpPr>
              <p:cNvPr id="7" name="TextBox 7">
                <a:extLst>
                  <a:ext uri="{FF2B5EF4-FFF2-40B4-BE49-F238E27FC236}">
                    <a16:creationId xmlns:a16="http://schemas.microsoft.com/office/drawing/2014/main" id="{EA3CD6E1-18C6-14FA-323A-B6EEE52EE315}"/>
                  </a:ext>
                </a:extLst>
              </p:cNvPr>
              <p:cNvSpPr txBox="1"/>
              <p:nvPr/>
            </p:nvSpPr>
            <p:spPr>
              <a:xfrm>
                <a:off x="101600" y="19050"/>
                <a:ext cx="1047566" cy="187890"/>
              </a:xfrm>
              <a:prstGeom prst="rect">
                <a:avLst/>
              </a:prstGeom>
            </p:spPr>
            <p:txBody>
              <a:bodyPr lIns="50800" tIns="50800" rIns="50800" bIns="50800" rtlCol="0" anchor="ctr"/>
              <a:lstStyle/>
              <a:p>
                <a:pPr algn="ctr">
                  <a:lnSpc>
                    <a:spcPts val="1993"/>
                  </a:lnSpc>
                </a:pPr>
                <a:endParaRPr/>
              </a:p>
            </p:txBody>
          </p:sp>
        </p:grpSp>
        <p:grpSp>
          <p:nvGrpSpPr>
            <p:cNvPr id="8" name="Group 8">
              <a:extLst>
                <a:ext uri="{FF2B5EF4-FFF2-40B4-BE49-F238E27FC236}">
                  <a16:creationId xmlns:a16="http://schemas.microsoft.com/office/drawing/2014/main" id="{16B693D3-F98B-E73E-CAFF-43D8FB44D511}"/>
                </a:ext>
              </a:extLst>
            </p:cNvPr>
            <p:cNvGrpSpPr/>
            <p:nvPr/>
          </p:nvGrpSpPr>
          <p:grpSpPr>
            <a:xfrm>
              <a:off x="4451974" y="1170495"/>
              <a:ext cx="4192850" cy="693710"/>
              <a:chOff x="0" y="0"/>
              <a:chExt cx="1250766" cy="206940"/>
            </a:xfrm>
          </p:grpSpPr>
          <p:sp>
            <p:nvSpPr>
              <p:cNvPr id="9" name="Freeform 9">
                <a:extLst>
                  <a:ext uri="{FF2B5EF4-FFF2-40B4-BE49-F238E27FC236}">
                    <a16:creationId xmlns:a16="http://schemas.microsoft.com/office/drawing/2014/main" id="{C0E96002-8FCF-CED7-22BE-B27C28A67958}"/>
                  </a:ext>
                </a:extLst>
              </p:cNvPr>
              <p:cNvSpPr/>
              <p:nvPr/>
            </p:nvSpPr>
            <p:spPr>
              <a:xfrm>
                <a:off x="22107" y="0"/>
                <a:ext cx="1206553" cy="206940"/>
              </a:xfrm>
              <a:custGeom>
                <a:avLst/>
                <a:gdLst/>
                <a:ahLst/>
                <a:cxnLst/>
                <a:rect l="l" t="t" r="r" b="b"/>
                <a:pathLst>
                  <a:path w="1206553" h="206940">
                    <a:moveTo>
                      <a:pt x="221454" y="0"/>
                    </a:moveTo>
                    <a:lnTo>
                      <a:pt x="1188298" y="0"/>
                    </a:lnTo>
                    <a:cubicBezTo>
                      <a:pt x="1195119" y="0"/>
                      <a:pt x="1201274" y="4093"/>
                      <a:pt x="1203913" y="10382"/>
                    </a:cubicBezTo>
                    <a:cubicBezTo>
                      <a:pt x="1206552" y="16672"/>
                      <a:pt x="1205160" y="23932"/>
                      <a:pt x="1200381" y="28799"/>
                    </a:cubicBezTo>
                    <a:lnTo>
                      <a:pt x="1053737" y="178141"/>
                    </a:lnTo>
                    <a:cubicBezTo>
                      <a:pt x="1035649" y="196563"/>
                      <a:pt x="1010915" y="206940"/>
                      <a:pt x="985098" y="206940"/>
                    </a:cubicBezTo>
                    <a:lnTo>
                      <a:pt x="18254" y="206940"/>
                    </a:lnTo>
                    <a:cubicBezTo>
                      <a:pt x="11433" y="206940"/>
                      <a:pt x="5278" y="202848"/>
                      <a:pt x="2639" y="196558"/>
                    </a:cubicBezTo>
                    <a:cubicBezTo>
                      <a:pt x="0" y="190268"/>
                      <a:pt x="1392" y="183008"/>
                      <a:pt x="6171" y="178141"/>
                    </a:cubicBezTo>
                    <a:lnTo>
                      <a:pt x="152815" y="28799"/>
                    </a:lnTo>
                    <a:cubicBezTo>
                      <a:pt x="170903" y="10377"/>
                      <a:pt x="195637" y="0"/>
                      <a:pt x="221454" y="0"/>
                    </a:cubicBezTo>
                    <a:close/>
                  </a:path>
                </a:pathLst>
              </a:custGeom>
              <a:solidFill>
                <a:srgbClr val="64CAF4"/>
              </a:solidFill>
            </p:spPr>
            <p:txBody>
              <a:bodyPr/>
              <a:lstStyle/>
              <a:p>
                <a:endParaRPr lang="en-US"/>
              </a:p>
            </p:txBody>
          </p:sp>
          <p:sp>
            <p:nvSpPr>
              <p:cNvPr id="10" name="TextBox 10">
                <a:extLst>
                  <a:ext uri="{FF2B5EF4-FFF2-40B4-BE49-F238E27FC236}">
                    <a16:creationId xmlns:a16="http://schemas.microsoft.com/office/drawing/2014/main" id="{AB237D9B-107E-9DE9-AD85-F153FDFC9D63}"/>
                  </a:ext>
                </a:extLst>
              </p:cNvPr>
              <p:cNvSpPr txBox="1"/>
              <p:nvPr/>
            </p:nvSpPr>
            <p:spPr>
              <a:xfrm>
                <a:off x="101600" y="19050"/>
                <a:ext cx="1047566" cy="187890"/>
              </a:xfrm>
              <a:prstGeom prst="rect">
                <a:avLst/>
              </a:prstGeom>
            </p:spPr>
            <p:txBody>
              <a:bodyPr lIns="50800" tIns="50800" rIns="50800" bIns="50800" rtlCol="0" anchor="ctr"/>
              <a:lstStyle/>
              <a:p>
                <a:pPr algn="ctr">
                  <a:lnSpc>
                    <a:spcPts val="1993"/>
                  </a:lnSpc>
                </a:pPr>
                <a:endParaRPr/>
              </a:p>
            </p:txBody>
          </p:sp>
        </p:grpSp>
      </p:grpSp>
      <p:sp>
        <p:nvSpPr>
          <p:cNvPr id="16" name="Freeform 16">
            <a:extLst>
              <a:ext uri="{FF2B5EF4-FFF2-40B4-BE49-F238E27FC236}">
                <a16:creationId xmlns:a16="http://schemas.microsoft.com/office/drawing/2014/main" id="{1F0AED8F-0AC6-7EA8-0417-FC25486239F3}"/>
              </a:ext>
            </a:extLst>
          </p:cNvPr>
          <p:cNvSpPr/>
          <p:nvPr/>
        </p:nvSpPr>
        <p:spPr>
          <a:xfrm>
            <a:off x="19334073" y="2347222"/>
            <a:ext cx="523227" cy="523227"/>
          </a:xfrm>
          <a:custGeom>
            <a:avLst/>
            <a:gdLst/>
            <a:ahLst/>
            <a:cxnLst/>
            <a:rect l="l" t="t" r="r" b="b"/>
            <a:pathLst>
              <a:path w="523227" h="523227">
                <a:moveTo>
                  <a:pt x="0" y="0"/>
                </a:moveTo>
                <a:lnTo>
                  <a:pt x="523227" y="0"/>
                </a:lnTo>
                <a:lnTo>
                  <a:pt x="523227" y="523227"/>
                </a:lnTo>
                <a:lnTo>
                  <a:pt x="0" y="5232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TextBox 17">
            <a:extLst>
              <a:ext uri="{FF2B5EF4-FFF2-40B4-BE49-F238E27FC236}">
                <a16:creationId xmlns:a16="http://schemas.microsoft.com/office/drawing/2014/main" id="{3FEA541D-101D-C355-9C26-D9E1E1636DCC}"/>
              </a:ext>
            </a:extLst>
          </p:cNvPr>
          <p:cNvSpPr txBox="1"/>
          <p:nvPr/>
        </p:nvSpPr>
        <p:spPr>
          <a:xfrm>
            <a:off x="19202400" y="3009900"/>
            <a:ext cx="7004506" cy="1377949"/>
          </a:xfrm>
          <a:prstGeom prst="rect">
            <a:avLst/>
          </a:prstGeom>
        </p:spPr>
        <p:txBody>
          <a:bodyPr lIns="0" tIns="0" rIns="0" bIns="0" rtlCol="0" anchor="t">
            <a:spAutoFit/>
          </a:bodyPr>
          <a:lstStyle/>
          <a:p>
            <a:pPr algn="l">
              <a:lnSpc>
                <a:spcPts val="11200"/>
              </a:lnSpc>
            </a:pPr>
            <a:r>
              <a:rPr lang="en-US" sz="8000" b="1" dirty="0">
                <a:solidFill>
                  <a:srgbClr val="3275C5"/>
                </a:solidFill>
                <a:latin typeface="Source Sans Pro Bold"/>
                <a:ea typeface="Source Sans Pro Bold"/>
                <a:cs typeface="Source Sans Pro Bold"/>
                <a:sym typeface="Source Sans Pro Bold"/>
              </a:rPr>
              <a:t>BUSINESS</a:t>
            </a:r>
          </a:p>
        </p:txBody>
      </p:sp>
      <p:sp>
        <p:nvSpPr>
          <p:cNvPr id="18" name="TextBox 18">
            <a:extLst>
              <a:ext uri="{FF2B5EF4-FFF2-40B4-BE49-F238E27FC236}">
                <a16:creationId xmlns:a16="http://schemas.microsoft.com/office/drawing/2014/main" id="{27A6CC02-B7F0-A886-33F4-315387D10A10}"/>
              </a:ext>
            </a:extLst>
          </p:cNvPr>
          <p:cNvSpPr txBox="1"/>
          <p:nvPr/>
        </p:nvSpPr>
        <p:spPr>
          <a:xfrm>
            <a:off x="19202648" y="3946131"/>
            <a:ext cx="8796517" cy="2057400"/>
          </a:xfrm>
          <a:prstGeom prst="rect">
            <a:avLst/>
          </a:prstGeom>
        </p:spPr>
        <p:txBody>
          <a:bodyPr lIns="0" tIns="0" rIns="0" bIns="0" rtlCol="0" anchor="t">
            <a:spAutoFit/>
          </a:bodyPr>
          <a:lstStyle/>
          <a:p>
            <a:pPr algn="l">
              <a:lnSpc>
                <a:spcPts val="16799"/>
              </a:lnSpc>
            </a:pPr>
            <a:r>
              <a:rPr lang="en-US" sz="11999" b="1" spc="47" dirty="0">
                <a:solidFill>
                  <a:srgbClr val="56AAF0"/>
                </a:solidFill>
                <a:latin typeface="Dynamo Medium"/>
                <a:ea typeface="Dynamo Medium"/>
                <a:cs typeface="Dynamo Medium"/>
                <a:sym typeface="Dynamo Medium"/>
              </a:rPr>
              <a:t>PROPOSAL</a:t>
            </a:r>
          </a:p>
        </p:txBody>
      </p:sp>
      <p:sp>
        <p:nvSpPr>
          <p:cNvPr id="19" name="TextBox 19">
            <a:extLst>
              <a:ext uri="{FF2B5EF4-FFF2-40B4-BE49-F238E27FC236}">
                <a16:creationId xmlns:a16="http://schemas.microsoft.com/office/drawing/2014/main" id="{95570E6B-88D0-DCB4-5DD5-319BB0385CBD}"/>
              </a:ext>
            </a:extLst>
          </p:cNvPr>
          <p:cNvSpPr txBox="1"/>
          <p:nvPr/>
        </p:nvSpPr>
        <p:spPr>
          <a:xfrm>
            <a:off x="19970031" y="2375797"/>
            <a:ext cx="2399835" cy="494652"/>
          </a:xfrm>
          <a:prstGeom prst="rect">
            <a:avLst/>
          </a:prstGeom>
        </p:spPr>
        <p:txBody>
          <a:bodyPr lIns="0" tIns="0" rIns="0" bIns="0" rtlCol="0" anchor="t">
            <a:spAutoFit/>
          </a:bodyPr>
          <a:lstStyle/>
          <a:p>
            <a:pPr algn="l">
              <a:lnSpc>
                <a:spcPts val="3895"/>
              </a:lnSpc>
            </a:pPr>
            <a:r>
              <a:rPr lang="en-US" sz="3447" b="1">
                <a:solidFill>
                  <a:srgbClr val="64CAF4"/>
                </a:solidFill>
                <a:latin typeface="Source Sans Pro Bold"/>
                <a:ea typeface="Source Sans Pro Bold"/>
                <a:cs typeface="Source Sans Pro Bold"/>
                <a:sym typeface="Source Sans Pro Bold"/>
              </a:rPr>
              <a:t>WARDIERE</a:t>
            </a:r>
          </a:p>
        </p:txBody>
      </p:sp>
      <p:sp>
        <p:nvSpPr>
          <p:cNvPr id="20" name="TextBox 20">
            <a:extLst>
              <a:ext uri="{FF2B5EF4-FFF2-40B4-BE49-F238E27FC236}">
                <a16:creationId xmlns:a16="http://schemas.microsoft.com/office/drawing/2014/main" id="{BE7112F7-BB3A-4CAE-60B3-7BB1DC0BEFA7}"/>
              </a:ext>
            </a:extLst>
          </p:cNvPr>
          <p:cNvSpPr txBox="1"/>
          <p:nvPr/>
        </p:nvSpPr>
        <p:spPr>
          <a:xfrm>
            <a:off x="20753087" y="6574653"/>
            <a:ext cx="2752431" cy="436245"/>
          </a:xfrm>
          <a:prstGeom prst="rect">
            <a:avLst/>
          </a:prstGeom>
        </p:spPr>
        <p:txBody>
          <a:bodyPr lIns="0" tIns="0" rIns="0" bIns="0" rtlCol="0" anchor="t">
            <a:spAutoFit/>
          </a:bodyPr>
          <a:lstStyle/>
          <a:p>
            <a:pPr algn="l">
              <a:lnSpc>
                <a:spcPts val="3390"/>
              </a:lnSpc>
            </a:pPr>
            <a:r>
              <a:rPr lang="en-US" sz="3000">
                <a:solidFill>
                  <a:srgbClr val="64CAF4"/>
                </a:solidFill>
                <a:latin typeface="Dynamo Medium"/>
                <a:ea typeface="Dynamo Medium"/>
                <a:cs typeface="Dynamo Medium"/>
                <a:sym typeface="Dynamo Medium"/>
              </a:rPr>
              <a:t>Presented by:</a:t>
            </a:r>
          </a:p>
        </p:txBody>
      </p:sp>
      <p:sp>
        <p:nvSpPr>
          <p:cNvPr id="21" name="TextBox 21">
            <a:extLst>
              <a:ext uri="{FF2B5EF4-FFF2-40B4-BE49-F238E27FC236}">
                <a16:creationId xmlns:a16="http://schemas.microsoft.com/office/drawing/2014/main" id="{0C1184E1-C9FB-0985-1B2C-039075977EF4}"/>
              </a:ext>
            </a:extLst>
          </p:cNvPr>
          <p:cNvSpPr txBox="1"/>
          <p:nvPr/>
        </p:nvSpPr>
        <p:spPr>
          <a:xfrm>
            <a:off x="20753087" y="7399246"/>
            <a:ext cx="4622964" cy="720725"/>
          </a:xfrm>
          <a:prstGeom prst="rect">
            <a:avLst/>
          </a:prstGeom>
        </p:spPr>
        <p:txBody>
          <a:bodyPr lIns="0" tIns="0" rIns="0" bIns="0" rtlCol="0" anchor="t">
            <a:spAutoFit/>
          </a:bodyPr>
          <a:lstStyle/>
          <a:p>
            <a:pPr algn="l">
              <a:lnSpc>
                <a:spcPts val="5650"/>
              </a:lnSpc>
            </a:pPr>
            <a:r>
              <a:rPr lang="en-US" sz="5000" b="1">
                <a:solidFill>
                  <a:srgbClr val="FCFEFF"/>
                </a:solidFill>
                <a:latin typeface="Source Sans Pro Bold"/>
                <a:ea typeface="Source Sans Pro Bold"/>
                <a:cs typeface="Source Sans Pro Bold"/>
                <a:sym typeface="Source Sans Pro Bold"/>
              </a:rPr>
              <a:t>Aaroon Loeb</a:t>
            </a:r>
          </a:p>
        </p:txBody>
      </p:sp>
      <p:sp>
        <p:nvSpPr>
          <p:cNvPr id="22" name="Freeform 22">
            <a:extLst>
              <a:ext uri="{FF2B5EF4-FFF2-40B4-BE49-F238E27FC236}">
                <a16:creationId xmlns:a16="http://schemas.microsoft.com/office/drawing/2014/main" id="{08220A43-DCC5-4082-A215-FB1E4B4E079A}"/>
              </a:ext>
            </a:extLst>
          </p:cNvPr>
          <p:cNvSpPr/>
          <p:nvPr/>
        </p:nvSpPr>
        <p:spPr>
          <a:xfrm rot="5808836">
            <a:off x="-6914419" y="655315"/>
            <a:ext cx="12716270" cy="6635581"/>
          </a:xfrm>
          <a:custGeom>
            <a:avLst/>
            <a:gdLst/>
            <a:ahLst/>
            <a:cxnLst/>
            <a:rect l="l" t="t" r="r" b="b"/>
            <a:pathLst>
              <a:path w="12716270" h="6635581">
                <a:moveTo>
                  <a:pt x="0" y="0"/>
                </a:moveTo>
                <a:lnTo>
                  <a:pt x="12716270" y="0"/>
                </a:lnTo>
                <a:lnTo>
                  <a:pt x="12716270" y="6635580"/>
                </a:lnTo>
                <a:lnTo>
                  <a:pt x="0" y="6635580"/>
                </a:lnTo>
                <a:lnTo>
                  <a:pt x="0" y="0"/>
                </a:lnTo>
                <a:close/>
              </a:path>
            </a:pathLst>
          </a:custGeom>
          <a:blipFill>
            <a:blip r:embed="rId8">
              <a:alphaModFix amt="87000"/>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
        <p:nvSpPr>
          <p:cNvPr id="23" name="Freeform 23">
            <a:extLst>
              <a:ext uri="{FF2B5EF4-FFF2-40B4-BE49-F238E27FC236}">
                <a16:creationId xmlns:a16="http://schemas.microsoft.com/office/drawing/2014/main" id="{92A4D8AF-B42F-B3E4-756D-5C016237750E}"/>
              </a:ext>
            </a:extLst>
          </p:cNvPr>
          <p:cNvSpPr/>
          <p:nvPr/>
        </p:nvSpPr>
        <p:spPr>
          <a:xfrm rot="8289110" flipH="1" flipV="1">
            <a:off x="-5329435" y="255850"/>
            <a:ext cx="12716270" cy="6635581"/>
          </a:xfrm>
          <a:custGeom>
            <a:avLst/>
            <a:gdLst/>
            <a:ahLst/>
            <a:cxnLst/>
            <a:rect l="l" t="t" r="r" b="b"/>
            <a:pathLst>
              <a:path w="12716270" h="6635581">
                <a:moveTo>
                  <a:pt x="12716270" y="6635581"/>
                </a:moveTo>
                <a:lnTo>
                  <a:pt x="0" y="6635581"/>
                </a:lnTo>
                <a:lnTo>
                  <a:pt x="0" y="0"/>
                </a:lnTo>
                <a:lnTo>
                  <a:pt x="12716270" y="0"/>
                </a:lnTo>
                <a:lnTo>
                  <a:pt x="12716270" y="6635581"/>
                </a:lnTo>
                <a:close/>
              </a:path>
            </a:pathLst>
          </a:custGeom>
          <a:blipFill>
            <a:blip r:embed="rId2">
              <a:alphaModFix amt="87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24" name="Picture 23" descr="A black background with blue text&#10;&#10;AI-generated content may be incorrect.">
            <a:extLst>
              <a:ext uri="{FF2B5EF4-FFF2-40B4-BE49-F238E27FC236}">
                <a16:creationId xmlns:a16="http://schemas.microsoft.com/office/drawing/2014/main" id="{AEA9071A-DCE9-F1FB-500D-D1F2F6320099}"/>
              </a:ext>
            </a:extLst>
          </p:cNvPr>
          <p:cNvPicPr>
            <a:picLocks noChangeAspect="1"/>
          </p:cNvPicPr>
          <p:nvPr/>
        </p:nvPicPr>
        <p:blipFill>
          <a:blip r:embed="rId10" cstate="print">
            <a:extLst>
              <a:ext uri="{28A0092B-C50C-407E-A947-70E740481C1C}">
                <a14:useLocalDpi xmlns:a14="http://schemas.microsoft.com/office/drawing/2010/main" val="0"/>
              </a:ext>
            </a:extLst>
          </a:blip>
          <a:srcRect t="30827" b="32770"/>
          <a:stretch/>
        </p:blipFill>
        <p:spPr>
          <a:xfrm>
            <a:off x="5754173" y="419620"/>
            <a:ext cx="6779653" cy="1170669"/>
          </a:xfrm>
          <a:prstGeom prst="rect">
            <a:avLst/>
          </a:prstGeom>
        </p:spPr>
      </p:pic>
      <p:sp>
        <p:nvSpPr>
          <p:cNvPr id="2" name="TextBox 3">
            <a:extLst>
              <a:ext uri="{FF2B5EF4-FFF2-40B4-BE49-F238E27FC236}">
                <a16:creationId xmlns:a16="http://schemas.microsoft.com/office/drawing/2014/main" id="{13008899-D385-892E-754F-7DBDB57D5A6A}"/>
              </a:ext>
            </a:extLst>
          </p:cNvPr>
          <p:cNvSpPr txBox="1"/>
          <p:nvPr/>
        </p:nvSpPr>
        <p:spPr>
          <a:xfrm>
            <a:off x="1876181" y="2981065"/>
            <a:ext cx="14534526" cy="2000548"/>
          </a:xfrm>
          <a:prstGeom prst="rect">
            <a:avLst/>
          </a:prstGeom>
        </p:spPr>
        <p:txBody>
          <a:bodyPr wrap="square" lIns="0" tIns="0" rIns="0" bIns="0" rtlCol="0" anchor="ctr">
            <a:spAutoFit/>
          </a:bodyPr>
          <a:lstStyle/>
          <a:p>
            <a:pPr algn="ctr">
              <a:spcAft>
                <a:spcPts val="1200"/>
              </a:spcAft>
            </a:pPr>
            <a:r>
              <a:rPr lang="en-US" sz="6000" b="1" spc="300" dirty="0">
                <a:solidFill>
                  <a:srgbClr val="002060"/>
                </a:solidFill>
                <a:effectLst>
                  <a:outerShdw blurRad="38100" dist="38100" dir="2700000" algn="tl">
                    <a:srgbClr val="000000">
                      <a:alpha val="43137"/>
                    </a:srgbClr>
                  </a:outerShdw>
                </a:effectLst>
                <a:latin typeface="DC-Monument Extended Ultrabold" pitchFamily="50" charset="0"/>
                <a:ea typeface="HK Gothic Bold"/>
                <a:cs typeface="HK Gothic Bold"/>
                <a:sym typeface="HK Gothic Bold"/>
              </a:rPr>
              <a:t>NGHỆ THUẬT THIẾT KẾ</a:t>
            </a:r>
          </a:p>
          <a:p>
            <a:pPr algn="ctr">
              <a:spcAft>
                <a:spcPts val="1200"/>
              </a:spcAft>
            </a:pPr>
            <a:r>
              <a:rPr lang="en-US" sz="6000" b="1" spc="300" dirty="0">
                <a:solidFill>
                  <a:srgbClr val="002060"/>
                </a:solidFill>
                <a:effectLst>
                  <a:outerShdw blurRad="38100" dist="38100" dir="2700000" algn="tl">
                    <a:srgbClr val="000000">
                      <a:alpha val="43137"/>
                    </a:srgbClr>
                  </a:outerShdw>
                </a:effectLst>
                <a:latin typeface="DC-Monument Extended Ultrabold" pitchFamily="50" charset="0"/>
                <a:ea typeface="HK Gothic Bold"/>
                <a:cs typeface="HK Gothic Bold"/>
                <a:sym typeface="HK Gothic Bold"/>
              </a:rPr>
              <a:t>CHO ĐỜI SỐNG HẰNG NGÀY</a:t>
            </a:r>
          </a:p>
        </p:txBody>
      </p:sp>
      <p:sp>
        <p:nvSpPr>
          <p:cNvPr id="3" name="AutoShape 4">
            <a:extLst>
              <a:ext uri="{FF2B5EF4-FFF2-40B4-BE49-F238E27FC236}">
                <a16:creationId xmlns:a16="http://schemas.microsoft.com/office/drawing/2014/main" id="{92BB4424-A84B-2BB3-1F76-8F9EF0D8DD12}"/>
              </a:ext>
            </a:extLst>
          </p:cNvPr>
          <p:cNvSpPr/>
          <p:nvPr/>
        </p:nvSpPr>
        <p:spPr>
          <a:xfrm>
            <a:off x="1876180" y="6462826"/>
            <a:ext cx="14410389" cy="0"/>
          </a:xfrm>
          <a:prstGeom prst="line">
            <a:avLst/>
          </a:prstGeom>
          <a:ln w="28575" cap="flat">
            <a:solidFill>
              <a:schemeClr val="accent1"/>
            </a:solidFill>
            <a:prstDash val="solid"/>
            <a:headEnd type="none" w="sm" len="sm"/>
            <a:tailEnd type="none" w="sm" len="sm"/>
          </a:ln>
        </p:spPr>
        <p:txBody>
          <a:bodyPr/>
          <a:lstStyle/>
          <a:p>
            <a:endParaRPr lang="en-US">
              <a:solidFill>
                <a:srgbClr val="002060"/>
              </a:solidFill>
            </a:endParaRPr>
          </a:p>
        </p:txBody>
      </p:sp>
      <p:sp>
        <p:nvSpPr>
          <p:cNvPr id="14" name="AutoShape 5">
            <a:extLst>
              <a:ext uri="{FF2B5EF4-FFF2-40B4-BE49-F238E27FC236}">
                <a16:creationId xmlns:a16="http://schemas.microsoft.com/office/drawing/2014/main" id="{E1E7C5A1-82F8-579F-0C6C-0BD21FA2F7F9}"/>
              </a:ext>
            </a:extLst>
          </p:cNvPr>
          <p:cNvSpPr/>
          <p:nvPr/>
        </p:nvSpPr>
        <p:spPr>
          <a:xfrm>
            <a:off x="4498856" y="2461194"/>
            <a:ext cx="8531344" cy="0"/>
          </a:xfrm>
          <a:prstGeom prst="line">
            <a:avLst/>
          </a:prstGeom>
          <a:ln w="28575" cap="flat">
            <a:solidFill>
              <a:schemeClr val="accent1"/>
            </a:solidFill>
            <a:prstDash val="solid"/>
            <a:headEnd type="none" w="sm" len="sm"/>
            <a:tailEnd type="none" w="sm" len="sm"/>
          </a:ln>
        </p:spPr>
        <p:txBody>
          <a:bodyPr/>
          <a:lstStyle/>
          <a:p>
            <a:endParaRPr lang="en-US">
              <a:solidFill>
                <a:srgbClr val="002060"/>
              </a:solidFill>
            </a:endParaRPr>
          </a:p>
        </p:txBody>
      </p:sp>
      <p:sp>
        <p:nvSpPr>
          <p:cNvPr id="15" name="TextBox 7">
            <a:extLst>
              <a:ext uri="{FF2B5EF4-FFF2-40B4-BE49-F238E27FC236}">
                <a16:creationId xmlns:a16="http://schemas.microsoft.com/office/drawing/2014/main" id="{AFC6FC6C-0C9E-DE64-A667-87E2CB92B821}"/>
              </a:ext>
            </a:extLst>
          </p:cNvPr>
          <p:cNvSpPr txBox="1"/>
          <p:nvPr/>
        </p:nvSpPr>
        <p:spPr>
          <a:xfrm>
            <a:off x="2127608" y="6893940"/>
            <a:ext cx="5625355" cy="476669"/>
          </a:xfrm>
          <a:prstGeom prst="rect">
            <a:avLst/>
          </a:prstGeom>
        </p:spPr>
        <p:txBody>
          <a:bodyPr lIns="0" tIns="0" rIns="0" bIns="0" rtlCol="0" anchor="t">
            <a:spAutoFit/>
          </a:bodyPr>
          <a:lstStyle/>
          <a:p>
            <a:pPr marL="0" lvl="0" indent="0" algn="ctr">
              <a:lnSpc>
                <a:spcPts val="3919"/>
              </a:lnSpc>
            </a:pPr>
            <a:r>
              <a:rPr lang="en-US" sz="3200" b="1" spc="-300" dirty="0">
                <a:solidFill>
                  <a:srgbClr val="0070C0"/>
                </a:solidFill>
                <a:latin typeface="UTM Aircona" panose="02040603050506020204" pitchFamily="18" charset="0"/>
                <a:ea typeface="HK Gothic Bold"/>
                <a:cs typeface="HK Gothic Bold"/>
                <a:sym typeface="HK Gothic Bold"/>
              </a:rPr>
              <a:t>LỚP:</a:t>
            </a:r>
            <a:r>
              <a:rPr lang="en-US" sz="3200" spc="-300" dirty="0">
                <a:solidFill>
                  <a:srgbClr val="0070C0"/>
                </a:solidFill>
                <a:latin typeface="UTM Aircona" panose="02040603050506020204" pitchFamily="18" charset="0"/>
                <a:ea typeface="HK Gothic"/>
                <a:cs typeface="HK Gothic"/>
                <a:sym typeface="HK Gothic"/>
              </a:rPr>
              <a:t> </a:t>
            </a:r>
            <a:r>
              <a:rPr lang="en-US" sz="2799" spc="300" dirty="0">
                <a:solidFill>
                  <a:srgbClr val="002060"/>
                </a:solidFill>
                <a:latin typeface="DC-Monument Extended Ultrabold" pitchFamily="50" charset="0"/>
                <a:ea typeface="HK Gothic"/>
                <a:cs typeface="HK Gothic"/>
                <a:sym typeface="HK Gothic"/>
              </a:rPr>
              <a:t>IE106.Q11.CNVN</a:t>
            </a:r>
          </a:p>
        </p:txBody>
      </p:sp>
      <p:sp>
        <p:nvSpPr>
          <p:cNvPr id="25" name="TextBox 9">
            <a:extLst>
              <a:ext uri="{FF2B5EF4-FFF2-40B4-BE49-F238E27FC236}">
                <a16:creationId xmlns:a16="http://schemas.microsoft.com/office/drawing/2014/main" id="{CE594053-D65A-4CB0-415F-34DD3ECFF235}"/>
              </a:ext>
            </a:extLst>
          </p:cNvPr>
          <p:cNvSpPr txBox="1"/>
          <p:nvPr/>
        </p:nvSpPr>
        <p:spPr>
          <a:xfrm>
            <a:off x="2231454" y="2239717"/>
            <a:ext cx="2785767" cy="342273"/>
          </a:xfrm>
          <a:prstGeom prst="rect">
            <a:avLst/>
          </a:prstGeom>
        </p:spPr>
        <p:txBody>
          <a:bodyPr lIns="0" tIns="0" rIns="0" bIns="0" rtlCol="0" anchor="t">
            <a:spAutoFit/>
          </a:bodyPr>
          <a:lstStyle/>
          <a:p>
            <a:pPr marL="0" lvl="0" indent="0" algn="l">
              <a:lnSpc>
                <a:spcPts val="2969"/>
              </a:lnSpc>
            </a:pPr>
            <a:r>
              <a:rPr lang="en-US" sz="2199" b="1" spc="1075" dirty="0">
                <a:solidFill>
                  <a:srgbClr val="0070C0"/>
                </a:solidFill>
                <a:latin typeface="UTM Aircona" panose="02040603050506020204" pitchFamily="18" charset="0"/>
                <a:ea typeface="Helvetica World Bold"/>
                <a:cs typeface="Helvetica World Bold"/>
                <a:sym typeface="Helvetica World Bold"/>
              </a:rPr>
              <a:t>SEMINAR</a:t>
            </a:r>
          </a:p>
        </p:txBody>
      </p:sp>
      <p:sp>
        <p:nvSpPr>
          <p:cNvPr id="26" name="TextBox 10">
            <a:extLst>
              <a:ext uri="{FF2B5EF4-FFF2-40B4-BE49-F238E27FC236}">
                <a16:creationId xmlns:a16="http://schemas.microsoft.com/office/drawing/2014/main" id="{A7344869-6094-04BA-EDA4-476DCA0BBE29}"/>
              </a:ext>
            </a:extLst>
          </p:cNvPr>
          <p:cNvSpPr txBox="1"/>
          <p:nvPr/>
        </p:nvSpPr>
        <p:spPr>
          <a:xfrm>
            <a:off x="12954001" y="2224477"/>
            <a:ext cx="3102532" cy="366447"/>
          </a:xfrm>
          <a:prstGeom prst="rect">
            <a:avLst/>
          </a:prstGeom>
        </p:spPr>
        <p:txBody>
          <a:bodyPr wrap="square" lIns="0" tIns="0" rIns="0" bIns="0" rtlCol="0" anchor="t">
            <a:spAutoFit/>
          </a:bodyPr>
          <a:lstStyle/>
          <a:p>
            <a:pPr marL="0" lvl="0" indent="0" algn="r">
              <a:lnSpc>
                <a:spcPts val="3240"/>
              </a:lnSpc>
            </a:pPr>
            <a:r>
              <a:rPr lang="en-US" sz="2400" spc="163" dirty="0">
                <a:solidFill>
                  <a:srgbClr val="0070C0"/>
                </a:solidFill>
                <a:latin typeface="UTM Aircona" panose="02040603050506020204" pitchFamily="18" charset="0"/>
                <a:ea typeface="Helvetica World"/>
                <a:cs typeface="Helvetica World"/>
                <a:sym typeface="Helvetica World"/>
              </a:rPr>
              <a:t>@group9_uifive</a:t>
            </a:r>
          </a:p>
        </p:txBody>
      </p:sp>
      <p:sp>
        <p:nvSpPr>
          <p:cNvPr id="27" name="AutoShape 11">
            <a:extLst>
              <a:ext uri="{FF2B5EF4-FFF2-40B4-BE49-F238E27FC236}">
                <a16:creationId xmlns:a16="http://schemas.microsoft.com/office/drawing/2014/main" id="{4FF7BD51-713C-E80E-19D3-6B6426811C94}"/>
              </a:ext>
            </a:extLst>
          </p:cNvPr>
          <p:cNvSpPr/>
          <p:nvPr/>
        </p:nvSpPr>
        <p:spPr>
          <a:xfrm>
            <a:off x="1876180" y="5300303"/>
            <a:ext cx="14410389" cy="15010"/>
          </a:xfrm>
          <a:prstGeom prst="line">
            <a:avLst/>
          </a:prstGeom>
          <a:ln w="28575" cap="flat">
            <a:solidFill>
              <a:schemeClr val="accent1"/>
            </a:solidFill>
            <a:prstDash val="solid"/>
            <a:headEnd type="none" w="sm" len="sm"/>
            <a:tailEnd type="none" w="sm" len="sm"/>
          </a:ln>
        </p:spPr>
        <p:txBody>
          <a:bodyPr/>
          <a:lstStyle/>
          <a:p>
            <a:endParaRPr lang="en-US">
              <a:solidFill>
                <a:srgbClr val="002060"/>
              </a:solidFill>
            </a:endParaRPr>
          </a:p>
        </p:txBody>
      </p:sp>
      <p:sp>
        <p:nvSpPr>
          <p:cNvPr id="28" name="TextBox 12">
            <a:extLst>
              <a:ext uri="{FF2B5EF4-FFF2-40B4-BE49-F238E27FC236}">
                <a16:creationId xmlns:a16="http://schemas.microsoft.com/office/drawing/2014/main" id="{65BBACFD-7DD4-EB93-EBF4-2303FF092285}"/>
              </a:ext>
            </a:extLst>
          </p:cNvPr>
          <p:cNvSpPr txBox="1"/>
          <p:nvPr/>
        </p:nvSpPr>
        <p:spPr>
          <a:xfrm>
            <a:off x="1876180" y="5602640"/>
            <a:ext cx="14410389" cy="674480"/>
          </a:xfrm>
          <a:prstGeom prst="rect">
            <a:avLst/>
          </a:prstGeom>
        </p:spPr>
        <p:txBody>
          <a:bodyPr wrap="square" lIns="0" tIns="0" rIns="0" bIns="0" rtlCol="0" anchor="t">
            <a:spAutoFit/>
          </a:bodyPr>
          <a:lstStyle/>
          <a:p>
            <a:pPr marL="0" lvl="0" indent="0" algn="ctr">
              <a:lnSpc>
                <a:spcPts val="5442"/>
              </a:lnSpc>
            </a:pPr>
            <a:r>
              <a:rPr lang="en-US" sz="4400" b="1" dirty="0">
                <a:solidFill>
                  <a:srgbClr val="0070C0"/>
                </a:solidFill>
                <a:latin typeface="UTM Aircona" panose="02040603050506020204" pitchFamily="18" charset="0"/>
                <a:ea typeface="HK Gothic Bold"/>
                <a:cs typeface="HK Gothic Bold"/>
                <a:sym typeface="HK Gothic Bold"/>
              </a:rPr>
              <a:t>CHƯƠNG 5: </a:t>
            </a:r>
            <a:r>
              <a:rPr lang="en-US" sz="4400" b="1" dirty="0">
                <a:solidFill>
                  <a:srgbClr val="002060"/>
                </a:solidFill>
                <a:latin typeface="DC-Monument Extended Ultrabold" pitchFamily="50" charset="0"/>
                <a:ea typeface="HK Gothic Bold"/>
                <a:cs typeface="HK Gothic Bold"/>
                <a:sym typeface="HK Gothic Bold"/>
              </a:rPr>
              <a:t>LỖI LÀ BẢN CHẤT CON NGƯỜI</a:t>
            </a:r>
          </a:p>
        </p:txBody>
      </p:sp>
      <p:sp>
        <p:nvSpPr>
          <p:cNvPr id="29" name="TextBox 13">
            <a:extLst>
              <a:ext uri="{FF2B5EF4-FFF2-40B4-BE49-F238E27FC236}">
                <a16:creationId xmlns:a16="http://schemas.microsoft.com/office/drawing/2014/main" id="{A78078C4-E26B-2316-A3C8-404FAE6DB914}"/>
              </a:ext>
            </a:extLst>
          </p:cNvPr>
          <p:cNvSpPr txBox="1"/>
          <p:nvPr/>
        </p:nvSpPr>
        <p:spPr>
          <a:xfrm>
            <a:off x="2514600" y="7870596"/>
            <a:ext cx="2615802" cy="853247"/>
          </a:xfrm>
          <a:prstGeom prst="rect">
            <a:avLst/>
          </a:prstGeom>
        </p:spPr>
        <p:txBody>
          <a:bodyPr lIns="0" tIns="0" rIns="0" bIns="0" rtlCol="0" anchor="t">
            <a:spAutoFit/>
          </a:bodyPr>
          <a:lstStyle/>
          <a:p>
            <a:pPr algn="ctr">
              <a:lnSpc>
                <a:spcPts val="3359"/>
              </a:lnSpc>
            </a:pPr>
            <a:r>
              <a:rPr lang="en-US" sz="2800" b="1" spc="100"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cs typeface="Helvetica World Bold" panose="020B0604020202020204" charset="-128"/>
                <a:sym typeface="HK Gothic Bold"/>
              </a:rPr>
              <a:t>QUỐC ĐẠT</a:t>
            </a:r>
          </a:p>
          <a:p>
            <a:pPr marL="0" lvl="0" indent="0" algn="ctr">
              <a:lnSpc>
                <a:spcPts val="3359"/>
              </a:lnSpc>
            </a:pPr>
            <a:r>
              <a:rPr lang="en-US" sz="2800" b="1" spc="100"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cs typeface="Helvetica World Bold" panose="020B0604020202020204" charset="-128"/>
                <a:sym typeface="HK Gothic Bold"/>
              </a:rPr>
              <a:t>23520260</a:t>
            </a:r>
          </a:p>
        </p:txBody>
      </p:sp>
      <p:sp>
        <p:nvSpPr>
          <p:cNvPr id="30" name="TextBox 14">
            <a:extLst>
              <a:ext uri="{FF2B5EF4-FFF2-40B4-BE49-F238E27FC236}">
                <a16:creationId xmlns:a16="http://schemas.microsoft.com/office/drawing/2014/main" id="{725794AF-BE1A-2F9F-7A9C-CAC23D20C934}"/>
              </a:ext>
            </a:extLst>
          </p:cNvPr>
          <p:cNvSpPr txBox="1"/>
          <p:nvPr/>
        </p:nvSpPr>
        <p:spPr>
          <a:xfrm>
            <a:off x="5257800" y="7869538"/>
            <a:ext cx="2615802" cy="855362"/>
          </a:xfrm>
          <a:prstGeom prst="rect">
            <a:avLst/>
          </a:prstGeom>
        </p:spPr>
        <p:txBody>
          <a:bodyPr lIns="0" tIns="0" rIns="0" bIns="0" rtlCol="0" anchor="t">
            <a:spAutoFit/>
          </a:bodyPr>
          <a:lstStyle/>
          <a:p>
            <a:pPr algn="ctr">
              <a:lnSpc>
                <a:spcPts val="3359"/>
              </a:lnSpc>
            </a:pPr>
            <a:r>
              <a:rPr lang="en-US" sz="2800" b="1" spc="100"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cs typeface="Helvetica World Bold" panose="020B0604020202020204" charset="-128"/>
                <a:sym typeface="HK Gothic Bold"/>
              </a:rPr>
              <a:t>CAO CƯỜNG</a:t>
            </a:r>
          </a:p>
          <a:p>
            <a:pPr marL="0" lvl="0" indent="0" algn="ctr">
              <a:lnSpc>
                <a:spcPts val="3359"/>
              </a:lnSpc>
            </a:pPr>
            <a:r>
              <a:rPr lang="en-US" sz="2800" b="1" spc="100"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cs typeface="Helvetica World Bold" panose="020B0604020202020204" charset="-128"/>
                <a:sym typeface="HK Gothic Bold"/>
              </a:rPr>
              <a:t>23520198</a:t>
            </a:r>
          </a:p>
        </p:txBody>
      </p:sp>
      <p:sp>
        <p:nvSpPr>
          <p:cNvPr id="31" name="TextBox 15">
            <a:extLst>
              <a:ext uri="{FF2B5EF4-FFF2-40B4-BE49-F238E27FC236}">
                <a16:creationId xmlns:a16="http://schemas.microsoft.com/office/drawing/2014/main" id="{B477F5E2-408C-117D-A13B-1D9CA0D91BC1}"/>
              </a:ext>
            </a:extLst>
          </p:cNvPr>
          <p:cNvSpPr txBox="1"/>
          <p:nvPr/>
        </p:nvSpPr>
        <p:spPr>
          <a:xfrm>
            <a:off x="7835543" y="7870596"/>
            <a:ext cx="2615802" cy="853247"/>
          </a:xfrm>
          <a:prstGeom prst="rect">
            <a:avLst/>
          </a:prstGeom>
        </p:spPr>
        <p:txBody>
          <a:bodyPr lIns="0" tIns="0" rIns="0" bIns="0" rtlCol="0" anchor="t">
            <a:spAutoFit/>
          </a:bodyPr>
          <a:lstStyle/>
          <a:p>
            <a:pPr algn="ctr">
              <a:lnSpc>
                <a:spcPts val="3359"/>
              </a:lnSpc>
            </a:pPr>
            <a:r>
              <a:rPr lang="en-US" sz="2800" b="1" spc="100"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cs typeface="Helvetica World Bold" panose="020B0604020202020204" charset="-128"/>
                <a:sym typeface="HK Gothic Bold"/>
              </a:rPr>
              <a:t>TUẤN PHI</a:t>
            </a:r>
          </a:p>
          <a:p>
            <a:pPr marL="0" lvl="0" indent="0" algn="ctr">
              <a:lnSpc>
                <a:spcPts val="3359"/>
              </a:lnSpc>
            </a:pPr>
            <a:r>
              <a:rPr lang="en-US" sz="2800" b="1" spc="100"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cs typeface="Helvetica World Bold" panose="020B0604020202020204" charset="-128"/>
                <a:sym typeface="HK Gothic Bold"/>
              </a:rPr>
              <a:t>23521154</a:t>
            </a:r>
          </a:p>
        </p:txBody>
      </p:sp>
      <p:sp>
        <p:nvSpPr>
          <p:cNvPr id="32" name="TextBox 16">
            <a:extLst>
              <a:ext uri="{FF2B5EF4-FFF2-40B4-BE49-F238E27FC236}">
                <a16:creationId xmlns:a16="http://schemas.microsoft.com/office/drawing/2014/main" id="{3522FB59-2523-07DB-4478-0B6AFDF08AD7}"/>
              </a:ext>
            </a:extLst>
          </p:cNvPr>
          <p:cNvSpPr txBox="1"/>
          <p:nvPr/>
        </p:nvSpPr>
        <p:spPr>
          <a:xfrm>
            <a:off x="10414398" y="7870596"/>
            <a:ext cx="2615802" cy="853247"/>
          </a:xfrm>
          <a:prstGeom prst="rect">
            <a:avLst/>
          </a:prstGeom>
        </p:spPr>
        <p:txBody>
          <a:bodyPr lIns="0" tIns="0" rIns="0" bIns="0" rtlCol="0" anchor="t">
            <a:spAutoFit/>
          </a:bodyPr>
          <a:lstStyle/>
          <a:p>
            <a:pPr algn="ctr">
              <a:lnSpc>
                <a:spcPts val="3359"/>
              </a:lnSpc>
            </a:pPr>
            <a:r>
              <a:rPr lang="en-US" sz="2800" b="1" spc="100"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cs typeface="Helvetica World Bold" panose="020B0604020202020204" charset="-128"/>
                <a:sym typeface="HK Gothic Bold"/>
              </a:rPr>
              <a:t>ANH VŨ</a:t>
            </a:r>
          </a:p>
          <a:p>
            <a:pPr marL="0" lvl="0" indent="0" algn="ctr">
              <a:lnSpc>
                <a:spcPts val="3359"/>
              </a:lnSpc>
            </a:pPr>
            <a:r>
              <a:rPr lang="en-US" sz="2800" b="1" spc="100"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cs typeface="Helvetica World Bold" panose="020B0604020202020204" charset="-128"/>
                <a:sym typeface="HK Gothic Bold"/>
              </a:rPr>
              <a:t>23521810</a:t>
            </a:r>
          </a:p>
        </p:txBody>
      </p:sp>
      <p:sp>
        <p:nvSpPr>
          <p:cNvPr id="33" name="TextBox 17">
            <a:extLst>
              <a:ext uri="{FF2B5EF4-FFF2-40B4-BE49-F238E27FC236}">
                <a16:creationId xmlns:a16="http://schemas.microsoft.com/office/drawing/2014/main" id="{889D024C-4ECE-E19C-B5DC-EAB25E0A5B99}"/>
              </a:ext>
            </a:extLst>
          </p:cNvPr>
          <p:cNvSpPr txBox="1"/>
          <p:nvPr/>
        </p:nvSpPr>
        <p:spPr>
          <a:xfrm>
            <a:off x="12928998" y="7870596"/>
            <a:ext cx="2615802" cy="853247"/>
          </a:xfrm>
          <a:prstGeom prst="rect">
            <a:avLst/>
          </a:prstGeom>
        </p:spPr>
        <p:txBody>
          <a:bodyPr lIns="0" tIns="0" rIns="0" bIns="0" rtlCol="0" anchor="t">
            <a:spAutoFit/>
          </a:bodyPr>
          <a:lstStyle/>
          <a:p>
            <a:pPr algn="ctr">
              <a:lnSpc>
                <a:spcPts val="3359"/>
              </a:lnSpc>
            </a:pPr>
            <a:r>
              <a:rPr lang="en-US" sz="2800" b="1" spc="100"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cs typeface="Helvetica World Bold" panose="020B0604020202020204" charset="-128"/>
                <a:sym typeface="HK Gothic Bold"/>
              </a:rPr>
              <a:t>NHẬT HOÀNG</a:t>
            </a:r>
          </a:p>
          <a:p>
            <a:pPr marL="0" lvl="0" indent="0" algn="ctr">
              <a:lnSpc>
                <a:spcPts val="3359"/>
              </a:lnSpc>
            </a:pPr>
            <a:r>
              <a:rPr lang="en-US" sz="2800" b="1" spc="100"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cs typeface="Helvetica World Bold" panose="020B0604020202020204" charset="-128"/>
                <a:sym typeface="HK Gothic Bold"/>
              </a:rPr>
              <a:t>23520526</a:t>
            </a:r>
          </a:p>
        </p:txBody>
      </p:sp>
      <p:sp>
        <p:nvSpPr>
          <p:cNvPr id="34" name="TextBox 18">
            <a:extLst>
              <a:ext uri="{FF2B5EF4-FFF2-40B4-BE49-F238E27FC236}">
                <a16:creationId xmlns:a16="http://schemas.microsoft.com/office/drawing/2014/main" id="{27498B57-2383-1B35-EEC8-FF267FC0433E}"/>
              </a:ext>
            </a:extLst>
          </p:cNvPr>
          <p:cNvSpPr txBox="1"/>
          <p:nvPr/>
        </p:nvSpPr>
        <p:spPr>
          <a:xfrm>
            <a:off x="8379907" y="6834214"/>
            <a:ext cx="7698293" cy="487313"/>
          </a:xfrm>
          <a:prstGeom prst="rect">
            <a:avLst/>
          </a:prstGeom>
        </p:spPr>
        <p:txBody>
          <a:bodyPr wrap="square" lIns="0" tIns="0" rIns="0" bIns="0" rtlCol="0" anchor="t">
            <a:spAutoFit/>
          </a:bodyPr>
          <a:lstStyle/>
          <a:p>
            <a:pPr algn="ctr">
              <a:lnSpc>
                <a:spcPts val="3779"/>
              </a:lnSpc>
              <a:spcBef>
                <a:spcPct val="0"/>
              </a:spcBef>
            </a:pPr>
            <a:r>
              <a:rPr lang="en-US" sz="3200" b="1" spc="-300" dirty="0">
                <a:solidFill>
                  <a:srgbClr val="0070C0"/>
                </a:solidFill>
                <a:latin typeface="UTM Aircona" panose="02040603050506020204" pitchFamily="18" charset="0"/>
                <a:ea typeface="HK Gothic Bold"/>
                <a:cs typeface="HK Gothic Bold"/>
                <a:sym typeface="HK Gothic Bold"/>
              </a:rPr>
              <a:t>GVHD: </a:t>
            </a:r>
            <a:r>
              <a:rPr lang="en-US" sz="2799" dirty="0">
                <a:solidFill>
                  <a:srgbClr val="002060"/>
                </a:solidFill>
                <a:latin typeface="DC-Monument Extended Ultrabold" pitchFamily="50" charset="0"/>
                <a:ea typeface="HK Gothic"/>
                <a:cs typeface="HK Gothic"/>
                <a:sym typeface="HK Gothic"/>
              </a:rPr>
              <a:t>TH.S NGUYỄN THÀNH LUÂN</a:t>
            </a:r>
          </a:p>
        </p:txBody>
      </p:sp>
    </p:spTree>
    <p:extLst>
      <p:ext uri="{BB962C8B-B14F-4D97-AF65-F5344CB8AC3E}">
        <p14:creationId xmlns:p14="http://schemas.microsoft.com/office/powerpoint/2010/main" val="22940194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pic>
        <p:nvPicPr>
          <p:cNvPr id="67" name="Picture 66" descr="A blue logo with a black background&#10;&#10;AI-generated content may be incorrect.">
            <a:extLst>
              <a:ext uri="{FF2B5EF4-FFF2-40B4-BE49-F238E27FC236}">
                <a16:creationId xmlns:a16="http://schemas.microsoft.com/office/drawing/2014/main" id="{55549679-D747-4AAC-B85C-13199C5006E7}"/>
              </a:ext>
            </a:extLst>
          </p:cNvPr>
          <p:cNvPicPr>
            <a:picLocks noChangeAspect="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9" name="TextBox 9"/>
          <p:cNvSpPr txBox="1"/>
          <p:nvPr/>
        </p:nvSpPr>
        <p:spPr>
          <a:xfrm>
            <a:off x="3731966" y="363133"/>
            <a:ext cx="10760605" cy="1331134"/>
          </a:xfrm>
          <a:prstGeom prst="rect">
            <a:avLst/>
          </a:prstGeom>
        </p:spPr>
        <p:txBody>
          <a:bodyPr lIns="0" tIns="0" rIns="0" bIns="0" rtlCol="0" anchor="ctr">
            <a:spAutoFit/>
          </a:bodyPr>
          <a:lstStyle/>
          <a:p>
            <a:pPr lvl="1" algn="ctr">
              <a:lnSpc>
                <a:spcPts val="11200"/>
              </a:lnSpc>
            </a:pPr>
            <a:r>
              <a:rPr lang="en-US" sz="66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NỘI DUNG CHÍNH</a:t>
            </a:r>
          </a:p>
        </p:txBody>
      </p:sp>
      <p:sp>
        <p:nvSpPr>
          <p:cNvPr id="13" name="Freeform 13"/>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grpSp>
        <p:nvGrpSpPr>
          <p:cNvPr id="42" name="Group 41">
            <a:extLst>
              <a:ext uri="{FF2B5EF4-FFF2-40B4-BE49-F238E27FC236}">
                <a16:creationId xmlns:a16="http://schemas.microsoft.com/office/drawing/2014/main" id="{220B65B8-0EFB-450F-0529-AADFE859F0DC}"/>
              </a:ext>
            </a:extLst>
          </p:cNvPr>
          <p:cNvGrpSpPr/>
          <p:nvPr/>
        </p:nvGrpSpPr>
        <p:grpSpPr>
          <a:xfrm>
            <a:off x="2206220" y="2340809"/>
            <a:ext cx="13875559" cy="1164163"/>
            <a:chOff x="4211208" y="2482845"/>
            <a:chExt cx="14545503" cy="1295402"/>
          </a:xfrm>
        </p:grpSpPr>
        <p:sp>
          <p:nvSpPr>
            <p:cNvPr id="32" name="Rectangle: Top Corners Rounded 31">
              <a:extLst>
                <a:ext uri="{FF2B5EF4-FFF2-40B4-BE49-F238E27FC236}">
                  <a16:creationId xmlns:a16="http://schemas.microsoft.com/office/drawing/2014/main" id="{77A08978-86E8-6570-2441-ED5AF52EF831}"/>
                </a:ext>
              </a:extLst>
            </p:cNvPr>
            <p:cNvSpPr/>
            <p:nvPr/>
          </p:nvSpPr>
          <p:spPr>
            <a:xfrm flipV="1">
              <a:off x="4658707" y="2544086"/>
              <a:ext cx="14098004" cy="1144410"/>
            </a:xfrm>
            <a:prstGeom prst="round2SameRect">
              <a:avLst>
                <a:gd name="adj1" fmla="val 50000"/>
                <a:gd name="adj2" fmla="val 50000"/>
              </a:avLst>
            </a:prstGeom>
            <a:gradFill>
              <a:gsLst>
                <a:gs pos="17000">
                  <a:srgbClr val="3EB3DF"/>
                </a:gs>
                <a:gs pos="54000">
                  <a:srgbClr val="3997D3"/>
                </a:gs>
                <a:gs pos="79000">
                  <a:srgbClr val="337AC7"/>
                </a:gs>
              </a:gsLst>
              <a:lin ang="168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598126F-ABDB-3EF9-C739-B4032BC45337}"/>
                </a:ext>
              </a:extLst>
            </p:cNvPr>
            <p:cNvSpPr/>
            <p:nvPr/>
          </p:nvSpPr>
          <p:spPr>
            <a:xfrm>
              <a:off x="4211208" y="2482845"/>
              <a:ext cx="1295401" cy="1295402"/>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a:extLst>
                <a:ext uri="{FF2B5EF4-FFF2-40B4-BE49-F238E27FC236}">
                  <a16:creationId xmlns:a16="http://schemas.microsoft.com/office/drawing/2014/main" id="{913E394D-5ACA-57A8-EF42-9DC7834B68EE}"/>
                </a:ext>
              </a:extLst>
            </p:cNvPr>
            <p:cNvSpPr txBox="1"/>
            <p:nvPr/>
          </p:nvSpPr>
          <p:spPr>
            <a:xfrm>
              <a:off x="4369414" y="2675974"/>
              <a:ext cx="949567" cy="830998"/>
            </a:xfrm>
            <a:prstGeom prst="rect">
              <a:avLst/>
            </a:prstGeom>
            <a:noFill/>
          </p:spPr>
          <p:txBody>
            <a:bodyPr wrap="square" rtlCol="0">
              <a:spAutoFit/>
            </a:bodyPr>
            <a:lstStyle/>
            <a:p>
              <a:pPr algn="ctr"/>
              <a:r>
                <a:rPr lang="en-US" sz="4800" dirty="0">
                  <a:solidFill>
                    <a:srgbClr val="002060"/>
                  </a:solidFill>
                  <a:latin typeface="DC-Monument Extended Ultrabold" pitchFamily="50" charset="0"/>
                </a:rPr>
                <a:t>I</a:t>
              </a:r>
            </a:p>
          </p:txBody>
        </p:sp>
        <p:sp>
          <p:nvSpPr>
            <p:cNvPr id="41" name="TextBox 40">
              <a:extLst>
                <a:ext uri="{FF2B5EF4-FFF2-40B4-BE49-F238E27FC236}">
                  <a16:creationId xmlns:a16="http://schemas.microsoft.com/office/drawing/2014/main" id="{0A51219F-ECF8-8AB9-2F9E-C98CE28AF6FD}"/>
                </a:ext>
              </a:extLst>
            </p:cNvPr>
            <p:cNvSpPr txBox="1"/>
            <p:nvPr/>
          </p:nvSpPr>
          <p:spPr>
            <a:xfrm>
              <a:off x="5591399" y="2737216"/>
              <a:ext cx="11447643" cy="787688"/>
            </a:xfrm>
            <a:prstGeom prst="rect">
              <a:avLst/>
            </a:prstGeom>
            <a:noFill/>
          </p:spPr>
          <p:txBody>
            <a:bodyPr wrap="square" rtlCol="0">
              <a:spAutoFit/>
            </a:bodyPr>
            <a:lstStyle/>
            <a:p>
              <a:r>
                <a:rPr lang="en-US" sz="40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SƠ SUẤT</a:t>
              </a:r>
            </a:p>
          </p:txBody>
        </p:sp>
      </p:grpSp>
      <p:pic>
        <p:nvPicPr>
          <p:cNvPr id="7" name="Picture 6" descr="A blue logo with a black background&#10;&#10;AI-generated content may be incorrect.">
            <a:extLst>
              <a:ext uri="{FF2B5EF4-FFF2-40B4-BE49-F238E27FC236}">
                <a16:creationId xmlns:a16="http://schemas.microsoft.com/office/drawing/2014/main" id="{D7017F82-A46A-F61A-7804-0C6FF8B4BAE1}"/>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685800" y="571500"/>
            <a:ext cx="1403126" cy="1133024"/>
          </a:xfrm>
          <a:prstGeom prst="rect">
            <a:avLst/>
          </a:prstGeom>
        </p:spPr>
      </p:pic>
      <p:grpSp>
        <p:nvGrpSpPr>
          <p:cNvPr id="8" name="Group 12">
            <a:extLst>
              <a:ext uri="{FF2B5EF4-FFF2-40B4-BE49-F238E27FC236}">
                <a16:creationId xmlns:a16="http://schemas.microsoft.com/office/drawing/2014/main" id="{51D85D92-F864-1C1F-6C7C-B8A90117E62F}"/>
              </a:ext>
            </a:extLst>
          </p:cNvPr>
          <p:cNvGrpSpPr/>
          <p:nvPr/>
        </p:nvGrpSpPr>
        <p:grpSpPr>
          <a:xfrm>
            <a:off x="-4191000" y="-674254"/>
            <a:ext cx="7009358" cy="1159703"/>
            <a:chOff x="0" y="0"/>
            <a:chExt cx="1250766" cy="206940"/>
          </a:xfrm>
          <a:effectLst>
            <a:outerShdw blurRad="50800" dist="38100" dir="2700000" algn="tl" rotWithShape="0">
              <a:prstClr val="black">
                <a:alpha val="40000"/>
              </a:prstClr>
            </a:outerShdw>
          </a:effectLst>
        </p:grpSpPr>
        <p:sp>
          <p:nvSpPr>
            <p:cNvPr id="10" name="Freeform 13">
              <a:extLst>
                <a:ext uri="{FF2B5EF4-FFF2-40B4-BE49-F238E27FC236}">
                  <a16:creationId xmlns:a16="http://schemas.microsoft.com/office/drawing/2014/main" id="{1C77F1A9-27DA-4A50-D922-497F45389292}"/>
                </a:ext>
              </a:extLst>
            </p:cNvPr>
            <p:cNvSpPr/>
            <p:nvPr/>
          </p:nvSpPr>
          <p:spPr>
            <a:xfrm>
              <a:off x="11494" y="0"/>
              <a:ext cx="1227777" cy="206940"/>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solidFill>
              <a:srgbClr val="3275C5"/>
            </a:solidFill>
          </p:spPr>
          <p:txBody>
            <a:bodyPr/>
            <a:lstStyle/>
            <a:p>
              <a:endParaRPr lang="en-US"/>
            </a:p>
          </p:txBody>
        </p:sp>
        <p:sp>
          <p:nvSpPr>
            <p:cNvPr id="11" name="TextBox 14">
              <a:extLst>
                <a:ext uri="{FF2B5EF4-FFF2-40B4-BE49-F238E27FC236}">
                  <a16:creationId xmlns:a16="http://schemas.microsoft.com/office/drawing/2014/main" id="{CEC04536-0086-E13F-05B3-A9B264DA4B95}"/>
                </a:ext>
              </a:extLst>
            </p:cNvPr>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24" name="Group 15">
            <a:extLst>
              <a:ext uri="{FF2B5EF4-FFF2-40B4-BE49-F238E27FC236}">
                <a16:creationId xmlns:a16="http://schemas.microsoft.com/office/drawing/2014/main" id="{354AEC66-69C8-AA6C-5BFE-E5D8C1A2D17A}"/>
              </a:ext>
            </a:extLst>
          </p:cNvPr>
          <p:cNvGrpSpPr/>
          <p:nvPr/>
        </p:nvGrpSpPr>
        <p:grpSpPr>
          <a:xfrm>
            <a:off x="-1932885" y="203618"/>
            <a:ext cx="3144637" cy="520282"/>
            <a:chOff x="0" y="0"/>
            <a:chExt cx="1250766" cy="206940"/>
          </a:xfrm>
          <a:effectLst>
            <a:outerShdw blurRad="50800" dist="38100" dir="2700000" algn="tl" rotWithShape="0">
              <a:prstClr val="black">
                <a:alpha val="40000"/>
              </a:prstClr>
            </a:outerShdw>
          </a:effectLst>
        </p:grpSpPr>
        <p:sp>
          <p:nvSpPr>
            <p:cNvPr id="25" name="Freeform 16">
              <a:extLst>
                <a:ext uri="{FF2B5EF4-FFF2-40B4-BE49-F238E27FC236}">
                  <a16:creationId xmlns:a16="http://schemas.microsoft.com/office/drawing/2014/main" id="{3360AB17-95FC-F674-9EDB-A36AC381B65C}"/>
                </a:ext>
              </a:extLst>
            </p:cNvPr>
            <p:cNvSpPr/>
            <p:nvPr/>
          </p:nvSpPr>
          <p:spPr>
            <a:xfrm>
              <a:off x="13485" y="0"/>
              <a:ext cx="1223797" cy="206940"/>
            </a:xfrm>
            <a:custGeom>
              <a:avLst/>
              <a:gdLst/>
              <a:ahLst/>
              <a:cxnLst/>
              <a:rect l="l" t="t" r="r" b="b"/>
              <a:pathLst>
                <a:path w="1223797" h="206940">
                  <a:moveTo>
                    <a:pt x="214334" y="0"/>
                  </a:moveTo>
                  <a:lnTo>
                    <a:pt x="1212662" y="0"/>
                  </a:lnTo>
                  <a:cubicBezTo>
                    <a:pt x="1216822" y="0"/>
                    <a:pt x="1220577" y="2496"/>
                    <a:pt x="1222187" y="6333"/>
                  </a:cubicBezTo>
                  <a:cubicBezTo>
                    <a:pt x="1223796" y="10170"/>
                    <a:pt x="1222947" y="14598"/>
                    <a:pt x="1220032" y="17567"/>
                  </a:cubicBezTo>
                  <a:lnTo>
                    <a:pt x="1051330" y="189373"/>
                  </a:lnTo>
                  <a:cubicBezTo>
                    <a:pt x="1040297" y="200610"/>
                    <a:pt x="1025210" y="206940"/>
                    <a:pt x="1009462" y="206940"/>
                  </a:cubicBezTo>
                  <a:lnTo>
                    <a:pt x="11134" y="206940"/>
                  </a:lnTo>
                  <a:cubicBezTo>
                    <a:pt x="6974" y="206940"/>
                    <a:pt x="3219" y="204444"/>
                    <a:pt x="1609" y="200607"/>
                  </a:cubicBezTo>
                  <a:cubicBezTo>
                    <a:pt x="0" y="196770"/>
                    <a:pt x="849" y="192342"/>
                    <a:pt x="3764" y="189373"/>
                  </a:cubicBezTo>
                  <a:lnTo>
                    <a:pt x="172466" y="17567"/>
                  </a:lnTo>
                  <a:cubicBezTo>
                    <a:pt x="183499" y="6330"/>
                    <a:pt x="198586" y="0"/>
                    <a:pt x="214334" y="0"/>
                  </a:cubicBezTo>
                  <a:close/>
                </a:path>
              </a:pathLst>
            </a:custGeom>
            <a:solidFill>
              <a:srgbClr val="64CAF4"/>
            </a:solidFill>
          </p:spPr>
          <p:txBody>
            <a:bodyPr/>
            <a:lstStyle/>
            <a:p>
              <a:endParaRPr lang="en-US"/>
            </a:p>
          </p:txBody>
        </p:sp>
        <p:sp>
          <p:nvSpPr>
            <p:cNvPr id="26" name="TextBox 17">
              <a:extLst>
                <a:ext uri="{FF2B5EF4-FFF2-40B4-BE49-F238E27FC236}">
                  <a16:creationId xmlns:a16="http://schemas.microsoft.com/office/drawing/2014/main" id="{66457D1B-FE3C-0ABC-19A6-D38FD9DDD496}"/>
                </a:ext>
              </a:extLst>
            </p:cNvPr>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sp>
        <p:nvSpPr>
          <p:cNvPr id="2" name="Slide Number Placeholder 8">
            <a:extLst>
              <a:ext uri="{FF2B5EF4-FFF2-40B4-BE49-F238E27FC236}">
                <a16:creationId xmlns:a16="http://schemas.microsoft.com/office/drawing/2014/main" id="{18AF39A4-9D7F-DBBB-C666-14AEE402921C}"/>
              </a:ext>
            </a:extLst>
          </p:cNvPr>
          <p:cNvSpPr>
            <a:spLocks noGrp="1"/>
          </p:cNvSpPr>
          <p:nvPr>
            <p:ph type="sldNum" sz="quarter" idx="12"/>
          </p:nvPr>
        </p:nvSpPr>
        <p:spPr>
          <a:xfrm>
            <a:off x="17145000" y="9854438"/>
            <a:ext cx="602065"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2</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grpSp>
        <p:nvGrpSpPr>
          <p:cNvPr id="27" name="Group 26">
            <a:extLst>
              <a:ext uri="{FF2B5EF4-FFF2-40B4-BE49-F238E27FC236}">
                <a16:creationId xmlns:a16="http://schemas.microsoft.com/office/drawing/2014/main" id="{1A211952-8540-02B3-6587-EFAFEF59E2B9}"/>
              </a:ext>
            </a:extLst>
          </p:cNvPr>
          <p:cNvGrpSpPr/>
          <p:nvPr/>
        </p:nvGrpSpPr>
        <p:grpSpPr>
          <a:xfrm>
            <a:off x="2285374" y="3678535"/>
            <a:ext cx="13858298" cy="1164163"/>
            <a:chOff x="4211208" y="2482845"/>
            <a:chExt cx="15420577" cy="1295402"/>
          </a:xfrm>
        </p:grpSpPr>
        <p:sp>
          <p:nvSpPr>
            <p:cNvPr id="28" name="Rectangle: Top Corners Rounded 27">
              <a:extLst>
                <a:ext uri="{FF2B5EF4-FFF2-40B4-BE49-F238E27FC236}">
                  <a16:creationId xmlns:a16="http://schemas.microsoft.com/office/drawing/2014/main" id="{C203284C-FB34-48A5-94BB-030B1ACDF39E}"/>
                </a:ext>
              </a:extLst>
            </p:cNvPr>
            <p:cNvSpPr/>
            <p:nvPr/>
          </p:nvSpPr>
          <p:spPr>
            <a:xfrm flipV="1">
              <a:off x="4658707" y="2544086"/>
              <a:ext cx="14973078" cy="1144410"/>
            </a:xfrm>
            <a:prstGeom prst="round2SameRect">
              <a:avLst>
                <a:gd name="adj1" fmla="val 50000"/>
                <a:gd name="adj2" fmla="val 50000"/>
              </a:avLst>
            </a:prstGeom>
            <a:gradFill>
              <a:gsLst>
                <a:gs pos="17000">
                  <a:srgbClr val="3EB3DF"/>
                </a:gs>
                <a:gs pos="54000">
                  <a:srgbClr val="3997D3"/>
                </a:gs>
                <a:gs pos="79000">
                  <a:srgbClr val="337AC7"/>
                </a:gs>
              </a:gsLst>
              <a:lin ang="168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F2CF22C-C2F0-F008-4E5D-D02D879AD332}"/>
                </a:ext>
              </a:extLst>
            </p:cNvPr>
            <p:cNvSpPr/>
            <p:nvPr/>
          </p:nvSpPr>
          <p:spPr>
            <a:xfrm>
              <a:off x="4211208" y="2482845"/>
              <a:ext cx="1295401" cy="1295402"/>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a:extLst>
                <a:ext uri="{FF2B5EF4-FFF2-40B4-BE49-F238E27FC236}">
                  <a16:creationId xmlns:a16="http://schemas.microsoft.com/office/drawing/2014/main" id="{1EF2EE94-04A0-8C2D-94F1-DF478C5C9989}"/>
                </a:ext>
              </a:extLst>
            </p:cNvPr>
            <p:cNvSpPr txBox="1"/>
            <p:nvPr/>
          </p:nvSpPr>
          <p:spPr>
            <a:xfrm>
              <a:off x="4369414" y="2675974"/>
              <a:ext cx="949567" cy="924677"/>
            </a:xfrm>
            <a:prstGeom prst="rect">
              <a:avLst/>
            </a:prstGeom>
            <a:noFill/>
          </p:spPr>
          <p:txBody>
            <a:bodyPr wrap="square" rtlCol="0">
              <a:spAutoFit/>
            </a:bodyPr>
            <a:lstStyle/>
            <a:p>
              <a:pPr algn="ctr"/>
              <a:r>
                <a:rPr lang="en-US" sz="4800" dirty="0">
                  <a:solidFill>
                    <a:srgbClr val="002060"/>
                  </a:solidFill>
                  <a:latin typeface="DC-Monument Extended Ultrabold" pitchFamily="50" charset="0"/>
                </a:rPr>
                <a:t>II</a:t>
              </a:r>
            </a:p>
          </p:txBody>
        </p:sp>
        <p:sp>
          <p:nvSpPr>
            <p:cNvPr id="33" name="TextBox 32">
              <a:extLst>
                <a:ext uri="{FF2B5EF4-FFF2-40B4-BE49-F238E27FC236}">
                  <a16:creationId xmlns:a16="http://schemas.microsoft.com/office/drawing/2014/main" id="{6D88E6AB-3C63-7FF5-D5D6-EDFF0BA64D1B}"/>
                </a:ext>
              </a:extLst>
            </p:cNvPr>
            <p:cNvSpPr txBox="1"/>
            <p:nvPr/>
          </p:nvSpPr>
          <p:spPr>
            <a:xfrm>
              <a:off x="5591399" y="2737216"/>
              <a:ext cx="11447643" cy="787688"/>
            </a:xfrm>
            <a:prstGeom prst="rect">
              <a:avLst/>
            </a:prstGeom>
            <a:noFill/>
          </p:spPr>
          <p:txBody>
            <a:bodyPr wrap="square" rtlCol="0">
              <a:spAutoFit/>
            </a:bodyPr>
            <a:lstStyle/>
            <a:p>
              <a:r>
                <a:rPr lang="en-US" sz="40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SAI LẦM</a:t>
              </a:r>
            </a:p>
          </p:txBody>
        </p:sp>
      </p:grpSp>
      <p:grpSp>
        <p:nvGrpSpPr>
          <p:cNvPr id="34" name="Group 33">
            <a:extLst>
              <a:ext uri="{FF2B5EF4-FFF2-40B4-BE49-F238E27FC236}">
                <a16:creationId xmlns:a16="http://schemas.microsoft.com/office/drawing/2014/main" id="{A0FFE6C1-EF07-657C-0711-71618A6BFF80}"/>
              </a:ext>
            </a:extLst>
          </p:cNvPr>
          <p:cNvGrpSpPr/>
          <p:nvPr/>
        </p:nvGrpSpPr>
        <p:grpSpPr>
          <a:xfrm>
            <a:off x="2268113" y="5050134"/>
            <a:ext cx="13910079" cy="1164163"/>
            <a:chOff x="4211208" y="2482845"/>
            <a:chExt cx="15478195" cy="1295402"/>
          </a:xfrm>
        </p:grpSpPr>
        <p:sp>
          <p:nvSpPr>
            <p:cNvPr id="35" name="Rectangle: Top Corners Rounded 34">
              <a:extLst>
                <a:ext uri="{FF2B5EF4-FFF2-40B4-BE49-F238E27FC236}">
                  <a16:creationId xmlns:a16="http://schemas.microsoft.com/office/drawing/2014/main" id="{A5A927D9-B1B3-AF6E-BD2F-74D693635809}"/>
                </a:ext>
              </a:extLst>
            </p:cNvPr>
            <p:cNvSpPr/>
            <p:nvPr/>
          </p:nvSpPr>
          <p:spPr>
            <a:xfrm flipV="1">
              <a:off x="4658707" y="2544086"/>
              <a:ext cx="15030696" cy="1144410"/>
            </a:xfrm>
            <a:prstGeom prst="round2SameRect">
              <a:avLst>
                <a:gd name="adj1" fmla="val 50000"/>
                <a:gd name="adj2" fmla="val 50000"/>
              </a:avLst>
            </a:prstGeom>
            <a:gradFill>
              <a:gsLst>
                <a:gs pos="17000">
                  <a:srgbClr val="3EB3DF"/>
                </a:gs>
                <a:gs pos="54000">
                  <a:srgbClr val="3997D3"/>
                </a:gs>
                <a:gs pos="79000">
                  <a:srgbClr val="337AC7"/>
                </a:gs>
              </a:gsLst>
              <a:lin ang="168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F1A2272E-195F-7363-8FED-0E469AD9B166}"/>
                </a:ext>
              </a:extLst>
            </p:cNvPr>
            <p:cNvSpPr/>
            <p:nvPr/>
          </p:nvSpPr>
          <p:spPr>
            <a:xfrm>
              <a:off x="4211208" y="2482845"/>
              <a:ext cx="1295401" cy="1295402"/>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29BD7457-2E1A-C4CE-8C15-D2CE1767984F}"/>
                </a:ext>
              </a:extLst>
            </p:cNvPr>
            <p:cNvSpPr txBox="1"/>
            <p:nvPr/>
          </p:nvSpPr>
          <p:spPr>
            <a:xfrm>
              <a:off x="4369414" y="2675974"/>
              <a:ext cx="949567" cy="924677"/>
            </a:xfrm>
            <a:prstGeom prst="rect">
              <a:avLst/>
            </a:prstGeom>
            <a:noFill/>
          </p:spPr>
          <p:txBody>
            <a:bodyPr wrap="square" rtlCol="0">
              <a:spAutoFit/>
            </a:bodyPr>
            <a:lstStyle/>
            <a:p>
              <a:pPr algn="ctr"/>
              <a:r>
                <a:rPr lang="en-US" sz="4800" dirty="0">
                  <a:solidFill>
                    <a:srgbClr val="002060"/>
                  </a:solidFill>
                  <a:latin typeface="DC-Monument Extended Ultrabold" pitchFamily="50" charset="0"/>
                </a:rPr>
                <a:t>III</a:t>
              </a:r>
            </a:p>
          </p:txBody>
        </p:sp>
        <p:sp>
          <p:nvSpPr>
            <p:cNvPr id="38" name="TextBox 37">
              <a:extLst>
                <a:ext uri="{FF2B5EF4-FFF2-40B4-BE49-F238E27FC236}">
                  <a16:creationId xmlns:a16="http://schemas.microsoft.com/office/drawing/2014/main" id="{9C8D2C60-4E8C-E156-82C2-13DC9C14A4FA}"/>
                </a:ext>
              </a:extLst>
            </p:cNvPr>
            <p:cNvSpPr txBox="1"/>
            <p:nvPr/>
          </p:nvSpPr>
          <p:spPr>
            <a:xfrm>
              <a:off x="5591399" y="2737216"/>
              <a:ext cx="14098004" cy="787688"/>
            </a:xfrm>
            <a:prstGeom prst="rect">
              <a:avLst/>
            </a:prstGeom>
            <a:noFill/>
          </p:spPr>
          <p:txBody>
            <a:bodyPr wrap="square" rtlCol="0">
              <a:spAutoFit/>
            </a:bodyPr>
            <a:lstStyle/>
            <a:p>
              <a:pPr algn="just"/>
              <a:r>
                <a:rPr lang="en-US" sz="4000" b="1" spc="-15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CẤU TRÚC NHIỆM VỤ VÀ BẢN CHẤT CỦA TÁC VỤ HẰNG NGÀY</a:t>
              </a:r>
            </a:p>
          </p:txBody>
        </p:sp>
      </p:grpSp>
      <p:grpSp>
        <p:nvGrpSpPr>
          <p:cNvPr id="40" name="Group 39">
            <a:extLst>
              <a:ext uri="{FF2B5EF4-FFF2-40B4-BE49-F238E27FC236}">
                <a16:creationId xmlns:a16="http://schemas.microsoft.com/office/drawing/2014/main" id="{4A0EBCC4-F6E6-E668-4C50-1865601D63FC}"/>
              </a:ext>
            </a:extLst>
          </p:cNvPr>
          <p:cNvGrpSpPr/>
          <p:nvPr/>
        </p:nvGrpSpPr>
        <p:grpSpPr>
          <a:xfrm>
            <a:off x="2285374" y="6476774"/>
            <a:ext cx="13892819" cy="1164164"/>
            <a:chOff x="4211208" y="2482845"/>
            <a:chExt cx="15458989" cy="1295402"/>
          </a:xfrm>
        </p:grpSpPr>
        <p:sp>
          <p:nvSpPr>
            <p:cNvPr id="58" name="Rectangle: Top Corners Rounded 57">
              <a:extLst>
                <a:ext uri="{FF2B5EF4-FFF2-40B4-BE49-F238E27FC236}">
                  <a16:creationId xmlns:a16="http://schemas.microsoft.com/office/drawing/2014/main" id="{F64D31F6-91AD-D823-750C-119FF8260D07}"/>
                </a:ext>
              </a:extLst>
            </p:cNvPr>
            <p:cNvSpPr/>
            <p:nvPr/>
          </p:nvSpPr>
          <p:spPr>
            <a:xfrm flipV="1">
              <a:off x="4658707" y="2544085"/>
              <a:ext cx="15011490" cy="1144410"/>
            </a:xfrm>
            <a:prstGeom prst="round2SameRect">
              <a:avLst>
                <a:gd name="adj1" fmla="val 50000"/>
                <a:gd name="adj2" fmla="val 50000"/>
              </a:avLst>
            </a:prstGeom>
            <a:gradFill>
              <a:gsLst>
                <a:gs pos="17000">
                  <a:srgbClr val="3EB3DF"/>
                </a:gs>
                <a:gs pos="54000">
                  <a:srgbClr val="3997D3"/>
                </a:gs>
                <a:gs pos="79000">
                  <a:srgbClr val="337AC7"/>
                </a:gs>
              </a:gsLst>
              <a:lin ang="168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2651A2FB-1A3D-798D-E9A6-986801B0799E}"/>
                </a:ext>
              </a:extLst>
            </p:cNvPr>
            <p:cNvSpPr/>
            <p:nvPr/>
          </p:nvSpPr>
          <p:spPr>
            <a:xfrm>
              <a:off x="4211208" y="2482845"/>
              <a:ext cx="1295401" cy="1295402"/>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TextBox 59">
              <a:extLst>
                <a:ext uri="{FF2B5EF4-FFF2-40B4-BE49-F238E27FC236}">
                  <a16:creationId xmlns:a16="http://schemas.microsoft.com/office/drawing/2014/main" id="{6A3C6938-68A5-1E83-7782-035B67E348E0}"/>
                </a:ext>
              </a:extLst>
            </p:cNvPr>
            <p:cNvSpPr txBox="1"/>
            <p:nvPr/>
          </p:nvSpPr>
          <p:spPr>
            <a:xfrm>
              <a:off x="4307454" y="2675974"/>
              <a:ext cx="1137195" cy="924677"/>
            </a:xfrm>
            <a:prstGeom prst="rect">
              <a:avLst/>
            </a:prstGeom>
            <a:noFill/>
          </p:spPr>
          <p:txBody>
            <a:bodyPr wrap="square" rtlCol="0">
              <a:spAutoFit/>
            </a:bodyPr>
            <a:lstStyle/>
            <a:p>
              <a:pPr algn="ctr"/>
              <a:r>
                <a:rPr lang="en-US" sz="4800" dirty="0">
                  <a:solidFill>
                    <a:srgbClr val="002060"/>
                  </a:solidFill>
                  <a:latin typeface="DC-Monument Extended Ultrabold" pitchFamily="50" charset="0"/>
                </a:rPr>
                <a:t>IV</a:t>
              </a:r>
            </a:p>
          </p:txBody>
        </p:sp>
        <p:sp>
          <p:nvSpPr>
            <p:cNvPr id="61" name="TextBox 60">
              <a:extLst>
                <a:ext uri="{FF2B5EF4-FFF2-40B4-BE49-F238E27FC236}">
                  <a16:creationId xmlns:a16="http://schemas.microsoft.com/office/drawing/2014/main" id="{24C68A1B-1117-8E51-4806-CF9B49DCEF77}"/>
                </a:ext>
              </a:extLst>
            </p:cNvPr>
            <p:cNvSpPr txBox="1"/>
            <p:nvPr/>
          </p:nvSpPr>
          <p:spPr>
            <a:xfrm>
              <a:off x="5591399" y="2737216"/>
              <a:ext cx="11447643" cy="787688"/>
            </a:xfrm>
            <a:prstGeom prst="rect">
              <a:avLst/>
            </a:prstGeom>
            <a:noFill/>
          </p:spPr>
          <p:txBody>
            <a:bodyPr wrap="square" rtlCol="0">
              <a:spAutoFit/>
            </a:bodyPr>
            <a:lstStyle/>
            <a:p>
              <a:r>
                <a:rPr lang="en-US" sz="40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BIỆN MINH CHO LỖI VÀ ÁP LỰC XÃ HỘI</a:t>
              </a:r>
            </a:p>
          </p:txBody>
        </p:sp>
      </p:grpSp>
      <p:grpSp>
        <p:nvGrpSpPr>
          <p:cNvPr id="62" name="Group 61">
            <a:extLst>
              <a:ext uri="{FF2B5EF4-FFF2-40B4-BE49-F238E27FC236}">
                <a16:creationId xmlns:a16="http://schemas.microsoft.com/office/drawing/2014/main" id="{220AAEA5-F55A-4C56-BA3E-96BA09C5CD8F}"/>
              </a:ext>
            </a:extLst>
          </p:cNvPr>
          <p:cNvGrpSpPr/>
          <p:nvPr/>
        </p:nvGrpSpPr>
        <p:grpSpPr>
          <a:xfrm>
            <a:off x="2250853" y="7869534"/>
            <a:ext cx="13892819" cy="1164164"/>
            <a:chOff x="4211208" y="2482845"/>
            <a:chExt cx="15458990" cy="1295402"/>
          </a:xfrm>
        </p:grpSpPr>
        <p:sp>
          <p:nvSpPr>
            <p:cNvPr id="63" name="Rectangle: Top Corners Rounded 62">
              <a:extLst>
                <a:ext uri="{FF2B5EF4-FFF2-40B4-BE49-F238E27FC236}">
                  <a16:creationId xmlns:a16="http://schemas.microsoft.com/office/drawing/2014/main" id="{B16E9A94-B070-9618-17DA-1E2A0A25360B}"/>
                </a:ext>
              </a:extLst>
            </p:cNvPr>
            <p:cNvSpPr/>
            <p:nvPr/>
          </p:nvSpPr>
          <p:spPr>
            <a:xfrm flipV="1">
              <a:off x="4658707" y="2544085"/>
              <a:ext cx="15011491" cy="1144410"/>
            </a:xfrm>
            <a:prstGeom prst="round2SameRect">
              <a:avLst>
                <a:gd name="adj1" fmla="val 50000"/>
                <a:gd name="adj2" fmla="val 50000"/>
              </a:avLst>
            </a:prstGeom>
            <a:gradFill>
              <a:gsLst>
                <a:gs pos="17000">
                  <a:srgbClr val="3EB3DF"/>
                </a:gs>
                <a:gs pos="54000">
                  <a:srgbClr val="3997D3"/>
                </a:gs>
                <a:gs pos="79000">
                  <a:srgbClr val="337AC7"/>
                </a:gs>
              </a:gsLst>
              <a:lin ang="168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AB53706D-4F2A-3AC7-38D0-3CC9C2E04F0C}"/>
                </a:ext>
              </a:extLst>
            </p:cNvPr>
            <p:cNvSpPr/>
            <p:nvPr/>
          </p:nvSpPr>
          <p:spPr>
            <a:xfrm>
              <a:off x="4211208" y="2482845"/>
              <a:ext cx="1295401" cy="1295402"/>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TextBox 64">
              <a:extLst>
                <a:ext uri="{FF2B5EF4-FFF2-40B4-BE49-F238E27FC236}">
                  <a16:creationId xmlns:a16="http://schemas.microsoft.com/office/drawing/2014/main" id="{CC52B1E1-CE0E-97A3-A1D9-3C43B6891CD9}"/>
                </a:ext>
              </a:extLst>
            </p:cNvPr>
            <p:cNvSpPr txBox="1"/>
            <p:nvPr/>
          </p:nvSpPr>
          <p:spPr>
            <a:xfrm>
              <a:off x="4307454" y="2675974"/>
              <a:ext cx="1137195" cy="924677"/>
            </a:xfrm>
            <a:prstGeom prst="rect">
              <a:avLst/>
            </a:prstGeom>
            <a:noFill/>
          </p:spPr>
          <p:txBody>
            <a:bodyPr wrap="square" rtlCol="0">
              <a:spAutoFit/>
            </a:bodyPr>
            <a:lstStyle/>
            <a:p>
              <a:pPr algn="ctr"/>
              <a:r>
                <a:rPr lang="en-US" sz="4800" dirty="0">
                  <a:solidFill>
                    <a:srgbClr val="002060"/>
                  </a:solidFill>
                  <a:latin typeface="DC-Monument Extended Ultrabold" pitchFamily="50" charset="0"/>
                </a:rPr>
                <a:t>V</a:t>
              </a:r>
            </a:p>
          </p:txBody>
        </p:sp>
        <p:sp>
          <p:nvSpPr>
            <p:cNvPr id="66" name="TextBox 65">
              <a:extLst>
                <a:ext uri="{FF2B5EF4-FFF2-40B4-BE49-F238E27FC236}">
                  <a16:creationId xmlns:a16="http://schemas.microsoft.com/office/drawing/2014/main" id="{5A9F94F8-D449-E897-ED90-2F9CB066EDFD}"/>
                </a:ext>
              </a:extLst>
            </p:cNvPr>
            <p:cNvSpPr txBox="1"/>
            <p:nvPr/>
          </p:nvSpPr>
          <p:spPr>
            <a:xfrm>
              <a:off x="5591399" y="2737217"/>
              <a:ext cx="13007106" cy="787687"/>
            </a:xfrm>
            <a:prstGeom prst="rect">
              <a:avLst/>
            </a:prstGeom>
            <a:noFill/>
          </p:spPr>
          <p:txBody>
            <a:bodyPr wrap="square" rtlCol="0">
              <a:spAutoFit/>
            </a:bodyPr>
            <a:lstStyle/>
            <a:p>
              <a:r>
                <a:rPr lang="en-US" sz="40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THIẾT KẾ ĐỂ CHỊU LỖI. MỘT TRIẾT LÝ THIẾT KẾ</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40B6EE3F-1DBF-7DD6-EC38-C28880195C10}"/>
              </a:ext>
            </a:extLst>
          </p:cNvPr>
          <p:cNvPicPr>
            <a:picLocks noChangeAspect="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1204A2FE-AF1F-2901-4FB3-681D60BE97D8}"/>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21" name="TextBox 5">
            <a:extLst>
              <a:ext uri="{FF2B5EF4-FFF2-40B4-BE49-F238E27FC236}">
                <a16:creationId xmlns:a16="http://schemas.microsoft.com/office/drawing/2014/main" id="{AC8DD292-B12E-E2BD-5F9F-5494FB4D9593}"/>
              </a:ext>
            </a:extLst>
          </p:cNvPr>
          <p:cNvSpPr txBox="1"/>
          <p:nvPr/>
        </p:nvSpPr>
        <p:spPr>
          <a:xfrm>
            <a:off x="2667000" y="3695700"/>
            <a:ext cx="12954000" cy="2708434"/>
          </a:xfrm>
          <a:prstGeom prst="rect">
            <a:avLst/>
          </a:prstGeom>
        </p:spPr>
        <p:txBody>
          <a:bodyPr wrap="square" lIns="0" tIns="0" rIns="0" bIns="0" rtlCol="0" anchor="ctr">
            <a:spAutoFit/>
          </a:bodyPr>
          <a:lstStyle/>
          <a:p>
            <a:pPr algn="just"/>
            <a:r>
              <a:rPr lang="vi-VN" sz="4400" i="0" u="none" strike="noStrike" dirty="0">
                <a:solidFill>
                  <a:srgbClr val="002060"/>
                </a:solidFill>
                <a:effectLst/>
                <a:latin typeface="Source Sans Pro" panose="020B0503030403020204" pitchFamily="34" charset="0"/>
                <a:ea typeface="Source Sans Pro" panose="020B0503030403020204" pitchFamily="34" charset="0"/>
              </a:rPr>
              <a:t>Con người </a:t>
            </a:r>
            <a:r>
              <a:rPr lang="vi-VN" sz="4400" b="1" i="0" u="none" strike="noStrike" dirty="0">
                <a:solidFill>
                  <a:srgbClr val="002060"/>
                </a:solidFill>
                <a:effectLst/>
                <a:latin typeface="Source Sans Pro" panose="020B0503030403020204" pitchFamily="34" charset="0"/>
                <a:ea typeface="Source Sans Pro" panose="020B0503030403020204" pitchFamily="34" charset="0"/>
              </a:rPr>
              <a:t>mắc lỗi thường xuyên</a:t>
            </a:r>
            <a:r>
              <a:rPr lang="vi-VN" sz="4400" i="0" u="none" strike="noStrike" dirty="0">
                <a:solidFill>
                  <a:srgbClr val="002060"/>
                </a:solidFill>
                <a:effectLst/>
                <a:latin typeface="Source Sans Pro" panose="020B0503030403020204" pitchFamily="34" charset="0"/>
                <a:ea typeface="Source Sans Pro" panose="020B0503030403020204" pitchFamily="34" charset="0"/>
              </a:rPr>
              <a:t>. Hầu như không một phút nào của cuộc trò chuyện bình thường trôi qua mà không có vấp váp, lặp lại, một cụm từ bị dừng lại giữa chừng để bị loại bỏ hoặc làm lại.</a:t>
            </a:r>
            <a:endParaRPr lang="en-US" sz="60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12" name="TextBox 14">
            <a:extLst>
              <a:ext uri="{FF2B5EF4-FFF2-40B4-BE49-F238E27FC236}">
                <a16:creationId xmlns:a16="http://schemas.microsoft.com/office/drawing/2014/main" id="{E7294FD4-6095-F9BB-4F04-CCDBCBA18F3A}"/>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FA80BC5E-7F4C-281F-3E2A-58A1F8E878FE}"/>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pic>
        <p:nvPicPr>
          <p:cNvPr id="28" name="Picture 27" descr="A blue logo with a black background&#10;&#10;AI-generated content may be incorrect.">
            <a:extLst>
              <a:ext uri="{FF2B5EF4-FFF2-40B4-BE49-F238E27FC236}">
                <a16:creationId xmlns:a16="http://schemas.microsoft.com/office/drawing/2014/main" id="{F29F8A95-F4A5-2DE0-B264-8EFCB42D19B8}"/>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5A88D338-BF3C-7438-8AA6-08B3520585E8}"/>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81DD648C-292C-AD93-A259-1CCFA3558FDF}"/>
              </a:ext>
            </a:extLst>
          </p:cNvPr>
          <p:cNvSpPr>
            <a:spLocks noGrp="1"/>
          </p:cNvSpPr>
          <p:nvPr>
            <p:ph type="sldNum" sz="quarter" idx="12"/>
          </p:nvPr>
        </p:nvSpPr>
        <p:spPr>
          <a:xfrm>
            <a:off x="17145000" y="9854438"/>
            <a:ext cx="602065"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3</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4" name="TextBox 5">
            <a:extLst>
              <a:ext uri="{FF2B5EF4-FFF2-40B4-BE49-F238E27FC236}">
                <a16:creationId xmlns:a16="http://schemas.microsoft.com/office/drawing/2014/main" id="{86413D00-1471-2127-7FCB-DF11C7F4771E}"/>
              </a:ext>
            </a:extLst>
          </p:cNvPr>
          <p:cNvSpPr txBox="1"/>
          <p:nvPr/>
        </p:nvSpPr>
        <p:spPr>
          <a:xfrm>
            <a:off x="1476465" y="2684770"/>
            <a:ext cx="1040076" cy="3677930"/>
          </a:xfrm>
          <a:prstGeom prst="rect">
            <a:avLst/>
          </a:prstGeom>
        </p:spPr>
        <p:txBody>
          <a:bodyPr wrap="square" lIns="0" tIns="0" rIns="0" bIns="0" rtlCol="0" anchor="ctr">
            <a:spAutoFit/>
          </a:bodyPr>
          <a:lstStyle/>
          <a:p>
            <a:pPr algn="just"/>
            <a:r>
              <a:rPr lang="en-US" sz="23900" i="0" u="none" strike="noStrike" dirty="0">
                <a:solidFill>
                  <a:srgbClr val="002060"/>
                </a:solidFill>
                <a:effectLst/>
                <a:latin typeface="Source Sans Pro" panose="020B0503030403020204" pitchFamily="34" charset="0"/>
                <a:ea typeface="Source Sans Pro" panose="020B0503030403020204" pitchFamily="34" charset="0"/>
              </a:rPr>
              <a:t>“</a:t>
            </a:r>
            <a:endParaRPr lang="en-US" sz="413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5" name="TextBox 5">
            <a:extLst>
              <a:ext uri="{FF2B5EF4-FFF2-40B4-BE49-F238E27FC236}">
                <a16:creationId xmlns:a16="http://schemas.microsoft.com/office/drawing/2014/main" id="{7608C2BB-6EC1-A025-0E29-0CD4AD57DFCB}"/>
              </a:ext>
            </a:extLst>
          </p:cNvPr>
          <p:cNvSpPr txBox="1"/>
          <p:nvPr/>
        </p:nvSpPr>
        <p:spPr>
          <a:xfrm>
            <a:off x="15544800" y="5961370"/>
            <a:ext cx="1040076" cy="3677930"/>
          </a:xfrm>
          <a:prstGeom prst="rect">
            <a:avLst/>
          </a:prstGeom>
        </p:spPr>
        <p:txBody>
          <a:bodyPr wrap="square" lIns="0" tIns="0" rIns="0" bIns="0" rtlCol="0" anchor="ctr">
            <a:spAutoFit/>
          </a:bodyPr>
          <a:lstStyle/>
          <a:p>
            <a:pPr algn="just"/>
            <a:r>
              <a:rPr lang="en-US" sz="23900" i="0" u="none" strike="noStrike" dirty="0">
                <a:solidFill>
                  <a:srgbClr val="002060"/>
                </a:solidFill>
                <a:effectLst/>
                <a:latin typeface="Source Sans Pro" panose="020B0503030403020204" pitchFamily="34" charset="0"/>
                <a:ea typeface="Source Sans Pro" panose="020B0503030403020204" pitchFamily="34" charset="0"/>
              </a:rPr>
              <a:t>”</a:t>
            </a:r>
            <a:endParaRPr lang="en-US" sz="413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6" name="TextBox 5">
            <a:extLst>
              <a:ext uri="{FF2B5EF4-FFF2-40B4-BE49-F238E27FC236}">
                <a16:creationId xmlns:a16="http://schemas.microsoft.com/office/drawing/2014/main" id="{ADB429FB-D9AB-7F12-4783-51CD7C32E7B0}"/>
              </a:ext>
            </a:extLst>
          </p:cNvPr>
          <p:cNvSpPr txBox="1"/>
          <p:nvPr/>
        </p:nvSpPr>
        <p:spPr>
          <a:xfrm>
            <a:off x="2667000" y="6556057"/>
            <a:ext cx="12954000" cy="492443"/>
          </a:xfrm>
          <a:prstGeom prst="rect">
            <a:avLst/>
          </a:prstGeom>
        </p:spPr>
        <p:txBody>
          <a:bodyPr wrap="square" lIns="0" tIns="0" rIns="0" bIns="0" rtlCol="0" anchor="ctr">
            <a:spAutoFit/>
          </a:bodyPr>
          <a:lstStyle/>
          <a:p>
            <a:pPr algn="r"/>
            <a:r>
              <a:rPr lang="en-US" sz="3200" i="1" spc="11" dirty="0">
                <a:solidFill>
                  <a:srgbClr val="002060"/>
                </a:solidFill>
                <a:latin typeface="Source Sans Pro" panose="020B0503030403020204" pitchFamily="34" charset="0"/>
                <a:ea typeface="Source Sans Pro" panose="020B0503030403020204" pitchFamily="34" charset="0"/>
                <a:cs typeface="Source Sans Pro"/>
                <a:sym typeface="Source Sans Pro"/>
              </a:rPr>
              <a:t>Donald A. Norman – The Design of Everyday Things (</a:t>
            </a:r>
            <a:r>
              <a:rPr lang="en-US" sz="3200" i="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Bản</a:t>
            </a:r>
            <a:r>
              <a:rPr lang="en-US" sz="3200" i="1"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3200" i="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dịch</a:t>
            </a:r>
            <a:r>
              <a:rPr lang="en-US" sz="3200" i="1" spc="11" dirty="0">
                <a:solidFill>
                  <a:srgbClr val="002060"/>
                </a:solidFill>
                <a:latin typeface="Source Sans Pro" panose="020B0503030403020204" pitchFamily="34" charset="0"/>
                <a:ea typeface="Source Sans Pro" panose="020B0503030403020204" pitchFamily="34" charset="0"/>
                <a:cs typeface="Source Sans Pro"/>
                <a:sym typeface="Source Sans Pro"/>
              </a:rPr>
              <a:t>)</a:t>
            </a:r>
            <a:endParaRPr lang="en-US" sz="4400" i="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5CAC71A4-849B-58FF-00B6-8EA0A1ECF8ED}"/>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B10727B9-7AA8-522C-81E9-9C37051A6B14}"/>
              </a:ext>
            </a:extLst>
          </p:cNvPr>
          <p:cNvPicPr>
            <a:picLocks noChangeAspect="1"/>
          </p:cNvPicPr>
          <p:nvPr/>
        </p:nvPicPr>
        <p:blipFill>
          <a:blip r:embed="rId2" cstate="print">
            <a:alphaModFix amt="5000"/>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8" name="Freeform 8">
            <a:extLst>
              <a:ext uri="{FF2B5EF4-FFF2-40B4-BE49-F238E27FC236}">
                <a16:creationId xmlns:a16="http://schemas.microsoft.com/office/drawing/2014/main" id="{052F11B6-9E2E-8AE4-7FBE-63E3B819DFE5}"/>
              </a:ext>
            </a:extLst>
          </p:cNvPr>
          <p:cNvSpPr/>
          <p:nvPr/>
        </p:nvSpPr>
        <p:spPr>
          <a:xfrm rot="-10800000">
            <a:off x="11658600" y="-1333500"/>
            <a:ext cx="9344187" cy="5221064"/>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4">
              <a:alphaModFix amt="69000"/>
            </a:blip>
            <a:stretch>
              <a:fillRect/>
            </a:stretch>
          </a:blipFill>
        </p:spPr>
        <p:txBody>
          <a:bodyPr/>
          <a:lstStyle/>
          <a:p>
            <a:endParaRPr lang="en-US"/>
          </a:p>
        </p:txBody>
      </p:sp>
      <p:sp>
        <p:nvSpPr>
          <p:cNvPr id="10" name="Freeform 10">
            <a:extLst>
              <a:ext uri="{FF2B5EF4-FFF2-40B4-BE49-F238E27FC236}">
                <a16:creationId xmlns:a16="http://schemas.microsoft.com/office/drawing/2014/main" id="{EBDD7D38-8AA6-FD22-C072-58A9344FADBE}"/>
              </a:ext>
            </a:extLst>
          </p:cNvPr>
          <p:cNvSpPr/>
          <p:nvPr/>
        </p:nvSpPr>
        <p:spPr>
          <a:xfrm rot="-10800000" flipH="1" flipV="1">
            <a:off x="-2667000" y="6362700"/>
            <a:ext cx="9344187" cy="5221064"/>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4">
              <a:alphaModFix amt="69000"/>
            </a:blip>
            <a:stretch>
              <a:fillRect/>
            </a:stretch>
          </a:blipFill>
        </p:spPr>
        <p:txBody>
          <a:bodyPr/>
          <a:lstStyle/>
          <a:p>
            <a:endParaRPr lang="en-US"/>
          </a:p>
        </p:txBody>
      </p:sp>
      <p:sp>
        <p:nvSpPr>
          <p:cNvPr id="2" name="TextBox 9">
            <a:extLst>
              <a:ext uri="{FF2B5EF4-FFF2-40B4-BE49-F238E27FC236}">
                <a16:creationId xmlns:a16="http://schemas.microsoft.com/office/drawing/2014/main" id="{E9858514-4E4C-C001-4155-A4D7AFA365C5}"/>
              </a:ext>
            </a:extLst>
          </p:cNvPr>
          <p:cNvSpPr txBox="1"/>
          <p:nvPr/>
        </p:nvSpPr>
        <p:spPr>
          <a:xfrm>
            <a:off x="3886200" y="5248134"/>
            <a:ext cx="3200399" cy="2181366"/>
          </a:xfrm>
          <a:prstGeom prst="rect">
            <a:avLst/>
          </a:prstGeom>
        </p:spPr>
        <p:txBody>
          <a:bodyPr wrap="square" lIns="0" tIns="0" rIns="0" bIns="0" rtlCol="0" anchor="ctr">
            <a:spAutoFit/>
          </a:bodyPr>
          <a:lstStyle/>
          <a:p>
            <a:pPr lvl="1" algn="ctr">
              <a:lnSpc>
                <a:spcPts val="11200"/>
              </a:lnSpc>
            </a:pPr>
            <a:r>
              <a:rPr lang="en-US" sz="287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I.</a:t>
            </a:r>
          </a:p>
        </p:txBody>
      </p:sp>
      <p:sp>
        <p:nvSpPr>
          <p:cNvPr id="3" name="TextBox 9">
            <a:extLst>
              <a:ext uri="{FF2B5EF4-FFF2-40B4-BE49-F238E27FC236}">
                <a16:creationId xmlns:a16="http://schemas.microsoft.com/office/drawing/2014/main" id="{8B9E2A99-4B5B-B313-566F-E652652B7FCB}"/>
              </a:ext>
            </a:extLst>
          </p:cNvPr>
          <p:cNvSpPr txBox="1"/>
          <p:nvPr/>
        </p:nvSpPr>
        <p:spPr>
          <a:xfrm>
            <a:off x="6934200" y="3576578"/>
            <a:ext cx="7391400" cy="2862322"/>
          </a:xfrm>
          <a:prstGeom prst="rect">
            <a:avLst/>
          </a:prstGeom>
        </p:spPr>
        <p:txBody>
          <a:bodyPr wrap="square" lIns="0" tIns="0" rIns="0" bIns="0" rtlCol="0" anchor="ctr">
            <a:spAutoFit/>
          </a:bodyPr>
          <a:lstStyle/>
          <a:p>
            <a:pPr lvl="1">
              <a:spcAft>
                <a:spcPts val="1200"/>
              </a:spcAft>
            </a:pPr>
            <a:r>
              <a:rPr lang="en-US" sz="88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 SUẤT</a:t>
            </a:r>
          </a:p>
          <a:p>
            <a:pPr lvl="1">
              <a:spcAft>
                <a:spcPts val="1200"/>
              </a:spcAft>
            </a:pPr>
            <a:r>
              <a:rPr lang="en-US" sz="88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(SLIPS)</a:t>
            </a:r>
          </a:p>
        </p:txBody>
      </p:sp>
      <p:pic>
        <p:nvPicPr>
          <p:cNvPr id="4" name="Picture 3" descr="A blue logo with a black background&#10;&#10;AI-generated content may be incorrect.">
            <a:extLst>
              <a:ext uri="{FF2B5EF4-FFF2-40B4-BE49-F238E27FC236}">
                <a16:creationId xmlns:a16="http://schemas.microsoft.com/office/drawing/2014/main" id="{DE0FFD94-D243-1ACE-C674-95DAD3522AF0}"/>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685800" y="571500"/>
            <a:ext cx="1403126" cy="1133024"/>
          </a:xfrm>
          <a:prstGeom prst="rect">
            <a:avLst/>
          </a:prstGeom>
        </p:spPr>
      </p:pic>
      <p:sp>
        <p:nvSpPr>
          <p:cNvPr id="5" name="Freeform 13">
            <a:extLst>
              <a:ext uri="{FF2B5EF4-FFF2-40B4-BE49-F238E27FC236}">
                <a16:creationId xmlns:a16="http://schemas.microsoft.com/office/drawing/2014/main" id="{7ECFED05-A808-0A13-1E04-3AB511A15C29}"/>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6" name="Slide Number Placeholder 8">
            <a:extLst>
              <a:ext uri="{FF2B5EF4-FFF2-40B4-BE49-F238E27FC236}">
                <a16:creationId xmlns:a16="http://schemas.microsoft.com/office/drawing/2014/main" id="{1EE9A153-A75B-232E-052E-4CEB8A15BC3C}"/>
              </a:ext>
            </a:extLst>
          </p:cNvPr>
          <p:cNvSpPr>
            <a:spLocks noGrp="1"/>
          </p:cNvSpPr>
          <p:nvPr>
            <p:ph type="sldNum" sz="quarter" idx="12"/>
          </p:nvPr>
        </p:nvSpPr>
        <p:spPr>
          <a:xfrm>
            <a:off x="17145000" y="9854438"/>
            <a:ext cx="602065"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4</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Tree>
    <p:extLst>
      <p:ext uri="{BB962C8B-B14F-4D97-AF65-F5344CB8AC3E}">
        <p14:creationId xmlns:p14="http://schemas.microsoft.com/office/powerpoint/2010/main" val="2903632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326DB-D4C1-5A17-F706-AC8B6F9EF572}"/>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41CBACDB-6C25-61DD-058A-7657545BD548}"/>
              </a:ext>
            </a:extLst>
          </p:cNvPr>
          <p:cNvPicPr>
            <a:picLocks noChangeAspect="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4DC5BCA3-1189-D89D-10BE-FC5CE50E256B}"/>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21" name="TextBox 5">
            <a:extLst>
              <a:ext uri="{FF2B5EF4-FFF2-40B4-BE49-F238E27FC236}">
                <a16:creationId xmlns:a16="http://schemas.microsoft.com/office/drawing/2014/main" id="{84EB48E6-D9ED-70FF-BE18-E66E2066647D}"/>
              </a:ext>
            </a:extLst>
          </p:cNvPr>
          <p:cNvSpPr txBox="1"/>
          <p:nvPr/>
        </p:nvSpPr>
        <p:spPr>
          <a:xfrm>
            <a:off x="1371600" y="2994541"/>
            <a:ext cx="8915400" cy="5416868"/>
          </a:xfrm>
          <a:prstGeom prst="rect">
            <a:avLst/>
          </a:prstGeom>
        </p:spPr>
        <p:txBody>
          <a:bodyPr wrap="square" lIns="0" tIns="0" rIns="0" bIns="0" rtlCol="0" anchor="ctr">
            <a:spAutoFit/>
          </a:bodyPr>
          <a:lstStyle/>
          <a:p>
            <a:pPr algn="just"/>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Phát sinh từ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hành vi tự động </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khi các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hành động tiềm thức đi chệch hướng</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mặc dù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mục tiêu ban đầu là phù hợp. </a:t>
            </a:r>
            <a:endPar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a:p>
            <a:pPr algn="just"/>
            <a:endPar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a:p>
            <a:pPr algn="just"/>
            <a:r>
              <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T</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hường </a:t>
            </a:r>
            <a:r>
              <a:rPr lang="en-US" sz="44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xuất</a:t>
            </a:r>
            <a:r>
              <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phát</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những sự việc nhỏ, dễ dàng phát hiện bằng cách quan sát đơn giản.</a:t>
            </a:r>
            <a:endParaRPr lang="en-US" sz="60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12" name="TextBox 14">
            <a:extLst>
              <a:ext uri="{FF2B5EF4-FFF2-40B4-BE49-F238E27FC236}">
                <a16:creationId xmlns:a16="http://schemas.microsoft.com/office/drawing/2014/main" id="{531A3227-814E-CFB3-C327-791FF9D00E29}"/>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B22AFBD0-8B82-52BA-D524-8844F61C5111}"/>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C4CA389F-8179-0126-5F44-D7F548AD894D}"/>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a:t>
            </a:r>
          </a:p>
        </p:txBody>
      </p:sp>
      <p:sp>
        <p:nvSpPr>
          <p:cNvPr id="27" name="TextBox 26">
            <a:extLst>
              <a:ext uri="{FF2B5EF4-FFF2-40B4-BE49-F238E27FC236}">
                <a16:creationId xmlns:a16="http://schemas.microsoft.com/office/drawing/2014/main" id="{7076F303-8F7B-0050-BAA8-AA3A6D3CA621}"/>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 SUẤT</a:t>
            </a:r>
          </a:p>
        </p:txBody>
      </p:sp>
      <p:pic>
        <p:nvPicPr>
          <p:cNvPr id="28" name="Picture 27" descr="A blue logo with a black background&#10;&#10;AI-generated content may be incorrect.">
            <a:extLst>
              <a:ext uri="{FF2B5EF4-FFF2-40B4-BE49-F238E27FC236}">
                <a16:creationId xmlns:a16="http://schemas.microsoft.com/office/drawing/2014/main" id="{B22D9651-4C8C-4AFC-94B8-038BB48C9287}"/>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C93E5A4A-03ED-35C3-93C1-04027A727A83}"/>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66C2C78A-A3B2-1E62-5B44-06046F6F4494}"/>
              </a:ext>
            </a:extLst>
          </p:cNvPr>
          <p:cNvSpPr>
            <a:spLocks noGrp="1"/>
          </p:cNvSpPr>
          <p:nvPr>
            <p:ph type="sldNum" sz="quarter" idx="12"/>
          </p:nvPr>
        </p:nvSpPr>
        <p:spPr>
          <a:xfrm>
            <a:off x="17145000" y="9854438"/>
            <a:ext cx="602065"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5</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3" name="TextBox 2">
            <a:extLst>
              <a:ext uri="{FF2B5EF4-FFF2-40B4-BE49-F238E27FC236}">
                <a16:creationId xmlns:a16="http://schemas.microsoft.com/office/drawing/2014/main" id="{1E98F4F9-630B-305E-2171-76A6A2B00C80}"/>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Định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nghĩa</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pic>
        <p:nvPicPr>
          <p:cNvPr id="8" name="Picture 2">
            <a:extLst>
              <a:ext uri="{FF2B5EF4-FFF2-40B4-BE49-F238E27FC236}">
                <a16:creationId xmlns:a16="http://schemas.microsoft.com/office/drawing/2014/main" id="{9CB47AF8-E619-F8D2-91FC-5B8EF9B050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77600" y="2324100"/>
            <a:ext cx="5638800" cy="56388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5">
            <a:extLst>
              <a:ext uri="{FF2B5EF4-FFF2-40B4-BE49-F238E27FC236}">
                <a16:creationId xmlns:a16="http://schemas.microsoft.com/office/drawing/2014/main" id="{DDAE10DD-276A-44E0-6C7C-A467F2B580BB}"/>
              </a:ext>
            </a:extLst>
          </p:cNvPr>
          <p:cNvSpPr txBox="1"/>
          <p:nvPr/>
        </p:nvSpPr>
        <p:spPr>
          <a:xfrm>
            <a:off x="1371600" y="2095500"/>
            <a:ext cx="4497705" cy="677108"/>
          </a:xfrm>
          <a:prstGeom prst="rect">
            <a:avLst/>
          </a:prstGeom>
        </p:spPr>
        <p:txBody>
          <a:bodyPr wrap="square" lIns="0" tIns="0" rIns="0" bIns="0" rtlCol="0" anchor="ctr">
            <a:spAutoFit/>
          </a:bodyPr>
          <a:lstStyle/>
          <a:p>
            <a:r>
              <a:rPr lang="en-US" sz="4400" b="1" i="0" u="none" strike="noStrike" dirty="0" err="1">
                <a:solidFill>
                  <a:srgbClr val="002060"/>
                </a:solidFill>
                <a:effectLst/>
                <a:latin typeface="Source Sans Pro" panose="020B0503030403020204" pitchFamily="34" charset="0"/>
                <a:ea typeface="Source Sans Pro" panose="020B0503030403020204" pitchFamily="34" charset="0"/>
              </a:rPr>
              <a:t>Sơ</a:t>
            </a:r>
            <a:r>
              <a:rPr lang="en-US" sz="44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400" b="1" i="0" u="none" strike="noStrike" dirty="0" err="1">
                <a:solidFill>
                  <a:srgbClr val="002060"/>
                </a:solidFill>
                <a:effectLst/>
                <a:latin typeface="Source Sans Pro" panose="020B0503030403020204" pitchFamily="34" charset="0"/>
                <a:ea typeface="Source Sans Pro" panose="020B0503030403020204" pitchFamily="34" charset="0"/>
              </a:rPr>
              <a:t>suất</a:t>
            </a:r>
            <a:r>
              <a:rPr lang="en-US" sz="44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(Slips)</a:t>
            </a:r>
            <a:endParaRPr lang="en-US" sz="60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Tree>
    <p:extLst>
      <p:ext uri="{BB962C8B-B14F-4D97-AF65-F5344CB8AC3E}">
        <p14:creationId xmlns:p14="http://schemas.microsoft.com/office/powerpoint/2010/main" val="2063399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4934D670-2035-9422-38D5-59A2D7679545}"/>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FCFE6933-F195-F5ED-F39F-5BADA9005758}"/>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63F2549B-5B12-D403-EEAB-E229E92AE3FB}"/>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D62953FA-D4C0-7133-E3D3-8D7914EC8A69}"/>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D6E42F9A-4EF3-61FB-9217-E3DDD03BBBBB}"/>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4EF9E3E8-4BA2-1850-3A4E-2767A5FEF3EC}"/>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a:t>
            </a:r>
          </a:p>
        </p:txBody>
      </p:sp>
      <p:sp>
        <p:nvSpPr>
          <p:cNvPr id="27" name="TextBox 26">
            <a:extLst>
              <a:ext uri="{FF2B5EF4-FFF2-40B4-BE49-F238E27FC236}">
                <a16:creationId xmlns:a16="http://schemas.microsoft.com/office/drawing/2014/main" id="{43BDA5E4-8B01-E89A-7536-2FC18711015D}"/>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 SUẤT</a:t>
            </a:r>
          </a:p>
        </p:txBody>
      </p:sp>
      <p:pic>
        <p:nvPicPr>
          <p:cNvPr id="28" name="Picture 27" descr="A blue logo with a black background&#10;&#10;AI-generated content may be incorrect.">
            <a:extLst>
              <a:ext uri="{FF2B5EF4-FFF2-40B4-BE49-F238E27FC236}">
                <a16:creationId xmlns:a16="http://schemas.microsoft.com/office/drawing/2014/main" id="{DA2584A9-79FC-9531-8695-4E31D92B71BE}"/>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B14B1407-0036-3CB4-1432-DBB315C6EAF1}"/>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8CA3A5EA-B79E-8840-CACC-5928C6BB54BC}"/>
              </a:ext>
            </a:extLst>
          </p:cNvPr>
          <p:cNvSpPr>
            <a:spLocks noGrp="1"/>
          </p:cNvSpPr>
          <p:nvPr>
            <p:ph type="sldNum" sz="quarter" idx="12"/>
          </p:nvPr>
        </p:nvSpPr>
        <p:spPr>
          <a:xfrm>
            <a:off x="17145000" y="9854438"/>
            <a:ext cx="602065"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6</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3" name="TextBox 2">
            <a:extLst>
              <a:ext uri="{FF2B5EF4-FFF2-40B4-BE49-F238E27FC236}">
                <a16:creationId xmlns:a16="http://schemas.microsoft.com/office/drawing/2014/main" id="{91CF33DD-7C78-CE78-12C4-E5FC025210DC}"/>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Các loại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suất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phổ</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biến</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cxnSp>
        <p:nvCxnSpPr>
          <p:cNvPr id="11" name="Straight Connector 10">
            <a:extLst>
              <a:ext uri="{FF2B5EF4-FFF2-40B4-BE49-F238E27FC236}">
                <a16:creationId xmlns:a16="http://schemas.microsoft.com/office/drawing/2014/main" id="{B6E0E925-9989-A42D-3BCB-D69E3AD30D07}"/>
              </a:ext>
            </a:extLst>
          </p:cNvPr>
          <p:cNvCxnSpPr>
            <a:cxnSpLocks/>
          </p:cNvCxnSpPr>
          <p:nvPr/>
        </p:nvCxnSpPr>
        <p:spPr>
          <a:xfrm>
            <a:off x="3097813" y="2019300"/>
            <a:ext cx="0" cy="7239000"/>
          </a:xfrm>
          <a:prstGeom prst="line">
            <a:avLst/>
          </a:prstGeom>
          <a:ln w="76200">
            <a:solidFill>
              <a:srgbClr val="002060"/>
            </a:solidFill>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5B3569FE-1090-D6F3-2054-B44A13BE7DC6}"/>
              </a:ext>
            </a:extLst>
          </p:cNvPr>
          <p:cNvSpPr/>
          <p:nvPr/>
        </p:nvSpPr>
        <p:spPr>
          <a:xfrm>
            <a:off x="2895601" y="2384278"/>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5" name="Group 114">
            <a:extLst>
              <a:ext uri="{FF2B5EF4-FFF2-40B4-BE49-F238E27FC236}">
                <a16:creationId xmlns:a16="http://schemas.microsoft.com/office/drawing/2014/main" id="{AB029147-54AF-2E64-3F43-F43F17EE45B8}"/>
              </a:ext>
            </a:extLst>
          </p:cNvPr>
          <p:cNvGrpSpPr/>
          <p:nvPr/>
        </p:nvGrpSpPr>
        <p:grpSpPr>
          <a:xfrm>
            <a:off x="3720276" y="2171700"/>
            <a:ext cx="12060501" cy="806153"/>
            <a:chOff x="3720276" y="2171700"/>
            <a:chExt cx="12060501" cy="806153"/>
          </a:xfrm>
        </p:grpSpPr>
        <p:sp>
          <p:nvSpPr>
            <p:cNvPr id="58" name="Rectangle: Diagonal Corners Snipped 57">
              <a:extLst>
                <a:ext uri="{FF2B5EF4-FFF2-40B4-BE49-F238E27FC236}">
                  <a16:creationId xmlns:a16="http://schemas.microsoft.com/office/drawing/2014/main" id="{F253BEBC-12E2-5386-623A-BD3AD5DF5F99}"/>
                </a:ext>
              </a:extLst>
            </p:cNvPr>
            <p:cNvSpPr/>
            <p:nvPr/>
          </p:nvSpPr>
          <p:spPr>
            <a:xfrm>
              <a:off x="3720276" y="2171700"/>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5">
              <a:extLst>
                <a:ext uri="{FF2B5EF4-FFF2-40B4-BE49-F238E27FC236}">
                  <a16:creationId xmlns:a16="http://schemas.microsoft.com/office/drawing/2014/main" id="{3F2F490E-A88B-25C7-BDAC-C09507C8D3C8}"/>
                </a:ext>
              </a:extLst>
            </p:cNvPr>
            <p:cNvSpPr txBox="1"/>
            <p:nvPr/>
          </p:nvSpPr>
          <p:spPr>
            <a:xfrm>
              <a:off x="3922486" y="2266999"/>
              <a:ext cx="9235963" cy="615553"/>
            </a:xfrm>
            <a:prstGeom prst="rect">
              <a:avLst/>
            </a:prstGeom>
          </p:spPr>
          <p:txBody>
            <a:bodyPr wrap="square" lIns="0" tIns="0" rIns="0" bIns="0" rtlCol="0" anchor="ctr">
              <a:spAutoFit/>
            </a:bodyPr>
            <a:lstStyle/>
            <a:p>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Lỗi</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bị</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chiếm</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đoạt</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(Capture Errors)</a:t>
              </a:r>
              <a:endParaRPr lang="en-US" sz="54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40" name="Oval 39">
            <a:extLst>
              <a:ext uri="{FF2B5EF4-FFF2-40B4-BE49-F238E27FC236}">
                <a16:creationId xmlns:a16="http://schemas.microsoft.com/office/drawing/2014/main" id="{965F3F8D-4762-6E00-E4D1-BFA8D0764CDB}"/>
              </a:ext>
            </a:extLst>
          </p:cNvPr>
          <p:cNvSpPr/>
          <p:nvPr/>
        </p:nvSpPr>
        <p:spPr>
          <a:xfrm>
            <a:off x="2895600" y="3603479"/>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828AD0DE-5E92-70D3-5EE7-35BC68468FA9}"/>
              </a:ext>
            </a:extLst>
          </p:cNvPr>
          <p:cNvGrpSpPr/>
          <p:nvPr/>
        </p:nvGrpSpPr>
        <p:grpSpPr>
          <a:xfrm>
            <a:off x="3690372" y="3389726"/>
            <a:ext cx="12060501" cy="806153"/>
            <a:chOff x="3690372" y="3389726"/>
            <a:chExt cx="12060501" cy="806153"/>
          </a:xfrm>
        </p:grpSpPr>
        <p:sp>
          <p:nvSpPr>
            <p:cNvPr id="61" name="Rectangle: Diagonal Corners Snipped 60">
              <a:extLst>
                <a:ext uri="{FF2B5EF4-FFF2-40B4-BE49-F238E27FC236}">
                  <a16:creationId xmlns:a16="http://schemas.microsoft.com/office/drawing/2014/main" id="{C619D1AA-0238-275D-FE0D-BDDBFF452353}"/>
                </a:ext>
              </a:extLst>
            </p:cNvPr>
            <p:cNvSpPr/>
            <p:nvPr/>
          </p:nvSpPr>
          <p:spPr>
            <a:xfrm>
              <a:off x="3690372" y="3389726"/>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5">
              <a:extLst>
                <a:ext uri="{FF2B5EF4-FFF2-40B4-BE49-F238E27FC236}">
                  <a16:creationId xmlns:a16="http://schemas.microsoft.com/office/drawing/2014/main" id="{5529E42B-1E12-0387-FA44-531E94A9A43F}"/>
                </a:ext>
              </a:extLst>
            </p:cNvPr>
            <p:cNvSpPr txBox="1"/>
            <p:nvPr/>
          </p:nvSpPr>
          <p:spPr>
            <a:xfrm>
              <a:off x="3922485" y="3492463"/>
              <a:ext cx="9235963" cy="615553"/>
            </a:xfrm>
            <a:prstGeom prst="rect">
              <a:avLst/>
            </a:prstGeom>
          </p:spPr>
          <p:txBody>
            <a:bodyPr wrap="square" lIns="0" tIns="0" rIns="0" bIns="0" rtlCol="0" anchor="ctr">
              <a:spAutoFit/>
            </a:bodyPr>
            <a:lstStyle/>
            <a:p>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Lỗi</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mô</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tả</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(Description Errors)</a:t>
              </a:r>
              <a:endParaRPr lang="en-US" sz="54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42" name="Oval 41">
            <a:extLst>
              <a:ext uri="{FF2B5EF4-FFF2-40B4-BE49-F238E27FC236}">
                <a16:creationId xmlns:a16="http://schemas.microsoft.com/office/drawing/2014/main" id="{07283816-6920-3E14-0674-D81F1B9B54FA}"/>
              </a:ext>
            </a:extLst>
          </p:cNvPr>
          <p:cNvSpPr/>
          <p:nvPr/>
        </p:nvSpPr>
        <p:spPr>
          <a:xfrm>
            <a:off x="2896319" y="4823877"/>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7" name="Group 116">
            <a:extLst>
              <a:ext uri="{FF2B5EF4-FFF2-40B4-BE49-F238E27FC236}">
                <a16:creationId xmlns:a16="http://schemas.microsoft.com/office/drawing/2014/main" id="{9DA09D16-B167-1C30-98E7-A552133E450D}"/>
              </a:ext>
            </a:extLst>
          </p:cNvPr>
          <p:cNvGrpSpPr/>
          <p:nvPr/>
        </p:nvGrpSpPr>
        <p:grpSpPr>
          <a:xfrm>
            <a:off x="3720276" y="4610125"/>
            <a:ext cx="12060501" cy="806153"/>
            <a:chOff x="3720276" y="4610125"/>
            <a:chExt cx="12060501" cy="806153"/>
          </a:xfrm>
        </p:grpSpPr>
        <p:sp>
          <p:nvSpPr>
            <p:cNvPr id="63" name="Rectangle: Diagonal Corners Snipped 62">
              <a:extLst>
                <a:ext uri="{FF2B5EF4-FFF2-40B4-BE49-F238E27FC236}">
                  <a16:creationId xmlns:a16="http://schemas.microsoft.com/office/drawing/2014/main" id="{83B6EB46-C11F-8BF0-086D-220B86EBBBD7}"/>
                </a:ext>
              </a:extLst>
            </p:cNvPr>
            <p:cNvSpPr/>
            <p:nvPr/>
          </p:nvSpPr>
          <p:spPr>
            <a:xfrm>
              <a:off x="3720276" y="461012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5">
              <a:extLst>
                <a:ext uri="{FF2B5EF4-FFF2-40B4-BE49-F238E27FC236}">
                  <a16:creationId xmlns:a16="http://schemas.microsoft.com/office/drawing/2014/main" id="{39A81C19-85B7-7845-5958-056BF9022008}"/>
                </a:ext>
              </a:extLst>
            </p:cNvPr>
            <p:cNvSpPr txBox="1"/>
            <p:nvPr/>
          </p:nvSpPr>
          <p:spPr>
            <a:xfrm>
              <a:off x="3922485" y="4705424"/>
              <a:ext cx="11356764" cy="615553"/>
            </a:xfrm>
            <a:prstGeom prst="rect">
              <a:avLst/>
            </a:prstGeom>
          </p:spPr>
          <p:txBody>
            <a:bodyPr wrap="square" lIns="0" tIns="0" rIns="0" bIns="0" rtlCol="0" anchor="ctr">
              <a:spAutoFit/>
            </a:bodyPr>
            <a:lstStyle/>
            <a:p>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Lỗi</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điều</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khiển</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bảng</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dữ</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liệu</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(Data-Driven Errors)</a:t>
              </a:r>
              <a:endParaRPr lang="en-US" sz="54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44" name="Oval 43">
            <a:extLst>
              <a:ext uri="{FF2B5EF4-FFF2-40B4-BE49-F238E27FC236}">
                <a16:creationId xmlns:a16="http://schemas.microsoft.com/office/drawing/2014/main" id="{8CCECAD2-5DC4-C594-C795-A1BD2BC3FA1F}"/>
              </a:ext>
            </a:extLst>
          </p:cNvPr>
          <p:cNvSpPr/>
          <p:nvPr/>
        </p:nvSpPr>
        <p:spPr>
          <a:xfrm>
            <a:off x="2896318" y="6043078"/>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8" name="Group 117">
            <a:extLst>
              <a:ext uri="{FF2B5EF4-FFF2-40B4-BE49-F238E27FC236}">
                <a16:creationId xmlns:a16="http://schemas.microsoft.com/office/drawing/2014/main" id="{C9428FD0-935D-52BE-7B5A-7D957D89531B}"/>
              </a:ext>
            </a:extLst>
          </p:cNvPr>
          <p:cNvGrpSpPr/>
          <p:nvPr/>
        </p:nvGrpSpPr>
        <p:grpSpPr>
          <a:xfrm>
            <a:off x="3713796" y="5828151"/>
            <a:ext cx="12060501" cy="806153"/>
            <a:chOff x="3713796" y="5828151"/>
            <a:chExt cx="12060501" cy="806153"/>
          </a:xfrm>
        </p:grpSpPr>
        <p:sp>
          <p:nvSpPr>
            <p:cNvPr id="65" name="Rectangle: Diagonal Corners Snipped 64">
              <a:extLst>
                <a:ext uri="{FF2B5EF4-FFF2-40B4-BE49-F238E27FC236}">
                  <a16:creationId xmlns:a16="http://schemas.microsoft.com/office/drawing/2014/main" id="{7EBE32DF-6113-0964-10A2-B58E0B3BAEAD}"/>
                </a:ext>
              </a:extLst>
            </p:cNvPr>
            <p:cNvSpPr/>
            <p:nvPr/>
          </p:nvSpPr>
          <p:spPr>
            <a:xfrm>
              <a:off x="3713796" y="5828151"/>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5">
              <a:extLst>
                <a:ext uri="{FF2B5EF4-FFF2-40B4-BE49-F238E27FC236}">
                  <a16:creationId xmlns:a16="http://schemas.microsoft.com/office/drawing/2014/main" id="{483A1B59-5108-411C-6843-3B48EBBC7476}"/>
                </a:ext>
              </a:extLst>
            </p:cNvPr>
            <p:cNvSpPr txBox="1"/>
            <p:nvPr/>
          </p:nvSpPr>
          <p:spPr>
            <a:xfrm>
              <a:off x="3916723" y="5922275"/>
              <a:ext cx="11704277" cy="615553"/>
            </a:xfrm>
            <a:prstGeom prst="rect">
              <a:avLst/>
            </a:prstGeom>
          </p:spPr>
          <p:txBody>
            <a:bodyPr wrap="square" lIns="0" tIns="0" rIns="0" bIns="0" rtlCol="0" anchor="ctr">
              <a:spAutoFit/>
            </a:bodyPr>
            <a:lstStyle/>
            <a:p>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Lỗi</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kích</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hoạt</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liên</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kết</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(Associative Activation Errors)</a:t>
              </a:r>
              <a:endParaRPr lang="en-US" sz="54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46" name="Oval 45">
            <a:extLst>
              <a:ext uri="{FF2B5EF4-FFF2-40B4-BE49-F238E27FC236}">
                <a16:creationId xmlns:a16="http://schemas.microsoft.com/office/drawing/2014/main" id="{720CC20B-1215-A6A5-8657-53021EB201E3}"/>
              </a:ext>
            </a:extLst>
          </p:cNvPr>
          <p:cNvSpPr/>
          <p:nvPr/>
        </p:nvSpPr>
        <p:spPr>
          <a:xfrm>
            <a:off x="2896319" y="7216924"/>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9" name="Group 118">
            <a:extLst>
              <a:ext uri="{FF2B5EF4-FFF2-40B4-BE49-F238E27FC236}">
                <a16:creationId xmlns:a16="http://schemas.microsoft.com/office/drawing/2014/main" id="{72529B61-F35D-045E-7945-38A56BEE4CFE}"/>
              </a:ext>
            </a:extLst>
          </p:cNvPr>
          <p:cNvGrpSpPr/>
          <p:nvPr/>
        </p:nvGrpSpPr>
        <p:grpSpPr>
          <a:xfrm>
            <a:off x="3734590" y="7002955"/>
            <a:ext cx="12060501" cy="806153"/>
            <a:chOff x="3734590" y="7002955"/>
            <a:chExt cx="12060501" cy="806153"/>
          </a:xfrm>
        </p:grpSpPr>
        <p:sp>
          <p:nvSpPr>
            <p:cNvPr id="81" name="Rectangle: Diagonal Corners Snipped 80">
              <a:extLst>
                <a:ext uri="{FF2B5EF4-FFF2-40B4-BE49-F238E27FC236}">
                  <a16:creationId xmlns:a16="http://schemas.microsoft.com/office/drawing/2014/main" id="{0E85A588-3FE2-833C-A1BF-B14338084577}"/>
                </a:ext>
              </a:extLst>
            </p:cNvPr>
            <p:cNvSpPr/>
            <p:nvPr/>
          </p:nvSpPr>
          <p:spPr>
            <a:xfrm>
              <a:off x="3734590" y="700295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5">
              <a:extLst>
                <a:ext uri="{FF2B5EF4-FFF2-40B4-BE49-F238E27FC236}">
                  <a16:creationId xmlns:a16="http://schemas.microsoft.com/office/drawing/2014/main" id="{70EB5DB0-55CC-0CE6-C6BF-78DDF3776290}"/>
                </a:ext>
              </a:extLst>
            </p:cNvPr>
            <p:cNvSpPr txBox="1"/>
            <p:nvPr/>
          </p:nvSpPr>
          <p:spPr>
            <a:xfrm>
              <a:off x="3913404" y="7098254"/>
              <a:ext cx="10061364" cy="615553"/>
            </a:xfrm>
            <a:prstGeom prst="rect">
              <a:avLst/>
            </a:prstGeom>
          </p:spPr>
          <p:txBody>
            <a:bodyPr wrap="square" lIns="0" tIns="0" rIns="0" bIns="0" rtlCol="0" anchor="ctr">
              <a:spAutoFit/>
            </a:bodyPr>
            <a:lstStyle/>
            <a:p>
              <a:r>
                <a:rPr lang="en-US" sz="4000" b="1" dirty="0" err="1">
                  <a:solidFill>
                    <a:srgbClr val="002060"/>
                  </a:solidFill>
                  <a:latin typeface="Source Sans Pro" panose="020B0503030403020204" pitchFamily="34" charset="0"/>
                  <a:ea typeface="Source Sans Pro" panose="020B0503030403020204" pitchFamily="34" charset="0"/>
                </a:rPr>
                <a:t>Lỗi</a:t>
              </a:r>
              <a:r>
                <a:rPr lang="en-US" sz="4000" b="1" dirty="0">
                  <a:solidFill>
                    <a:srgbClr val="002060"/>
                  </a:solidFill>
                  <a:latin typeface="Source Sans Pro" panose="020B0503030403020204" pitchFamily="34" charset="0"/>
                  <a:ea typeface="Source Sans Pro" panose="020B0503030403020204" pitchFamily="34" charset="0"/>
                </a:rPr>
                <a:t> </a:t>
              </a:r>
              <a:r>
                <a:rPr lang="en-US" sz="4000" b="1" dirty="0" err="1">
                  <a:solidFill>
                    <a:srgbClr val="002060"/>
                  </a:solidFill>
                  <a:latin typeface="Source Sans Pro" panose="020B0503030403020204" pitchFamily="34" charset="0"/>
                  <a:ea typeface="Source Sans Pro" panose="020B0503030403020204" pitchFamily="34" charset="0"/>
                </a:rPr>
                <a:t>mất</a:t>
              </a:r>
              <a:r>
                <a:rPr lang="en-US" sz="4000" b="1" dirty="0">
                  <a:solidFill>
                    <a:srgbClr val="002060"/>
                  </a:solidFill>
                  <a:latin typeface="Source Sans Pro" panose="020B0503030403020204" pitchFamily="34" charset="0"/>
                  <a:ea typeface="Source Sans Pro" panose="020B0503030403020204" pitchFamily="34" charset="0"/>
                </a:rPr>
                <a:t> </a:t>
              </a:r>
              <a:r>
                <a:rPr lang="en-US" sz="4000" b="1" dirty="0" err="1">
                  <a:solidFill>
                    <a:srgbClr val="002060"/>
                  </a:solidFill>
                  <a:latin typeface="Source Sans Pro" panose="020B0503030403020204" pitchFamily="34" charset="0"/>
                  <a:ea typeface="Source Sans Pro" panose="020B0503030403020204" pitchFamily="34" charset="0"/>
                </a:rPr>
                <a:t>kích</a:t>
              </a:r>
              <a:r>
                <a:rPr lang="en-US" sz="4000" b="1" dirty="0">
                  <a:solidFill>
                    <a:srgbClr val="002060"/>
                  </a:solidFill>
                  <a:latin typeface="Source Sans Pro" panose="020B0503030403020204" pitchFamily="34" charset="0"/>
                  <a:ea typeface="Source Sans Pro" panose="020B0503030403020204" pitchFamily="34" charset="0"/>
                </a:rPr>
                <a:t> </a:t>
              </a:r>
              <a:r>
                <a:rPr lang="en-US" sz="4000" b="1" dirty="0" err="1">
                  <a:solidFill>
                    <a:srgbClr val="002060"/>
                  </a:solidFill>
                  <a:latin typeface="Source Sans Pro" panose="020B0503030403020204" pitchFamily="34" charset="0"/>
                  <a:ea typeface="Source Sans Pro" panose="020B0503030403020204" pitchFamily="34" charset="0"/>
                </a:rPr>
                <a:t>hoạt</a:t>
              </a:r>
              <a:r>
                <a:rPr lang="en-US" sz="4000" b="1" dirty="0">
                  <a:solidFill>
                    <a:srgbClr val="002060"/>
                  </a:solidFill>
                  <a:latin typeface="Source Sans Pro" panose="020B0503030403020204" pitchFamily="34" charset="0"/>
                  <a:ea typeface="Source Sans Pro" panose="020B0503030403020204" pitchFamily="34" charset="0"/>
                </a:rPr>
                <a:t> </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(Loss-of-activation Errors)</a:t>
              </a:r>
              <a:endParaRPr lang="en-US" sz="54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48" name="Oval 47">
            <a:extLst>
              <a:ext uri="{FF2B5EF4-FFF2-40B4-BE49-F238E27FC236}">
                <a16:creationId xmlns:a16="http://schemas.microsoft.com/office/drawing/2014/main" id="{88833EDF-EC5B-B0E0-A1AE-F64C7116A09C}"/>
              </a:ext>
            </a:extLst>
          </p:cNvPr>
          <p:cNvSpPr/>
          <p:nvPr/>
        </p:nvSpPr>
        <p:spPr>
          <a:xfrm>
            <a:off x="2896318" y="8436125"/>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0" name="Group 119">
            <a:extLst>
              <a:ext uri="{FF2B5EF4-FFF2-40B4-BE49-F238E27FC236}">
                <a16:creationId xmlns:a16="http://schemas.microsoft.com/office/drawing/2014/main" id="{E49C535C-57E4-7FFE-ECA4-4ADBD0677034}"/>
              </a:ext>
            </a:extLst>
          </p:cNvPr>
          <p:cNvGrpSpPr/>
          <p:nvPr/>
        </p:nvGrpSpPr>
        <p:grpSpPr>
          <a:xfrm>
            <a:off x="3690373" y="8223547"/>
            <a:ext cx="12060501" cy="806153"/>
            <a:chOff x="3690373" y="8223547"/>
            <a:chExt cx="12060501" cy="806153"/>
          </a:xfrm>
        </p:grpSpPr>
        <p:sp>
          <p:nvSpPr>
            <p:cNvPr id="83" name="Rectangle: Diagonal Corners Snipped 82">
              <a:extLst>
                <a:ext uri="{FF2B5EF4-FFF2-40B4-BE49-F238E27FC236}">
                  <a16:creationId xmlns:a16="http://schemas.microsoft.com/office/drawing/2014/main" id="{F6B6490D-3CCC-E524-3CB3-A2BAB2FA840C}"/>
                </a:ext>
              </a:extLst>
            </p:cNvPr>
            <p:cNvSpPr/>
            <p:nvPr/>
          </p:nvSpPr>
          <p:spPr>
            <a:xfrm>
              <a:off x="3690373" y="8223547"/>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5">
              <a:extLst>
                <a:ext uri="{FF2B5EF4-FFF2-40B4-BE49-F238E27FC236}">
                  <a16:creationId xmlns:a16="http://schemas.microsoft.com/office/drawing/2014/main" id="{B909516F-40F2-6CF7-26F2-76A0841B3BDA}"/>
                </a:ext>
              </a:extLst>
            </p:cNvPr>
            <p:cNvSpPr txBox="1"/>
            <p:nvPr/>
          </p:nvSpPr>
          <p:spPr>
            <a:xfrm>
              <a:off x="3913404" y="8316780"/>
              <a:ext cx="9235963" cy="615553"/>
            </a:xfrm>
            <a:prstGeom prst="rect">
              <a:avLst/>
            </a:prstGeom>
          </p:spPr>
          <p:txBody>
            <a:bodyPr wrap="square" lIns="0" tIns="0" rIns="0" bIns="0" rtlCol="0" anchor="ctr">
              <a:spAutoFit/>
            </a:bodyPr>
            <a:lstStyle/>
            <a:p>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Lỗi</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chế</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độ</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(Mode Errors)</a:t>
              </a:r>
              <a:endParaRPr lang="en-US" sz="54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grpSp>
      <p:grpSp>
        <p:nvGrpSpPr>
          <p:cNvPr id="51" name="Group 4">
            <a:extLst>
              <a:ext uri="{FF2B5EF4-FFF2-40B4-BE49-F238E27FC236}">
                <a16:creationId xmlns:a16="http://schemas.microsoft.com/office/drawing/2014/main" id="{77C777D4-D457-14AD-B82A-6579AE388680}"/>
              </a:ext>
            </a:extLst>
          </p:cNvPr>
          <p:cNvGrpSpPr/>
          <p:nvPr/>
        </p:nvGrpSpPr>
        <p:grpSpPr>
          <a:xfrm>
            <a:off x="19364553" y="7212126"/>
            <a:ext cx="7009358" cy="1398154"/>
            <a:chOff x="0" y="0"/>
            <a:chExt cx="9345810" cy="1864205"/>
          </a:xfrm>
        </p:grpSpPr>
        <p:grpSp>
          <p:nvGrpSpPr>
            <p:cNvPr id="52" name="Group 5">
              <a:extLst>
                <a:ext uri="{FF2B5EF4-FFF2-40B4-BE49-F238E27FC236}">
                  <a16:creationId xmlns:a16="http://schemas.microsoft.com/office/drawing/2014/main" id="{72C90FB8-EC9F-F34D-E5EA-38954F6A0415}"/>
                </a:ext>
              </a:extLst>
            </p:cNvPr>
            <p:cNvGrpSpPr/>
            <p:nvPr/>
          </p:nvGrpSpPr>
          <p:grpSpPr>
            <a:xfrm>
              <a:off x="0" y="0"/>
              <a:ext cx="9345810" cy="1546271"/>
              <a:chOff x="0" y="0"/>
              <a:chExt cx="1250766" cy="206940"/>
            </a:xfrm>
          </p:grpSpPr>
          <p:sp>
            <p:nvSpPr>
              <p:cNvPr id="56" name="Freeform 6">
                <a:extLst>
                  <a:ext uri="{FF2B5EF4-FFF2-40B4-BE49-F238E27FC236}">
                    <a16:creationId xmlns:a16="http://schemas.microsoft.com/office/drawing/2014/main" id="{E3B389C7-6097-26A2-0297-40C442142BA1}"/>
                  </a:ext>
                </a:extLst>
              </p:cNvPr>
              <p:cNvSpPr/>
              <p:nvPr/>
            </p:nvSpPr>
            <p:spPr>
              <a:xfrm>
                <a:off x="18844" y="0"/>
                <a:ext cx="1213078" cy="206940"/>
              </a:xfrm>
              <a:custGeom>
                <a:avLst/>
                <a:gdLst/>
                <a:ahLst/>
                <a:cxnLst/>
                <a:rect l="l" t="t" r="r" b="b"/>
                <a:pathLst>
                  <a:path w="1213078" h="206940">
                    <a:moveTo>
                      <a:pt x="218760" y="0"/>
                    </a:moveTo>
                    <a:lnTo>
                      <a:pt x="1197518" y="0"/>
                    </a:lnTo>
                    <a:cubicBezTo>
                      <a:pt x="1203332" y="0"/>
                      <a:pt x="1208579" y="3488"/>
                      <a:pt x="1210829" y="8850"/>
                    </a:cubicBezTo>
                    <a:cubicBezTo>
                      <a:pt x="1213078" y="14212"/>
                      <a:pt x="1211891" y="20399"/>
                      <a:pt x="1207817" y="24548"/>
                    </a:cubicBezTo>
                    <a:lnTo>
                      <a:pt x="1052827" y="182392"/>
                    </a:lnTo>
                    <a:cubicBezTo>
                      <a:pt x="1037408" y="198094"/>
                      <a:pt x="1016325" y="206940"/>
                      <a:pt x="994318" y="206940"/>
                    </a:cubicBezTo>
                    <a:lnTo>
                      <a:pt x="15560" y="206940"/>
                    </a:lnTo>
                    <a:cubicBezTo>
                      <a:pt x="9746" y="206940"/>
                      <a:pt x="4499" y="203452"/>
                      <a:pt x="2249" y="198090"/>
                    </a:cubicBezTo>
                    <a:cubicBezTo>
                      <a:pt x="0" y="192728"/>
                      <a:pt x="1187" y="186541"/>
                      <a:pt x="5261" y="182392"/>
                    </a:cubicBezTo>
                    <a:lnTo>
                      <a:pt x="160251" y="24548"/>
                    </a:lnTo>
                    <a:cubicBezTo>
                      <a:pt x="175670" y="8846"/>
                      <a:pt x="196753" y="0"/>
                      <a:pt x="218760" y="0"/>
                    </a:cubicBezTo>
                    <a:close/>
                  </a:path>
                </a:pathLst>
              </a:custGeom>
              <a:solidFill>
                <a:srgbClr val="3275C5"/>
              </a:solidFill>
            </p:spPr>
            <p:txBody>
              <a:bodyPr/>
              <a:lstStyle/>
              <a:p>
                <a:endParaRPr lang="en-US" dirty="0"/>
              </a:p>
            </p:txBody>
          </p:sp>
          <p:sp>
            <p:nvSpPr>
              <p:cNvPr id="57" name="TextBox 7">
                <a:extLst>
                  <a:ext uri="{FF2B5EF4-FFF2-40B4-BE49-F238E27FC236}">
                    <a16:creationId xmlns:a16="http://schemas.microsoft.com/office/drawing/2014/main" id="{4B1D1EC9-B592-6678-9612-53B5D02BF3C3}"/>
                  </a:ext>
                </a:extLst>
              </p:cNvPr>
              <p:cNvSpPr txBox="1"/>
              <p:nvPr/>
            </p:nvSpPr>
            <p:spPr>
              <a:xfrm>
                <a:off x="101600" y="19050"/>
                <a:ext cx="1047566" cy="187890"/>
              </a:xfrm>
              <a:prstGeom prst="rect">
                <a:avLst/>
              </a:prstGeom>
            </p:spPr>
            <p:txBody>
              <a:bodyPr lIns="50800" tIns="50800" rIns="50800" bIns="50800" rtlCol="0" anchor="ctr"/>
              <a:lstStyle/>
              <a:p>
                <a:pPr algn="ctr">
                  <a:lnSpc>
                    <a:spcPts val="1993"/>
                  </a:lnSpc>
                </a:pPr>
                <a:endParaRPr/>
              </a:p>
            </p:txBody>
          </p:sp>
        </p:grpSp>
        <p:grpSp>
          <p:nvGrpSpPr>
            <p:cNvPr id="53" name="Group 8">
              <a:extLst>
                <a:ext uri="{FF2B5EF4-FFF2-40B4-BE49-F238E27FC236}">
                  <a16:creationId xmlns:a16="http://schemas.microsoft.com/office/drawing/2014/main" id="{B7965622-0210-3411-E580-17A52FE96B07}"/>
                </a:ext>
              </a:extLst>
            </p:cNvPr>
            <p:cNvGrpSpPr/>
            <p:nvPr/>
          </p:nvGrpSpPr>
          <p:grpSpPr>
            <a:xfrm>
              <a:off x="4451974" y="1170495"/>
              <a:ext cx="4192850" cy="693710"/>
              <a:chOff x="0" y="0"/>
              <a:chExt cx="1250766" cy="206940"/>
            </a:xfrm>
          </p:grpSpPr>
          <p:sp>
            <p:nvSpPr>
              <p:cNvPr id="54" name="Freeform 9">
                <a:extLst>
                  <a:ext uri="{FF2B5EF4-FFF2-40B4-BE49-F238E27FC236}">
                    <a16:creationId xmlns:a16="http://schemas.microsoft.com/office/drawing/2014/main" id="{635C40C2-3C53-9259-768F-CAFD40159565}"/>
                  </a:ext>
                </a:extLst>
              </p:cNvPr>
              <p:cNvSpPr/>
              <p:nvPr/>
            </p:nvSpPr>
            <p:spPr>
              <a:xfrm>
                <a:off x="22107" y="0"/>
                <a:ext cx="1206553" cy="206940"/>
              </a:xfrm>
              <a:custGeom>
                <a:avLst/>
                <a:gdLst/>
                <a:ahLst/>
                <a:cxnLst/>
                <a:rect l="l" t="t" r="r" b="b"/>
                <a:pathLst>
                  <a:path w="1206553" h="206940">
                    <a:moveTo>
                      <a:pt x="221454" y="0"/>
                    </a:moveTo>
                    <a:lnTo>
                      <a:pt x="1188298" y="0"/>
                    </a:lnTo>
                    <a:cubicBezTo>
                      <a:pt x="1195119" y="0"/>
                      <a:pt x="1201274" y="4093"/>
                      <a:pt x="1203913" y="10382"/>
                    </a:cubicBezTo>
                    <a:cubicBezTo>
                      <a:pt x="1206552" y="16672"/>
                      <a:pt x="1205160" y="23932"/>
                      <a:pt x="1200381" y="28799"/>
                    </a:cubicBezTo>
                    <a:lnTo>
                      <a:pt x="1053737" y="178141"/>
                    </a:lnTo>
                    <a:cubicBezTo>
                      <a:pt x="1035649" y="196563"/>
                      <a:pt x="1010915" y="206940"/>
                      <a:pt x="985098" y="206940"/>
                    </a:cubicBezTo>
                    <a:lnTo>
                      <a:pt x="18254" y="206940"/>
                    </a:lnTo>
                    <a:cubicBezTo>
                      <a:pt x="11433" y="206940"/>
                      <a:pt x="5278" y="202848"/>
                      <a:pt x="2639" y="196558"/>
                    </a:cubicBezTo>
                    <a:cubicBezTo>
                      <a:pt x="0" y="190268"/>
                      <a:pt x="1392" y="183008"/>
                      <a:pt x="6171" y="178141"/>
                    </a:cubicBezTo>
                    <a:lnTo>
                      <a:pt x="152815" y="28799"/>
                    </a:lnTo>
                    <a:cubicBezTo>
                      <a:pt x="170903" y="10377"/>
                      <a:pt x="195637" y="0"/>
                      <a:pt x="221454" y="0"/>
                    </a:cubicBezTo>
                    <a:close/>
                  </a:path>
                </a:pathLst>
              </a:custGeom>
              <a:solidFill>
                <a:srgbClr val="64CAF4"/>
              </a:solidFill>
            </p:spPr>
            <p:txBody>
              <a:bodyPr/>
              <a:lstStyle/>
              <a:p>
                <a:endParaRPr lang="en-US" dirty="0"/>
              </a:p>
            </p:txBody>
          </p:sp>
          <p:sp>
            <p:nvSpPr>
              <p:cNvPr id="55" name="TextBox 10">
                <a:extLst>
                  <a:ext uri="{FF2B5EF4-FFF2-40B4-BE49-F238E27FC236}">
                    <a16:creationId xmlns:a16="http://schemas.microsoft.com/office/drawing/2014/main" id="{854343BC-909B-2704-F88D-852734DEF387}"/>
                  </a:ext>
                </a:extLst>
              </p:cNvPr>
              <p:cNvSpPr txBox="1"/>
              <p:nvPr/>
            </p:nvSpPr>
            <p:spPr>
              <a:xfrm>
                <a:off x="101600" y="19050"/>
                <a:ext cx="1047566" cy="187890"/>
              </a:xfrm>
              <a:prstGeom prst="rect">
                <a:avLst/>
              </a:prstGeom>
            </p:spPr>
            <p:txBody>
              <a:bodyPr lIns="50800" tIns="50800" rIns="50800" bIns="50800" rtlCol="0" anchor="ctr"/>
              <a:lstStyle/>
              <a:p>
                <a:pPr algn="ctr">
                  <a:lnSpc>
                    <a:spcPts val="1993"/>
                  </a:lnSpc>
                </a:pPr>
                <a:endParaRPr/>
              </a:p>
            </p:txBody>
          </p:sp>
        </p:grpSp>
      </p:grpSp>
      <p:cxnSp>
        <p:nvCxnSpPr>
          <p:cNvPr id="60" name="Straight Connector 59">
            <a:extLst>
              <a:ext uri="{FF2B5EF4-FFF2-40B4-BE49-F238E27FC236}">
                <a16:creationId xmlns:a16="http://schemas.microsoft.com/office/drawing/2014/main" id="{7845948E-159F-4F25-5744-43F25E1D66FC}"/>
              </a:ext>
            </a:extLst>
          </p:cNvPr>
          <p:cNvCxnSpPr>
            <a:cxnSpLocks/>
            <a:stCxn id="32" idx="6"/>
            <a:endCxn id="58" idx="2"/>
          </p:cNvCxnSpPr>
          <p:nvPr/>
        </p:nvCxnSpPr>
        <p:spPr>
          <a:xfrm flipV="1">
            <a:off x="3300024" y="2574777"/>
            <a:ext cx="420252" cy="1"/>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D54B0442-5FB9-8CB5-1BA3-A7BB89A11E24}"/>
              </a:ext>
            </a:extLst>
          </p:cNvPr>
          <p:cNvCxnSpPr>
            <a:cxnSpLocks/>
            <a:stCxn id="40" idx="6"/>
            <a:endCxn id="61" idx="2"/>
          </p:cNvCxnSpPr>
          <p:nvPr/>
        </p:nvCxnSpPr>
        <p:spPr>
          <a:xfrm flipV="1">
            <a:off x="3300023" y="3792803"/>
            <a:ext cx="390349" cy="1176"/>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08EF9003-9DDD-CD9C-CBB8-8326C7DB449E}"/>
              </a:ext>
            </a:extLst>
          </p:cNvPr>
          <p:cNvCxnSpPr>
            <a:cxnSpLocks/>
            <a:stCxn id="42" idx="6"/>
            <a:endCxn id="63" idx="2"/>
          </p:cNvCxnSpPr>
          <p:nvPr/>
        </p:nvCxnSpPr>
        <p:spPr>
          <a:xfrm flipV="1">
            <a:off x="3300742" y="5013202"/>
            <a:ext cx="419534" cy="1175"/>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5CA002A8-90DF-C98D-B50D-75C90F048DF7}"/>
              </a:ext>
            </a:extLst>
          </p:cNvPr>
          <p:cNvCxnSpPr>
            <a:cxnSpLocks/>
          </p:cNvCxnSpPr>
          <p:nvPr/>
        </p:nvCxnSpPr>
        <p:spPr>
          <a:xfrm flipV="1">
            <a:off x="3300741" y="6262075"/>
            <a:ext cx="413055" cy="2350"/>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E52F75FE-4C00-92E3-8856-549287D8BCFE}"/>
              </a:ext>
            </a:extLst>
          </p:cNvPr>
          <p:cNvCxnSpPr>
            <a:cxnSpLocks/>
            <a:stCxn id="46" idx="6"/>
            <a:endCxn id="81" idx="2"/>
          </p:cNvCxnSpPr>
          <p:nvPr/>
        </p:nvCxnSpPr>
        <p:spPr>
          <a:xfrm flipV="1">
            <a:off x="3300742" y="7406032"/>
            <a:ext cx="433848" cy="1392"/>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AAC6FB38-A7D2-482A-47CF-1948E4D48A1D}"/>
              </a:ext>
            </a:extLst>
          </p:cNvPr>
          <p:cNvCxnSpPr>
            <a:cxnSpLocks/>
            <a:stCxn id="48" idx="6"/>
            <a:endCxn id="83" idx="2"/>
          </p:cNvCxnSpPr>
          <p:nvPr/>
        </p:nvCxnSpPr>
        <p:spPr>
          <a:xfrm flipV="1">
            <a:off x="3300741" y="8626624"/>
            <a:ext cx="389632" cy="1"/>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48229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200"/>
                                        <p:tgtEl>
                                          <p:spTgt spid="32"/>
                                        </p:tgtEl>
                                      </p:cBhvr>
                                    </p:animEffect>
                                  </p:childTnLst>
                                </p:cTn>
                              </p:par>
                            </p:childTnLst>
                          </p:cTn>
                        </p:par>
                        <p:par>
                          <p:cTn id="12" fill="hold">
                            <p:stCondLst>
                              <p:cond delay="700"/>
                            </p:stCondLst>
                            <p:childTnLst>
                              <p:par>
                                <p:cTn id="13" presetID="10" presetClass="entr" presetSubtype="0" fill="hold" grpId="0"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200"/>
                                        <p:tgtEl>
                                          <p:spTgt spid="40"/>
                                        </p:tgtEl>
                                      </p:cBhvr>
                                    </p:animEffect>
                                  </p:childTnLst>
                                </p:cTn>
                              </p:par>
                            </p:childTnLst>
                          </p:cTn>
                        </p:par>
                        <p:par>
                          <p:cTn id="16" fill="hold">
                            <p:stCondLst>
                              <p:cond delay="900"/>
                            </p:stCondLst>
                            <p:childTnLst>
                              <p:par>
                                <p:cTn id="17" presetID="10" presetClass="entr" presetSubtype="0" fill="hold" grpId="0"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200"/>
                                        <p:tgtEl>
                                          <p:spTgt spid="42"/>
                                        </p:tgtEl>
                                      </p:cBhvr>
                                    </p:animEffect>
                                  </p:childTnLst>
                                </p:cTn>
                              </p:par>
                            </p:childTnLst>
                          </p:cTn>
                        </p:par>
                        <p:par>
                          <p:cTn id="20" fill="hold">
                            <p:stCondLst>
                              <p:cond delay="1100"/>
                            </p:stCondLst>
                            <p:childTnLst>
                              <p:par>
                                <p:cTn id="21" presetID="10" presetClass="entr" presetSubtype="0" fill="hold" grpId="0" nodeType="after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fade">
                                      <p:cBhvr>
                                        <p:cTn id="23" dur="200"/>
                                        <p:tgtEl>
                                          <p:spTgt spid="44"/>
                                        </p:tgtEl>
                                      </p:cBhvr>
                                    </p:animEffect>
                                  </p:childTnLst>
                                </p:cTn>
                              </p:par>
                            </p:childTnLst>
                          </p:cTn>
                        </p:par>
                        <p:par>
                          <p:cTn id="24" fill="hold">
                            <p:stCondLst>
                              <p:cond delay="1300"/>
                            </p:stCondLst>
                            <p:childTnLst>
                              <p:par>
                                <p:cTn id="25" presetID="10" presetClass="entr" presetSubtype="0" fill="hold" grpId="0"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200"/>
                                        <p:tgtEl>
                                          <p:spTgt spid="46"/>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200"/>
                                        <p:tgtEl>
                                          <p:spTgt spid="4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wipe(left)">
                                      <p:cBhvr>
                                        <p:cTn id="36" dur="500"/>
                                        <p:tgtEl>
                                          <p:spTgt spid="60"/>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115"/>
                                        </p:tgtEl>
                                        <p:attrNameLst>
                                          <p:attrName>style.visibility</p:attrName>
                                        </p:attrNameLst>
                                      </p:cBhvr>
                                      <p:to>
                                        <p:strVal val="visible"/>
                                      </p:to>
                                    </p:set>
                                    <p:animEffect transition="in" filter="wipe(left)">
                                      <p:cBhvr>
                                        <p:cTn id="40" dur="500"/>
                                        <p:tgtEl>
                                          <p:spTgt spid="11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62"/>
                                        </p:tgtEl>
                                        <p:attrNameLst>
                                          <p:attrName>style.visibility</p:attrName>
                                        </p:attrNameLst>
                                      </p:cBhvr>
                                      <p:to>
                                        <p:strVal val="visible"/>
                                      </p:to>
                                    </p:set>
                                    <p:animEffect transition="in" filter="wipe(left)">
                                      <p:cBhvr>
                                        <p:cTn id="45" dur="500"/>
                                        <p:tgtEl>
                                          <p:spTgt spid="62"/>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116"/>
                                        </p:tgtEl>
                                        <p:attrNameLst>
                                          <p:attrName>style.visibility</p:attrName>
                                        </p:attrNameLst>
                                      </p:cBhvr>
                                      <p:to>
                                        <p:strVal val="visible"/>
                                      </p:to>
                                    </p:set>
                                    <p:animEffect transition="in" filter="wipe(left)">
                                      <p:cBhvr>
                                        <p:cTn id="49" dur="500"/>
                                        <p:tgtEl>
                                          <p:spTgt spid="11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64"/>
                                        </p:tgtEl>
                                        <p:attrNameLst>
                                          <p:attrName>style.visibility</p:attrName>
                                        </p:attrNameLst>
                                      </p:cBhvr>
                                      <p:to>
                                        <p:strVal val="visible"/>
                                      </p:to>
                                    </p:set>
                                    <p:animEffect transition="in" filter="wipe(left)">
                                      <p:cBhvr>
                                        <p:cTn id="54" dur="500"/>
                                        <p:tgtEl>
                                          <p:spTgt spid="64"/>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117"/>
                                        </p:tgtEl>
                                        <p:attrNameLst>
                                          <p:attrName>style.visibility</p:attrName>
                                        </p:attrNameLst>
                                      </p:cBhvr>
                                      <p:to>
                                        <p:strVal val="visible"/>
                                      </p:to>
                                    </p:set>
                                    <p:animEffect transition="in" filter="wipe(left)">
                                      <p:cBhvr>
                                        <p:cTn id="58" dur="500"/>
                                        <p:tgtEl>
                                          <p:spTgt spid="11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66"/>
                                        </p:tgtEl>
                                        <p:attrNameLst>
                                          <p:attrName>style.visibility</p:attrName>
                                        </p:attrNameLst>
                                      </p:cBhvr>
                                      <p:to>
                                        <p:strVal val="visible"/>
                                      </p:to>
                                    </p:set>
                                    <p:animEffect transition="in" filter="wipe(left)">
                                      <p:cBhvr>
                                        <p:cTn id="63" dur="500"/>
                                        <p:tgtEl>
                                          <p:spTgt spid="66"/>
                                        </p:tgtEl>
                                      </p:cBhvr>
                                    </p:animEffect>
                                  </p:childTnLst>
                                </p:cTn>
                              </p:par>
                            </p:childTnLst>
                          </p:cTn>
                        </p:par>
                        <p:par>
                          <p:cTn id="64" fill="hold">
                            <p:stCondLst>
                              <p:cond delay="500"/>
                            </p:stCondLst>
                            <p:childTnLst>
                              <p:par>
                                <p:cTn id="65" presetID="22" presetClass="entr" presetSubtype="8" fill="hold" nodeType="afterEffect">
                                  <p:stCondLst>
                                    <p:cond delay="0"/>
                                  </p:stCondLst>
                                  <p:childTnLst>
                                    <p:set>
                                      <p:cBhvr>
                                        <p:cTn id="66" dur="1" fill="hold">
                                          <p:stCondLst>
                                            <p:cond delay="0"/>
                                          </p:stCondLst>
                                        </p:cTn>
                                        <p:tgtEl>
                                          <p:spTgt spid="118"/>
                                        </p:tgtEl>
                                        <p:attrNameLst>
                                          <p:attrName>style.visibility</p:attrName>
                                        </p:attrNameLst>
                                      </p:cBhvr>
                                      <p:to>
                                        <p:strVal val="visible"/>
                                      </p:to>
                                    </p:set>
                                    <p:animEffect transition="in" filter="wipe(left)">
                                      <p:cBhvr>
                                        <p:cTn id="67" dur="500"/>
                                        <p:tgtEl>
                                          <p:spTgt spid="11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82"/>
                                        </p:tgtEl>
                                        <p:attrNameLst>
                                          <p:attrName>style.visibility</p:attrName>
                                        </p:attrNameLst>
                                      </p:cBhvr>
                                      <p:to>
                                        <p:strVal val="visible"/>
                                      </p:to>
                                    </p:set>
                                    <p:animEffect transition="in" filter="wipe(left)">
                                      <p:cBhvr>
                                        <p:cTn id="72" dur="500"/>
                                        <p:tgtEl>
                                          <p:spTgt spid="82"/>
                                        </p:tgtEl>
                                      </p:cBhvr>
                                    </p:animEffect>
                                  </p:childTnLst>
                                </p:cTn>
                              </p:par>
                            </p:childTnLst>
                          </p:cTn>
                        </p:par>
                        <p:par>
                          <p:cTn id="73" fill="hold">
                            <p:stCondLst>
                              <p:cond delay="500"/>
                            </p:stCondLst>
                            <p:childTnLst>
                              <p:par>
                                <p:cTn id="74" presetID="22" presetClass="entr" presetSubtype="8" fill="hold" nodeType="afterEffect">
                                  <p:stCondLst>
                                    <p:cond delay="0"/>
                                  </p:stCondLst>
                                  <p:childTnLst>
                                    <p:set>
                                      <p:cBhvr>
                                        <p:cTn id="75" dur="1" fill="hold">
                                          <p:stCondLst>
                                            <p:cond delay="0"/>
                                          </p:stCondLst>
                                        </p:cTn>
                                        <p:tgtEl>
                                          <p:spTgt spid="119"/>
                                        </p:tgtEl>
                                        <p:attrNameLst>
                                          <p:attrName>style.visibility</p:attrName>
                                        </p:attrNameLst>
                                      </p:cBhvr>
                                      <p:to>
                                        <p:strVal val="visible"/>
                                      </p:to>
                                    </p:set>
                                    <p:animEffect transition="in" filter="wipe(left)">
                                      <p:cBhvr>
                                        <p:cTn id="76" dur="500"/>
                                        <p:tgtEl>
                                          <p:spTgt spid="11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84"/>
                                        </p:tgtEl>
                                        <p:attrNameLst>
                                          <p:attrName>style.visibility</p:attrName>
                                        </p:attrNameLst>
                                      </p:cBhvr>
                                      <p:to>
                                        <p:strVal val="visible"/>
                                      </p:to>
                                    </p:set>
                                    <p:animEffect transition="in" filter="wipe(left)">
                                      <p:cBhvr>
                                        <p:cTn id="81" dur="500"/>
                                        <p:tgtEl>
                                          <p:spTgt spid="84"/>
                                        </p:tgtEl>
                                      </p:cBhvr>
                                    </p:animEffect>
                                  </p:childTnLst>
                                </p:cTn>
                              </p:par>
                            </p:childTnLst>
                          </p:cTn>
                        </p:par>
                        <p:par>
                          <p:cTn id="82" fill="hold">
                            <p:stCondLst>
                              <p:cond delay="500"/>
                            </p:stCondLst>
                            <p:childTnLst>
                              <p:par>
                                <p:cTn id="83" presetID="22" presetClass="entr" presetSubtype="8" fill="hold" nodeType="afterEffect">
                                  <p:stCondLst>
                                    <p:cond delay="0"/>
                                  </p:stCondLst>
                                  <p:childTnLst>
                                    <p:set>
                                      <p:cBhvr>
                                        <p:cTn id="84" dur="1" fill="hold">
                                          <p:stCondLst>
                                            <p:cond delay="0"/>
                                          </p:stCondLst>
                                        </p:cTn>
                                        <p:tgtEl>
                                          <p:spTgt spid="120"/>
                                        </p:tgtEl>
                                        <p:attrNameLst>
                                          <p:attrName>style.visibility</p:attrName>
                                        </p:attrNameLst>
                                      </p:cBhvr>
                                      <p:to>
                                        <p:strVal val="visible"/>
                                      </p:to>
                                    </p:set>
                                    <p:animEffect transition="in" filter="wipe(left)">
                                      <p:cBhvr>
                                        <p:cTn id="85"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40" grpId="0" animBg="1"/>
      <p:bldP spid="42" grpId="0" animBg="1"/>
      <p:bldP spid="44" grpId="0" animBg="1"/>
      <p:bldP spid="46" grpId="0" animBg="1"/>
      <p:bldP spid="4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E54E0907-E406-AA74-7902-E09B5AF44014}"/>
            </a:ext>
          </a:extLst>
        </p:cNvPr>
        <p:cNvGrpSpPr/>
        <p:nvPr/>
      </p:nvGrpSpPr>
      <p:grpSpPr>
        <a:xfrm>
          <a:off x="0" y="0"/>
          <a:ext cx="0" cy="0"/>
          <a:chOff x="0" y="0"/>
          <a:chExt cx="0" cy="0"/>
        </a:xfrm>
      </p:grpSpPr>
      <p:cxnSp>
        <p:nvCxnSpPr>
          <p:cNvPr id="90" name="Straight Connector 89">
            <a:extLst>
              <a:ext uri="{FF2B5EF4-FFF2-40B4-BE49-F238E27FC236}">
                <a16:creationId xmlns:a16="http://schemas.microsoft.com/office/drawing/2014/main" id="{B9C9A09D-0760-5706-6E33-EE8E012CF829}"/>
              </a:ext>
            </a:extLst>
          </p:cNvPr>
          <p:cNvCxnSpPr>
            <a:cxnSpLocks/>
          </p:cNvCxnSpPr>
          <p:nvPr/>
        </p:nvCxnSpPr>
        <p:spPr>
          <a:xfrm>
            <a:off x="1524000" y="1904181"/>
            <a:ext cx="0" cy="7239000"/>
          </a:xfrm>
          <a:prstGeom prst="line">
            <a:avLst/>
          </a:prstGeom>
          <a:ln w="762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Rectangle: Diagonal Corners Snipped 12">
            <a:extLst>
              <a:ext uri="{FF2B5EF4-FFF2-40B4-BE49-F238E27FC236}">
                <a16:creationId xmlns:a16="http://schemas.microsoft.com/office/drawing/2014/main" id="{753B7165-3869-486A-CBDD-06C926E3584E}"/>
              </a:ext>
            </a:extLst>
          </p:cNvPr>
          <p:cNvSpPr/>
          <p:nvPr/>
        </p:nvSpPr>
        <p:spPr>
          <a:xfrm flipV="1">
            <a:off x="2265099" y="2564017"/>
            <a:ext cx="14803701" cy="2202392"/>
          </a:xfrm>
          <a:prstGeom prst="snip2DiagRect">
            <a:avLst>
              <a:gd name="adj1" fmla="val 17613"/>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blue logo with a black background&#10;&#10;AI-generated content may be incorrect.">
            <a:extLst>
              <a:ext uri="{FF2B5EF4-FFF2-40B4-BE49-F238E27FC236}">
                <a16:creationId xmlns:a16="http://schemas.microsoft.com/office/drawing/2014/main" id="{85E0070F-626C-DB69-932C-533994C8EC24}"/>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CB4C5D5F-3A2C-8BD7-12B1-34992A534C2A}"/>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3F5756A3-6B5B-0172-BA5D-AF98E48A8E6D}"/>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BB8DD614-15E5-7057-246A-B66EA5978530}"/>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690A671C-3769-86E8-E30B-7249EECBADCC}"/>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a:t>
            </a:r>
          </a:p>
        </p:txBody>
      </p:sp>
      <p:sp>
        <p:nvSpPr>
          <p:cNvPr id="27" name="TextBox 26">
            <a:extLst>
              <a:ext uri="{FF2B5EF4-FFF2-40B4-BE49-F238E27FC236}">
                <a16:creationId xmlns:a16="http://schemas.microsoft.com/office/drawing/2014/main" id="{DD5E3062-2F39-47B3-9BDC-3F249233C896}"/>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 SUẤT</a:t>
            </a:r>
          </a:p>
        </p:txBody>
      </p:sp>
      <p:pic>
        <p:nvPicPr>
          <p:cNvPr id="28" name="Picture 27" descr="A blue logo with a black background&#10;&#10;AI-generated content may be incorrect.">
            <a:extLst>
              <a:ext uri="{FF2B5EF4-FFF2-40B4-BE49-F238E27FC236}">
                <a16:creationId xmlns:a16="http://schemas.microsoft.com/office/drawing/2014/main" id="{A73EEA4B-9659-5B2F-53FE-5349F2F249B7}"/>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6B95DAB4-8169-E2CC-76E9-DB214D34239B}"/>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28777827-D8B0-9556-DC53-F4C12B2A65C9}"/>
              </a:ext>
            </a:extLst>
          </p:cNvPr>
          <p:cNvSpPr>
            <a:spLocks noGrp="1"/>
          </p:cNvSpPr>
          <p:nvPr>
            <p:ph type="sldNum" sz="quarter" idx="12"/>
          </p:nvPr>
        </p:nvSpPr>
        <p:spPr>
          <a:xfrm>
            <a:off x="17145000" y="9854438"/>
            <a:ext cx="602065"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7</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3" name="TextBox 2">
            <a:extLst>
              <a:ext uri="{FF2B5EF4-FFF2-40B4-BE49-F238E27FC236}">
                <a16:creationId xmlns:a16="http://schemas.microsoft.com/office/drawing/2014/main" id="{21F55AF3-0263-33C1-1E48-6BCEFA5F66A9}"/>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Các loại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suất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phổ</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biến</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4" name="TextBox 5">
            <a:extLst>
              <a:ext uri="{FF2B5EF4-FFF2-40B4-BE49-F238E27FC236}">
                <a16:creationId xmlns:a16="http://schemas.microsoft.com/office/drawing/2014/main" id="{8DA7237E-DA76-4AD6-22A1-9C1563D1D75A}"/>
              </a:ext>
            </a:extLst>
          </p:cNvPr>
          <p:cNvSpPr txBox="1"/>
          <p:nvPr/>
        </p:nvSpPr>
        <p:spPr>
          <a:xfrm>
            <a:off x="2467309" y="3179683"/>
            <a:ext cx="14404757" cy="1354217"/>
          </a:xfrm>
          <a:prstGeom prst="rect">
            <a:avLst/>
          </a:prstGeom>
        </p:spPr>
        <p:txBody>
          <a:bodyPr wrap="square" lIns="0" tIns="0" rIns="0" bIns="0" rtlCol="0" anchor="ctr">
            <a:spAutoFit/>
          </a:bodyPr>
          <a:lstStyle/>
          <a:p>
            <a:pPr algn="just"/>
            <a:r>
              <a:rPr lang="en-US" sz="4400" dirty="0">
                <a:solidFill>
                  <a:schemeClr val="bg1"/>
                </a:solidFill>
                <a:latin typeface="Source Sans Pro" panose="020B0503030403020204" pitchFamily="34" charset="0"/>
                <a:ea typeface="Source Sans Pro" panose="020B0503030403020204" pitchFamily="34" charset="0"/>
              </a:rPr>
              <a:t>Một </a:t>
            </a:r>
            <a:r>
              <a:rPr lang="en-US" sz="4400" dirty="0" err="1">
                <a:solidFill>
                  <a:schemeClr val="bg1"/>
                </a:solidFill>
                <a:latin typeface="Source Sans Pro" panose="020B0503030403020204" pitchFamily="34" charset="0"/>
                <a:ea typeface="Source Sans Pro" panose="020B0503030403020204" pitchFamily="34" charset="0"/>
              </a:rPr>
              <a:t>hoạt</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động</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quen</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thuộc</a:t>
            </a:r>
            <a:r>
              <a:rPr lang="en-US" sz="4400" dirty="0">
                <a:solidFill>
                  <a:schemeClr val="bg1"/>
                </a:solidFill>
                <a:latin typeface="Source Sans Pro" panose="020B0503030403020204" pitchFamily="34" charset="0"/>
                <a:ea typeface="Source Sans Pro" panose="020B0503030403020204" pitchFamily="34" charset="0"/>
              </a:rPr>
              <a:t> </a:t>
            </a:r>
            <a:r>
              <a:rPr lang="en-US" sz="4400" b="1" dirty="0" err="1">
                <a:solidFill>
                  <a:schemeClr val="bg1"/>
                </a:solidFill>
                <a:latin typeface="Source Sans Pro" panose="020B0503030403020204" pitchFamily="34" charset="0"/>
                <a:ea typeface="Source Sans Pro" panose="020B0503030403020204" pitchFamily="34" charset="0"/>
              </a:rPr>
              <a:t>chiếm</a:t>
            </a:r>
            <a:r>
              <a:rPr lang="en-US" sz="4400" b="1" dirty="0">
                <a:solidFill>
                  <a:schemeClr val="bg1"/>
                </a:solidFill>
                <a:latin typeface="Source Sans Pro" panose="020B0503030403020204" pitchFamily="34" charset="0"/>
                <a:ea typeface="Source Sans Pro" panose="020B0503030403020204" pitchFamily="34" charset="0"/>
              </a:rPr>
              <a:t> </a:t>
            </a:r>
            <a:r>
              <a:rPr lang="en-US" sz="4400" b="1" dirty="0" err="1">
                <a:solidFill>
                  <a:schemeClr val="bg1"/>
                </a:solidFill>
                <a:latin typeface="Source Sans Pro" panose="020B0503030403020204" pitchFamily="34" charset="0"/>
                <a:ea typeface="Source Sans Pro" panose="020B0503030403020204" pitchFamily="34" charset="0"/>
              </a:rPr>
              <a:t>quyền</a:t>
            </a:r>
            <a:r>
              <a:rPr lang="en-US" sz="4400" b="1" dirty="0">
                <a:solidFill>
                  <a:schemeClr val="bg1"/>
                </a:solidFill>
                <a:latin typeface="Source Sans Pro" panose="020B0503030403020204" pitchFamily="34" charset="0"/>
                <a:ea typeface="Source Sans Pro" panose="020B0503030403020204" pitchFamily="34" charset="0"/>
              </a:rPr>
              <a:t> </a:t>
            </a:r>
            <a:r>
              <a:rPr lang="en-US" sz="4400" b="1" dirty="0" err="1">
                <a:solidFill>
                  <a:schemeClr val="bg1"/>
                </a:solidFill>
                <a:latin typeface="Source Sans Pro" panose="020B0503030403020204" pitchFamily="34" charset="0"/>
                <a:ea typeface="Source Sans Pro" panose="020B0503030403020204" pitchFamily="34" charset="0"/>
              </a:rPr>
              <a:t>kiểm</a:t>
            </a:r>
            <a:r>
              <a:rPr lang="en-US" sz="4400" b="1" dirty="0">
                <a:solidFill>
                  <a:schemeClr val="bg1"/>
                </a:solidFill>
                <a:latin typeface="Source Sans Pro" panose="020B0503030403020204" pitchFamily="34" charset="0"/>
                <a:ea typeface="Source Sans Pro" panose="020B0503030403020204" pitchFamily="34" charset="0"/>
              </a:rPr>
              <a:t> </a:t>
            </a:r>
            <a:r>
              <a:rPr lang="en-US" sz="4400" b="1" dirty="0" err="1">
                <a:solidFill>
                  <a:schemeClr val="bg1"/>
                </a:solidFill>
                <a:latin typeface="Source Sans Pro" panose="020B0503030403020204" pitchFamily="34" charset="0"/>
                <a:ea typeface="Source Sans Pro" panose="020B0503030403020204" pitchFamily="34" charset="0"/>
              </a:rPr>
              <a:t>soát</a:t>
            </a:r>
            <a:r>
              <a:rPr lang="en-US" sz="4400" b="1"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thay</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cho</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hoạt</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động</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dự</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định</a:t>
            </a:r>
            <a:r>
              <a:rPr lang="en-US" sz="4400" dirty="0">
                <a:solidFill>
                  <a:schemeClr val="bg1"/>
                </a:solidFill>
                <a:latin typeface="Source Sans Pro" panose="020B0503030403020204" pitchFamily="34" charset="0"/>
                <a:ea typeface="Source Sans Pro" panose="020B0503030403020204" pitchFamily="34" charset="0"/>
              </a:rPr>
              <a:t>. </a:t>
            </a:r>
            <a:endParaRPr lang="en-US" sz="6000" spc="11" dirty="0">
              <a:solidFill>
                <a:schemeClr val="bg1"/>
              </a:solidFill>
              <a:latin typeface="Source Sans Pro" panose="020B0503030403020204" pitchFamily="34" charset="0"/>
              <a:ea typeface="Source Sans Pro" panose="020B0503030403020204" pitchFamily="34" charset="0"/>
              <a:cs typeface="Source Sans Pro"/>
              <a:sym typeface="Source Sans Pro"/>
            </a:endParaRPr>
          </a:p>
        </p:txBody>
      </p:sp>
      <p:grpSp>
        <p:nvGrpSpPr>
          <p:cNvPr id="6" name="Group 5">
            <a:extLst>
              <a:ext uri="{FF2B5EF4-FFF2-40B4-BE49-F238E27FC236}">
                <a16:creationId xmlns:a16="http://schemas.microsoft.com/office/drawing/2014/main" id="{880919C8-5C23-F047-3826-801F84B817FC}"/>
              </a:ext>
            </a:extLst>
          </p:cNvPr>
          <p:cNvGrpSpPr/>
          <p:nvPr/>
        </p:nvGrpSpPr>
        <p:grpSpPr>
          <a:xfrm>
            <a:off x="2265099" y="2171700"/>
            <a:ext cx="12060501" cy="806153"/>
            <a:chOff x="3720276" y="2171700"/>
            <a:chExt cx="12060501" cy="806153"/>
          </a:xfrm>
        </p:grpSpPr>
        <p:sp>
          <p:nvSpPr>
            <p:cNvPr id="8" name="Rectangle: Diagonal Corners Snipped 7">
              <a:extLst>
                <a:ext uri="{FF2B5EF4-FFF2-40B4-BE49-F238E27FC236}">
                  <a16:creationId xmlns:a16="http://schemas.microsoft.com/office/drawing/2014/main" id="{070AF429-8417-41AA-18C7-1EC4BA43D6C3}"/>
                </a:ext>
              </a:extLst>
            </p:cNvPr>
            <p:cNvSpPr/>
            <p:nvPr/>
          </p:nvSpPr>
          <p:spPr>
            <a:xfrm>
              <a:off x="3720276" y="2171700"/>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5">
              <a:extLst>
                <a:ext uri="{FF2B5EF4-FFF2-40B4-BE49-F238E27FC236}">
                  <a16:creationId xmlns:a16="http://schemas.microsoft.com/office/drawing/2014/main" id="{EB1AE989-1736-DF41-3E75-6206D8C450F6}"/>
                </a:ext>
              </a:extLst>
            </p:cNvPr>
            <p:cNvSpPr txBox="1"/>
            <p:nvPr/>
          </p:nvSpPr>
          <p:spPr>
            <a:xfrm>
              <a:off x="3922486" y="2266999"/>
              <a:ext cx="9235963" cy="615553"/>
            </a:xfrm>
            <a:prstGeom prst="rect">
              <a:avLst/>
            </a:prstGeom>
          </p:spPr>
          <p:txBody>
            <a:bodyPr wrap="square" lIns="0" tIns="0" rIns="0" bIns="0" rtlCol="0" anchor="ctr">
              <a:spAutoFit/>
            </a:bodyPr>
            <a:lstStyle/>
            <a:p>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Lỗi</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bị</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chiếm</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đoạt</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(Capture Errors)</a:t>
              </a:r>
              <a:endParaRPr lang="en-US" sz="54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grpSp>
      <p:cxnSp>
        <p:nvCxnSpPr>
          <p:cNvPr id="10" name="Straight Connector 9">
            <a:extLst>
              <a:ext uri="{FF2B5EF4-FFF2-40B4-BE49-F238E27FC236}">
                <a16:creationId xmlns:a16="http://schemas.microsoft.com/office/drawing/2014/main" id="{2DAB171B-CBA0-5BB3-F7C8-9367DBE0A7C9}"/>
              </a:ext>
            </a:extLst>
          </p:cNvPr>
          <p:cNvCxnSpPr>
            <a:cxnSpLocks/>
            <a:endCxn id="8" idx="2"/>
          </p:cNvCxnSpPr>
          <p:nvPr/>
        </p:nvCxnSpPr>
        <p:spPr>
          <a:xfrm flipV="1">
            <a:off x="1844847" y="2574777"/>
            <a:ext cx="420252" cy="1"/>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31ADF867-5CB3-FB53-C689-22849F45AA50}"/>
              </a:ext>
            </a:extLst>
          </p:cNvPr>
          <p:cNvSpPr/>
          <p:nvPr/>
        </p:nvSpPr>
        <p:spPr>
          <a:xfrm>
            <a:off x="1143000" y="2247900"/>
            <a:ext cx="709226" cy="668148"/>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84AF2BDF-F90F-90F6-9071-3DEC1425B9D0}"/>
              </a:ext>
            </a:extLst>
          </p:cNvPr>
          <p:cNvSpPr/>
          <p:nvPr/>
        </p:nvSpPr>
        <p:spPr>
          <a:xfrm>
            <a:off x="1310067" y="5120640"/>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8" name="Group 57">
            <a:extLst>
              <a:ext uri="{FF2B5EF4-FFF2-40B4-BE49-F238E27FC236}">
                <a16:creationId xmlns:a16="http://schemas.microsoft.com/office/drawing/2014/main" id="{D44FC8DB-EFB1-0FF3-59E6-1F41D8EC4AF4}"/>
              </a:ext>
            </a:extLst>
          </p:cNvPr>
          <p:cNvGrpSpPr/>
          <p:nvPr/>
        </p:nvGrpSpPr>
        <p:grpSpPr>
          <a:xfrm>
            <a:off x="2265099" y="4991100"/>
            <a:ext cx="9549112" cy="653752"/>
            <a:chOff x="3690372" y="3389726"/>
            <a:chExt cx="12060501" cy="806153"/>
          </a:xfrm>
        </p:grpSpPr>
        <p:sp>
          <p:nvSpPr>
            <p:cNvPr id="59" name="Rectangle: Diagonal Corners Snipped 58">
              <a:extLst>
                <a:ext uri="{FF2B5EF4-FFF2-40B4-BE49-F238E27FC236}">
                  <a16:creationId xmlns:a16="http://schemas.microsoft.com/office/drawing/2014/main" id="{F69DC0EC-ACB1-6158-085F-D605BF66D633}"/>
                </a:ext>
              </a:extLst>
            </p:cNvPr>
            <p:cNvSpPr/>
            <p:nvPr/>
          </p:nvSpPr>
          <p:spPr>
            <a:xfrm>
              <a:off x="3690372" y="3389726"/>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0" name="TextBox 5">
              <a:extLst>
                <a:ext uri="{FF2B5EF4-FFF2-40B4-BE49-F238E27FC236}">
                  <a16:creationId xmlns:a16="http://schemas.microsoft.com/office/drawing/2014/main" id="{765A6CF1-0F61-FF4A-CD47-B6E193BDAE28}"/>
                </a:ext>
              </a:extLst>
            </p:cNvPr>
            <p:cNvSpPr txBox="1"/>
            <p:nvPr/>
          </p:nvSpPr>
          <p:spPr>
            <a:xfrm>
              <a:off x="3922486" y="3496620"/>
              <a:ext cx="9235963"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mô</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tả</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(Description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61" name="Oval 60">
            <a:extLst>
              <a:ext uri="{FF2B5EF4-FFF2-40B4-BE49-F238E27FC236}">
                <a16:creationId xmlns:a16="http://schemas.microsoft.com/office/drawing/2014/main" id="{77F5E002-73A1-A290-37E5-2EEACF9C3198}"/>
              </a:ext>
            </a:extLst>
          </p:cNvPr>
          <p:cNvSpPr/>
          <p:nvPr/>
        </p:nvSpPr>
        <p:spPr>
          <a:xfrm>
            <a:off x="1312254" y="5925922"/>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a:extLst>
              <a:ext uri="{FF2B5EF4-FFF2-40B4-BE49-F238E27FC236}">
                <a16:creationId xmlns:a16="http://schemas.microsoft.com/office/drawing/2014/main" id="{74CF62BC-1E4C-A09E-C68C-24BA0063BF36}"/>
              </a:ext>
            </a:extLst>
          </p:cNvPr>
          <p:cNvGrpSpPr/>
          <p:nvPr/>
        </p:nvGrpSpPr>
        <p:grpSpPr>
          <a:xfrm>
            <a:off x="2265099" y="5785148"/>
            <a:ext cx="9549112" cy="653752"/>
            <a:chOff x="3720276" y="4610125"/>
            <a:chExt cx="12060501" cy="806153"/>
          </a:xfrm>
        </p:grpSpPr>
        <p:sp>
          <p:nvSpPr>
            <p:cNvPr id="63" name="Rectangle: Diagonal Corners Snipped 62">
              <a:extLst>
                <a:ext uri="{FF2B5EF4-FFF2-40B4-BE49-F238E27FC236}">
                  <a16:creationId xmlns:a16="http://schemas.microsoft.com/office/drawing/2014/main" id="{427BD0E5-1C2F-5065-3344-EDDD4288AA40}"/>
                </a:ext>
              </a:extLst>
            </p:cNvPr>
            <p:cNvSpPr/>
            <p:nvPr/>
          </p:nvSpPr>
          <p:spPr>
            <a:xfrm>
              <a:off x="3720276" y="461012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4" name="TextBox 5">
              <a:extLst>
                <a:ext uri="{FF2B5EF4-FFF2-40B4-BE49-F238E27FC236}">
                  <a16:creationId xmlns:a16="http://schemas.microsoft.com/office/drawing/2014/main" id="{631404FA-3AA6-B078-B436-4E3FE46E7936}"/>
                </a:ext>
              </a:extLst>
            </p:cNvPr>
            <p:cNvSpPr txBox="1"/>
            <p:nvPr/>
          </p:nvSpPr>
          <p:spPr>
            <a:xfrm>
              <a:off x="3922486" y="4709581"/>
              <a:ext cx="11356764"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điều</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khiển</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bảng</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dữ</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liệu</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(Data-Driven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65" name="Oval 64">
            <a:extLst>
              <a:ext uri="{FF2B5EF4-FFF2-40B4-BE49-F238E27FC236}">
                <a16:creationId xmlns:a16="http://schemas.microsoft.com/office/drawing/2014/main" id="{375ABE42-B677-FF80-90DD-73797644E7EE}"/>
              </a:ext>
            </a:extLst>
          </p:cNvPr>
          <p:cNvSpPr/>
          <p:nvPr/>
        </p:nvSpPr>
        <p:spPr>
          <a:xfrm>
            <a:off x="1312254" y="6708490"/>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6" name="Group 65">
            <a:extLst>
              <a:ext uri="{FF2B5EF4-FFF2-40B4-BE49-F238E27FC236}">
                <a16:creationId xmlns:a16="http://schemas.microsoft.com/office/drawing/2014/main" id="{3F91C522-CB37-842F-BC85-DF8D83617BFB}"/>
              </a:ext>
            </a:extLst>
          </p:cNvPr>
          <p:cNvGrpSpPr/>
          <p:nvPr/>
        </p:nvGrpSpPr>
        <p:grpSpPr>
          <a:xfrm>
            <a:off x="2265099" y="6580546"/>
            <a:ext cx="9549112" cy="653752"/>
            <a:chOff x="3713796" y="5828151"/>
            <a:chExt cx="12060501" cy="806153"/>
          </a:xfrm>
        </p:grpSpPr>
        <p:sp>
          <p:nvSpPr>
            <p:cNvPr id="67" name="Rectangle: Diagonal Corners Snipped 66">
              <a:extLst>
                <a:ext uri="{FF2B5EF4-FFF2-40B4-BE49-F238E27FC236}">
                  <a16:creationId xmlns:a16="http://schemas.microsoft.com/office/drawing/2014/main" id="{E37173E3-7A0C-2983-1D83-8C14EE069906}"/>
                </a:ext>
              </a:extLst>
            </p:cNvPr>
            <p:cNvSpPr/>
            <p:nvPr/>
          </p:nvSpPr>
          <p:spPr>
            <a:xfrm>
              <a:off x="3713796" y="5828151"/>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8" name="TextBox 5">
              <a:extLst>
                <a:ext uri="{FF2B5EF4-FFF2-40B4-BE49-F238E27FC236}">
                  <a16:creationId xmlns:a16="http://schemas.microsoft.com/office/drawing/2014/main" id="{4C59D18C-9B0A-95C3-40B9-7F7151E475EF}"/>
                </a:ext>
              </a:extLst>
            </p:cNvPr>
            <p:cNvSpPr txBox="1"/>
            <p:nvPr/>
          </p:nvSpPr>
          <p:spPr>
            <a:xfrm>
              <a:off x="3916723" y="5926432"/>
              <a:ext cx="11704276"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kích</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hoạt</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liên</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kết</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(Associative Activation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69" name="Oval 68">
            <a:extLst>
              <a:ext uri="{FF2B5EF4-FFF2-40B4-BE49-F238E27FC236}">
                <a16:creationId xmlns:a16="http://schemas.microsoft.com/office/drawing/2014/main" id="{F798071D-36A2-E037-31AE-EE8FB8DD46BC}"/>
              </a:ext>
            </a:extLst>
          </p:cNvPr>
          <p:cNvSpPr/>
          <p:nvPr/>
        </p:nvSpPr>
        <p:spPr>
          <a:xfrm>
            <a:off x="1317765" y="7536565"/>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0" name="Group 69">
            <a:extLst>
              <a:ext uri="{FF2B5EF4-FFF2-40B4-BE49-F238E27FC236}">
                <a16:creationId xmlns:a16="http://schemas.microsoft.com/office/drawing/2014/main" id="{91EC73BA-73AE-6FDD-B432-C4486D850EFB}"/>
              </a:ext>
            </a:extLst>
          </p:cNvPr>
          <p:cNvGrpSpPr/>
          <p:nvPr/>
        </p:nvGrpSpPr>
        <p:grpSpPr>
          <a:xfrm>
            <a:off x="2265097" y="7396119"/>
            <a:ext cx="9549112" cy="653752"/>
            <a:chOff x="3734590" y="7002955"/>
            <a:chExt cx="12060501" cy="806153"/>
          </a:xfrm>
        </p:grpSpPr>
        <p:sp>
          <p:nvSpPr>
            <p:cNvPr id="71" name="Rectangle: Diagonal Corners Snipped 70">
              <a:extLst>
                <a:ext uri="{FF2B5EF4-FFF2-40B4-BE49-F238E27FC236}">
                  <a16:creationId xmlns:a16="http://schemas.microsoft.com/office/drawing/2014/main" id="{B4894BBB-3CD9-1B3C-FE87-C33F64F2E099}"/>
                </a:ext>
              </a:extLst>
            </p:cNvPr>
            <p:cNvSpPr/>
            <p:nvPr/>
          </p:nvSpPr>
          <p:spPr>
            <a:xfrm>
              <a:off x="3734590" y="700295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72" name="TextBox 5">
              <a:extLst>
                <a:ext uri="{FF2B5EF4-FFF2-40B4-BE49-F238E27FC236}">
                  <a16:creationId xmlns:a16="http://schemas.microsoft.com/office/drawing/2014/main" id="{94C6F52B-77AA-4E78-D8A5-60E535EF14C5}"/>
                </a:ext>
              </a:extLst>
            </p:cNvPr>
            <p:cNvSpPr txBox="1"/>
            <p:nvPr/>
          </p:nvSpPr>
          <p:spPr>
            <a:xfrm>
              <a:off x="3913404" y="7102411"/>
              <a:ext cx="10061363" cy="607240"/>
            </a:xfrm>
            <a:prstGeom prst="rect">
              <a:avLst/>
            </a:prstGeom>
          </p:spPr>
          <p:txBody>
            <a:bodyPr wrap="square" lIns="0" tIns="0" rIns="0" bIns="0" rtlCol="0" anchor="ctr">
              <a:spAutoFit/>
            </a:bodyPr>
            <a:lstStyle/>
            <a:p>
              <a:r>
                <a:rPr lang="en-US" sz="3200" b="1" dirty="0" err="1">
                  <a:solidFill>
                    <a:srgbClr val="002060">
                      <a:alpha val="30000"/>
                    </a:srgbClr>
                  </a:solidFill>
                  <a:latin typeface="Source Sans Pro" panose="020B0503030403020204" pitchFamily="34" charset="0"/>
                  <a:ea typeface="Source Sans Pro" panose="020B0503030403020204" pitchFamily="34" charset="0"/>
                </a:rPr>
                <a:t>Lỗi</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mất</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kích</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hoạt</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(Loss-of-activation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73" name="Oval 72">
            <a:extLst>
              <a:ext uri="{FF2B5EF4-FFF2-40B4-BE49-F238E27FC236}">
                <a16:creationId xmlns:a16="http://schemas.microsoft.com/office/drawing/2014/main" id="{1B02C337-19DA-37B6-D1DE-84F4B186F038}"/>
              </a:ext>
            </a:extLst>
          </p:cNvPr>
          <p:cNvSpPr/>
          <p:nvPr/>
        </p:nvSpPr>
        <p:spPr>
          <a:xfrm>
            <a:off x="1306829" y="8330842"/>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4" name="Group 73">
            <a:extLst>
              <a:ext uri="{FF2B5EF4-FFF2-40B4-BE49-F238E27FC236}">
                <a16:creationId xmlns:a16="http://schemas.microsoft.com/office/drawing/2014/main" id="{68F3A14C-A6AF-FD0E-6266-DA9ED5C21426}"/>
              </a:ext>
            </a:extLst>
          </p:cNvPr>
          <p:cNvGrpSpPr/>
          <p:nvPr/>
        </p:nvGrpSpPr>
        <p:grpSpPr>
          <a:xfrm>
            <a:off x="2265097" y="8212794"/>
            <a:ext cx="9549112" cy="653752"/>
            <a:chOff x="3690373" y="8223547"/>
            <a:chExt cx="12060501" cy="806153"/>
          </a:xfrm>
        </p:grpSpPr>
        <p:sp>
          <p:nvSpPr>
            <p:cNvPr id="75" name="Rectangle: Diagonal Corners Snipped 74">
              <a:extLst>
                <a:ext uri="{FF2B5EF4-FFF2-40B4-BE49-F238E27FC236}">
                  <a16:creationId xmlns:a16="http://schemas.microsoft.com/office/drawing/2014/main" id="{8C06F5C9-34EA-3983-A49D-9420DBFD081D}"/>
                </a:ext>
              </a:extLst>
            </p:cNvPr>
            <p:cNvSpPr/>
            <p:nvPr/>
          </p:nvSpPr>
          <p:spPr>
            <a:xfrm>
              <a:off x="3690373" y="8223547"/>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76" name="TextBox 5">
              <a:extLst>
                <a:ext uri="{FF2B5EF4-FFF2-40B4-BE49-F238E27FC236}">
                  <a16:creationId xmlns:a16="http://schemas.microsoft.com/office/drawing/2014/main" id="{2A1D1F1D-C521-A334-65DF-121D919FCAE8}"/>
                </a:ext>
              </a:extLst>
            </p:cNvPr>
            <p:cNvSpPr txBox="1"/>
            <p:nvPr/>
          </p:nvSpPr>
          <p:spPr>
            <a:xfrm>
              <a:off x="3913404" y="8320937"/>
              <a:ext cx="9235963"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chế</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độ</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(Mode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cxnSp>
        <p:nvCxnSpPr>
          <p:cNvPr id="77" name="Straight Connector 76">
            <a:extLst>
              <a:ext uri="{FF2B5EF4-FFF2-40B4-BE49-F238E27FC236}">
                <a16:creationId xmlns:a16="http://schemas.microsoft.com/office/drawing/2014/main" id="{479FA13F-A4BC-D82F-2105-0E7A4578B7C0}"/>
              </a:ext>
            </a:extLst>
          </p:cNvPr>
          <p:cNvCxnSpPr>
            <a:cxnSpLocks/>
            <a:stCxn id="57" idx="6"/>
            <a:endCxn id="59" idx="2"/>
          </p:cNvCxnSpPr>
          <p:nvPr/>
        </p:nvCxnSpPr>
        <p:spPr>
          <a:xfrm>
            <a:off x="1714490" y="5311140"/>
            <a:ext cx="550609" cy="6836"/>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43C195E0-0FC6-CCDB-D528-EB32EA3F6C7E}"/>
              </a:ext>
            </a:extLst>
          </p:cNvPr>
          <p:cNvCxnSpPr>
            <a:cxnSpLocks/>
            <a:stCxn id="61" idx="6"/>
            <a:endCxn id="63" idx="2"/>
          </p:cNvCxnSpPr>
          <p:nvPr/>
        </p:nvCxnSpPr>
        <p:spPr>
          <a:xfrm flipV="1">
            <a:off x="1716677" y="6112024"/>
            <a:ext cx="548422" cy="4398"/>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8D807224-CABB-5DE6-8E03-5565CADF7577}"/>
              </a:ext>
            </a:extLst>
          </p:cNvPr>
          <p:cNvCxnSpPr>
            <a:cxnSpLocks/>
            <a:stCxn id="65" idx="6"/>
            <a:endCxn id="67" idx="2"/>
          </p:cNvCxnSpPr>
          <p:nvPr/>
        </p:nvCxnSpPr>
        <p:spPr>
          <a:xfrm>
            <a:off x="1716677" y="6898990"/>
            <a:ext cx="548422" cy="8432"/>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779CD916-464C-E503-513A-E58EEA30C06B}"/>
              </a:ext>
            </a:extLst>
          </p:cNvPr>
          <p:cNvCxnSpPr>
            <a:cxnSpLocks/>
            <a:stCxn id="69" idx="6"/>
            <a:endCxn id="71" idx="2"/>
          </p:cNvCxnSpPr>
          <p:nvPr/>
        </p:nvCxnSpPr>
        <p:spPr>
          <a:xfrm flipV="1">
            <a:off x="1722188" y="7722995"/>
            <a:ext cx="542909" cy="4070"/>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4266CFDF-E619-6A2C-13C0-4A444B0FAFFA}"/>
              </a:ext>
            </a:extLst>
          </p:cNvPr>
          <p:cNvCxnSpPr>
            <a:cxnSpLocks/>
            <a:stCxn id="73" idx="6"/>
            <a:endCxn id="75" idx="2"/>
          </p:cNvCxnSpPr>
          <p:nvPr/>
        </p:nvCxnSpPr>
        <p:spPr>
          <a:xfrm>
            <a:off x="1711252" y="8521342"/>
            <a:ext cx="553845" cy="18328"/>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48168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2070103B-241E-B291-0570-A98136D4451B}"/>
            </a:ext>
          </a:extLst>
        </p:cNvPr>
        <p:cNvGrpSpPr/>
        <p:nvPr/>
      </p:nvGrpSpPr>
      <p:grpSpPr>
        <a:xfrm>
          <a:off x="0" y="0"/>
          <a:ext cx="0" cy="0"/>
          <a:chOff x="0" y="0"/>
          <a:chExt cx="0" cy="0"/>
        </a:xfrm>
      </p:grpSpPr>
      <p:cxnSp>
        <p:nvCxnSpPr>
          <p:cNvPr id="90" name="Straight Connector 89">
            <a:extLst>
              <a:ext uri="{FF2B5EF4-FFF2-40B4-BE49-F238E27FC236}">
                <a16:creationId xmlns:a16="http://schemas.microsoft.com/office/drawing/2014/main" id="{EE4EE63B-5082-4B20-F7F8-A9EEA8B7BFE4}"/>
              </a:ext>
            </a:extLst>
          </p:cNvPr>
          <p:cNvCxnSpPr>
            <a:cxnSpLocks/>
          </p:cNvCxnSpPr>
          <p:nvPr/>
        </p:nvCxnSpPr>
        <p:spPr>
          <a:xfrm>
            <a:off x="1524000" y="1904181"/>
            <a:ext cx="0" cy="7239000"/>
          </a:xfrm>
          <a:prstGeom prst="line">
            <a:avLst/>
          </a:prstGeom>
          <a:ln w="762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Rectangle: Diagonal Corners Snipped 12">
            <a:extLst>
              <a:ext uri="{FF2B5EF4-FFF2-40B4-BE49-F238E27FC236}">
                <a16:creationId xmlns:a16="http://schemas.microsoft.com/office/drawing/2014/main" id="{776960DF-9B39-974F-7A97-0B171E140C16}"/>
              </a:ext>
            </a:extLst>
          </p:cNvPr>
          <p:cNvSpPr/>
          <p:nvPr/>
        </p:nvSpPr>
        <p:spPr>
          <a:xfrm flipV="1">
            <a:off x="2265099" y="3326017"/>
            <a:ext cx="14803701" cy="2202392"/>
          </a:xfrm>
          <a:prstGeom prst="snip2DiagRect">
            <a:avLst>
              <a:gd name="adj1" fmla="val 17613"/>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blue logo with a black background&#10;&#10;AI-generated content may be incorrect.">
            <a:extLst>
              <a:ext uri="{FF2B5EF4-FFF2-40B4-BE49-F238E27FC236}">
                <a16:creationId xmlns:a16="http://schemas.microsoft.com/office/drawing/2014/main" id="{14E6D0F0-E74E-4EC7-928D-55FCC496A276}"/>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3C895C53-BF60-B5AE-5668-6F5942B73385}"/>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28D7612B-4461-FC14-7306-20E8F6CFCF24}"/>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0EBB1921-64F4-5D20-D55D-81E89D417A76}"/>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5025B40A-A7C5-2985-688D-B909EF2EF133}"/>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a:t>
            </a:r>
          </a:p>
        </p:txBody>
      </p:sp>
      <p:sp>
        <p:nvSpPr>
          <p:cNvPr id="27" name="TextBox 26">
            <a:extLst>
              <a:ext uri="{FF2B5EF4-FFF2-40B4-BE49-F238E27FC236}">
                <a16:creationId xmlns:a16="http://schemas.microsoft.com/office/drawing/2014/main" id="{0493A721-3079-8432-8C93-5635C199C6AD}"/>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 SUẤT</a:t>
            </a:r>
          </a:p>
        </p:txBody>
      </p:sp>
      <p:pic>
        <p:nvPicPr>
          <p:cNvPr id="28" name="Picture 27" descr="A blue logo with a black background&#10;&#10;AI-generated content may be incorrect.">
            <a:extLst>
              <a:ext uri="{FF2B5EF4-FFF2-40B4-BE49-F238E27FC236}">
                <a16:creationId xmlns:a16="http://schemas.microsoft.com/office/drawing/2014/main" id="{F7885F18-0BDF-596E-0BAA-60D0D2E7C148}"/>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EB0FA860-109F-E3EC-4014-9E6DE2879C97}"/>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2D253131-11D0-6224-7EA9-333EC1A4382D}"/>
              </a:ext>
            </a:extLst>
          </p:cNvPr>
          <p:cNvSpPr>
            <a:spLocks noGrp="1"/>
          </p:cNvSpPr>
          <p:nvPr>
            <p:ph type="sldNum" sz="quarter" idx="12"/>
          </p:nvPr>
        </p:nvSpPr>
        <p:spPr>
          <a:xfrm>
            <a:off x="17145000" y="9854438"/>
            <a:ext cx="602065"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8</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3" name="TextBox 2">
            <a:extLst>
              <a:ext uri="{FF2B5EF4-FFF2-40B4-BE49-F238E27FC236}">
                <a16:creationId xmlns:a16="http://schemas.microsoft.com/office/drawing/2014/main" id="{6BB51772-A00C-6702-ECB7-35187F711D50}"/>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Các loại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suất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phổ</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biến</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4" name="TextBox 5">
            <a:extLst>
              <a:ext uri="{FF2B5EF4-FFF2-40B4-BE49-F238E27FC236}">
                <a16:creationId xmlns:a16="http://schemas.microsoft.com/office/drawing/2014/main" id="{13E436D2-27B0-8B9C-9171-C1C5D98309B7}"/>
              </a:ext>
            </a:extLst>
          </p:cNvPr>
          <p:cNvSpPr txBox="1"/>
          <p:nvPr/>
        </p:nvSpPr>
        <p:spPr>
          <a:xfrm>
            <a:off x="2467309" y="3941683"/>
            <a:ext cx="14404757" cy="1354217"/>
          </a:xfrm>
          <a:prstGeom prst="rect">
            <a:avLst/>
          </a:prstGeom>
        </p:spPr>
        <p:txBody>
          <a:bodyPr wrap="square" lIns="0" tIns="0" rIns="0" bIns="0" rtlCol="0" anchor="ctr">
            <a:spAutoFit/>
          </a:bodyPr>
          <a:lstStyle/>
          <a:p>
            <a:pPr algn="just"/>
            <a:r>
              <a:rPr lang="vi-VN" sz="4400" dirty="0">
                <a:solidFill>
                  <a:schemeClr val="bg1"/>
                </a:solidFill>
                <a:latin typeface="Source Sans Pro" panose="020B0503030403020204" pitchFamily="34" charset="0"/>
                <a:ea typeface="Source Sans Pro" panose="020B0503030403020204" pitchFamily="34" charset="0"/>
              </a:rPr>
              <a:t>Hành động đúng được </a:t>
            </a:r>
            <a:r>
              <a:rPr lang="vi-VN" sz="4400" b="1" dirty="0">
                <a:solidFill>
                  <a:schemeClr val="bg1"/>
                </a:solidFill>
                <a:latin typeface="Source Sans Pro" panose="020B0503030403020204" pitchFamily="34" charset="0"/>
                <a:ea typeface="Source Sans Pro" panose="020B0503030403020204" pitchFamily="34" charset="0"/>
              </a:rPr>
              <a:t>thực hiện trên vật thể sai</a:t>
            </a:r>
            <a:r>
              <a:rPr lang="vi-VN" sz="4400" dirty="0">
                <a:solidFill>
                  <a:schemeClr val="bg1"/>
                </a:solidFill>
                <a:latin typeface="Source Sans Pro" panose="020B0503030403020204" pitchFamily="34" charset="0"/>
                <a:ea typeface="Source Sans Pro" panose="020B0503030403020204" pitchFamily="34" charset="0"/>
              </a:rPr>
              <a:t>, thường xảy ra khi </a:t>
            </a:r>
            <a:r>
              <a:rPr lang="vi-VN" sz="4400" b="1" dirty="0">
                <a:solidFill>
                  <a:schemeClr val="bg1"/>
                </a:solidFill>
                <a:latin typeface="Source Sans Pro" panose="020B0503030403020204" pitchFamily="34" charset="0"/>
                <a:ea typeface="Source Sans Pro" panose="020B0503030403020204" pitchFamily="34" charset="0"/>
              </a:rPr>
              <a:t>vật sai và vật đúng ở gần nhau </a:t>
            </a:r>
            <a:r>
              <a:rPr lang="vi-VN" sz="4400" dirty="0">
                <a:solidFill>
                  <a:schemeClr val="bg1"/>
                </a:solidFill>
                <a:latin typeface="Source Sans Pro" panose="020B0503030403020204" pitchFamily="34" charset="0"/>
                <a:ea typeface="Source Sans Pro" panose="020B0503030403020204" pitchFamily="34" charset="0"/>
              </a:rPr>
              <a:t>về mặt vật lý. </a:t>
            </a:r>
            <a:endParaRPr lang="en-US" sz="6000" spc="11" dirty="0">
              <a:solidFill>
                <a:schemeClr val="bg1"/>
              </a:solidFill>
              <a:latin typeface="Source Sans Pro" panose="020B0503030403020204" pitchFamily="34" charset="0"/>
              <a:ea typeface="Source Sans Pro" panose="020B0503030403020204" pitchFamily="34" charset="0"/>
              <a:cs typeface="Source Sans Pro"/>
              <a:sym typeface="Source Sans Pro"/>
            </a:endParaRPr>
          </a:p>
        </p:txBody>
      </p:sp>
      <p:grpSp>
        <p:nvGrpSpPr>
          <p:cNvPr id="6" name="Group 5">
            <a:extLst>
              <a:ext uri="{FF2B5EF4-FFF2-40B4-BE49-F238E27FC236}">
                <a16:creationId xmlns:a16="http://schemas.microsoft.com/office/drawing/2014/main" id="{12900403-5CD6-DB6A-A2A1-5D260F4F38AB}"/>
              </a:ext>
            </a:extLst>
          </p:cNvPr>
          <p:cNvGrpSpPr/>
          <p:nvPr/>
        </p:nvGrpSpPr>
        <p:grpSpPr>
          <a:xfrm>
            <a:off x="2265099" y="2933700"/>
            <a:ext cx="12060501" cy="806153"/>
            <a:chOff x="3720276" y="2171700"/>
            <a:chExt cx="12060501" cy="806153"/>
          </a:xfrm>
        </p:grpSpPr>
        <p:sp>
          <p:nvSpPr>
            <p:cNvPr id="8" name="Rectangle: Diagonal Corners Snipped 7">
              <a:extLst>
                <a:ext uri="{FF2B5EF4-FFF2-40B4-BE49-F238E27FC236}">
                  <a16:creationId xmlns:a16="http://schemas.microsoft.com/office/drawing/2014/main" id="{6820ED77-C634-08E8-515F-05BB300F0E43}"/>
                </a:ext>
              </a:extLst>
            </p:cNvPr>
            <p:cNvSpPr/>
            <p:nvPr/>
          </p:nvSpPr>
          <p:spPr>
            <a:xfrm>
              <a:off x="3720276" y="2171700"/>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5">
              <a:extLst>
                <a:ext uri="{FF2B5EF4-FFF2-40B4-BE49-F238E27FC236}">
                  <a16:creationId xmlns:a16="http://schemas.microsoft.com/office/drawing/2014/main" id="{AAEDBDF9-1B91-9D5B-909B-64EAB51C2BEB}"/>
                </a:ext>
              </a:extLst>
            </p:cNvPr>
            <p:cNvSpPr txBox="1"/>
            <p:nvPr/>
          </p:nvSpPr>
          <p:spPr>
            <a:xfrm>
              <a:off x="3922486" y="2266999"/>
              <a:ext cx="9235963" cy="615553"/>
            </a:xfrm>
            <a:prstGeom prst="rect">
              <a:avLst/>
            </a:prstGeom>
          </p:spPr>
          <p:txBody>
            <a:bodyPr wrap="square" lIns="0" tIns="0" rIns="0" bIns="0" rtlCol="0" anchor="ctr">
              <a:spAutoFit/>
            </a:bodyPr>
            <a:lstStyle/>
            <a:p>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Lỗi</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mô</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tả</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(Description Errors)</a:t>
              </a:r>
            </a:p>
          </p:txBody>
        </p:sp>
      </p:grpSp>
      <p:cxnSp>
        <p:nvCxnSpPr>
          <p:cNvPr id="10" name="Straight Connector 9">
            <a:extLst>
              <a:ext uri="{FF2B5EF4-FFF2-40B4-BE49-F238E27FC236}">
                <a16:creationId xmlns:a16="http://schemas.microsoft.com/office/drawing/2014/main" id="{9E4F9925-7829-A67B-CE30-2853E3D6300D}"/>
              </a:ext>
            </a:extLst>
          </p:cNvPr>
          <p:cNvCxnSpPr>
            <a:cxnSpLocks/>
            <a:endCxn id="8" idx="2"/>
          </p:cNvCxnSpPr>
          <p:nvPr/>
        </p:nvCxnSpPr>
        <p:spPr>
          <a:xfrm flipV="1">
            <a:off x="1844847" y="3336777"/>
            <a:ext cx="420252" cy="1"/>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48F03788-6610-518B-B3B5-88AEEBE63A4B}"/>
              </a:ext>
            </a:extLst>
          </p:cNvPr>
          <p:cNvSpPr/>
          <p:nvPr/>
        </p:nvSpPr>
        <p:spPr>
          <a:xfrm>
            <a:off x="1143000" y="3009900"/>
            <a:ext cx="709226" cy="668148"/>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C017C306-D337-3FA1-CA89-A67CF699A7E0}"/>
              </a:ext>
            </a:extLst>
          </p:cNvPr>
          <p:cNvSpPr/>
          <p:nvPr/>
        </p:nvSpPr>
        <p:spPr>
          <a:xfrm>
            <a:off x="1310067" y="2180888"/>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8" name="Group 57">
            <a:extLst>
              <a:ext uri="{FF2B5EF4-FFF2-40B4-BE49-F238E27FC236}">
                <a16:creationId xmlns:a16="http://schemas.microsoft.com/office/drawing/2014/main" id="{FDB1482F-0AD1-DB67-3FA8-A60072B50972}"/>
              </a:ext>
            </a:extLst>
          </p:cNvPr>
          <p:cNvGrpSpPr/>
          <p:nvPr/>
        </p:nvGrpSpPr>
        <p:grpSpPr>
          <a:xfrm>
            <a:off x="2265099" y="2051348"/>
            <a:ext cx="9549112" cy="653752"/>
            <a:chOff x="3690372" y="3389726"/>
            <a:chExt cx="12060501" cy="806153"/>
          </a:xfrm>
        </p:grpSpPr>
        <p:sp>
          <p:nvSpPr>
            <p:cNvPr id="59" name="Rectangle: Diagonal Corners Snipped 58">
              <a:extLst>
                <a:ext uri="{FF2B5EF4-FFF2-40B4-BE49-F238E27FC236}">
                  <a16:creationId xmlns:a16="http://schemas.microsoft.com/office/drawing/2014/main" id="{CF2599B4-8043-89FC-256A-D50D6518B474}"/>
                </a:ext>
              </a:extLst>
            </p:cNvPr>
            <p:cNvSpPr/>
            <p:nvPr/>
          </p:nvSpPr>
          <p:spPr>
            <a:xfrm>
              <a:off x="3690372" y="3389726"/>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0" name="TextBox 5">
              <a:extLst>
                <a:ext uri="{FF2B5EF4-FFF2-40B4-BE49-F238E27FC236}">
                  <a16:creationId xmlns:a16="http://schemas.microsoft.com/office/drawing/2014/main" id="{C6A545CE-55CA-8E88-790B-7CD62C61B77A}"/>
                </a:ext>
              </a:extLst>
            </p:cNvPr>
            <p:cNvSpPr txBox="1"/>
            <p:nvPr/>
          </p:nvSpPr>
          <p:spPr>
            <a:xfrm>
              <a:off x="3922486" y="3496620"/>
              <a:ext cx="9235963"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bị</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chiếm</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đoạt</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(Capture Errors)</a:t>
              </a:r>
            </a:p>
          </p:txBody>
        </p:sp>
      </p:grpSp>
      <p:sp>
        <p:nvSpPr>
          <p:cNvPr id="61" name="Oval 60">
            <a:extLst>
              <a:ext uri="{FF2B5EF4-FFF2-40B4-BE49-F238E27FC236}">
                <a16:creationId xmlns:a16="http://schemas.microsoft.com/office/drawing/2014/main" id="{07194054-3D91-039C-3198-0876F662C8BF}"/>
              </a:ext>
            </a:extLst>
          </p:cNvPr>
          <p:cNvSpPr/>
          <p:nvPr/>
        </p:nvSpPr>
        <p:spPr>
          <a:xfrm>
            <a:off x="1312254" y="5925922"/>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a:extLst>
              <a:ext uri="{FF2B5EF4-FFF2-40B4-BE49-F238E27FC236}">
                <a16:creationId xmlns:a16="http://schemas.microsoft.com/office/drawing/2014/main" id="{1961B287-0A7C-F14D-7119-1F03A1B70247}"/>
              </a:ext>
            </a:extLst>
          </p:cNvPr>
          <p:cNvGrpSpPr/>
          <p:nvPr/>
        </p:nvGrpSpPr>
        <p:grpSpPr>
          <a:xfrm>
            <a:off x="2265099" y="5785148"/>
            <a:ext cx="9549112" cy="653752"/>
            <a:chOff x="3720276" y="4610125"/>
            <a:chExt cx="12060501" cy="806153"/>
          </a:xfrm>
        </p:grpSpPr>
        <p:sp>
          <p:nvSpPr>
            <p:cNvPr id="63" name="Rectangle: Diagonal Corners Snipped 62">
              <a:extLst>
                <a:ext uri="{FF2B5EF4-FFF2-40B4-BE49-F238E27FC236}">
                  <a16:creationId xmlns:a16="http://schemas.microsoft.com/office/drawing/2014/main" id="{00C823ED-6FA6-A7AB-FFD5-77B2A0F157BB}"/>
                </a:ext>
              </a:extLst>
            </p:cNvPr>
            <p:cNvSpPr/>
            <p:nvPr/>
          </p:nvSpPr>
          <p:spPr>
            <a:xfrm>
              <a:off x="3720276" y="461012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4" name="TextBox 5">
              <a:extLst>
                <a:ext uri="{FF2B5EF4-FFF2-40B4-BE49-F238E27FC236}">
                  <a16:creationId xmlns:a16="http://schemas.microsoft.com/office/drawing/2014/main" id="{1EE10D7E-1E12-E43E-EC2B-F05C7F3B9A36}"/>
                </a:ext>
              </a:extLst>
            </p:cNvPr>
            <p:cNvSpPr txBox="1"/>
            <p:nvPr/>
          </p:nvSpPr>
          <p:spPr>
            <a:xfrm>
              <a:off x="3922486" y="4709581"/>
              <a:ext cx="11356764"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điều</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khiển</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bảng</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dữ</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liệu</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(Data-Driven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65" name="Oval 64">
            <a:extLst>
              <a:ext uri="{FF2B5EF4-FFF2-40B4-BE49-F238E27FC236}">
                <a16:creationId xmlns:a16="http://schemas.microsoft.com/office/drawing/2014/main" id="{6D8D0173-94CA-3880-6B08-4F1E364890A2}"/>
              </a:ext>
            </a:extLst>
          </p:cNvPr>
          <p:cNvSpPr/>
          <p:nvPr/>
        </p:nvSpPr>
        <p:spPr>
          <a:xfrm>
            <a:off x="1312254" y="6708490"/>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6" name="Group 65">
            <a:extLst>
              <a:ext uri="{FF2B5EF4-FFF2-40B4-BE49-F238E27FC236}">
                <a16:creationId xmlns:a16="http://schemas.microsoft.com/office/drawing/2014/main" id="{04D78601-8326-BDA4-FAB3-4988A4C5E346}"/>
              </a:ext>
            </a:extLst>
          </p:cNvPr>
          <p:cNvGrpSpPr/>
          <p:nvPr/>
        </p:nvGrpSpPr>
        <p:grpSpPr>
          <a:xfrm>
            <a:off x="2265099" y="6580546"/>
            <a:ext cx="9549112" cy="653752"/>
            <a:chOff x="3713796" y="5828151"/>
            <a:chExt cx="12060501" cy="806153"/>
          </a:xfrm>
        </p:grpSpPr>
        <p:sp>
          <p:nvSpPr>
            <p:cNvPr id="67" name="Rectangle: Diagonal Corners Snipped 66">
              <a:extLst>
                <a:ext uri="{FF2B5EF4-FFF2-40B4-BE49-F238E27FC236}">
                  <a16:creationId xmlns:a16="http://schemas.microsoft.com/office/drawing/2014/main" id="{FA26C982-93CD-D039-E027-FB66B17B10D2}"/>
                </a:ext>
              </a:extLst>
            </p:cNvPr>
            <p:cNvSpPr/>
            <p:nvPr/>
          </p:nvSpPr>
          <p:spPr>
            <a:xfrm>
              <a:off x="3713796" y="5828151"/>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8" name="TextBox 5">
              <a:extLst>
                <a:ext uri="{FF2B5EF4-FFF2-40B4-BE49-F238E27FC236}">
                  <a16:creationId xmlns:a16="http://schemas.microsoft.com/office/drawing/2014/main" id="{1B87A4C0-2B55-1C59-54D6-FC65D36673B7}"/>
                </a:ext>
              </a:extLst>
            </p:cNvPr>
            <p:cNvSpPr txBox="1"/>
            <p:nvPr/>
          </p:nvSpPr>
          <p:spPr>
            <a:xfrm>
              <a:off x="3916723" y="5926432"/>
              <a:ext cx="11704276"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kích</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hoạt</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liên</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kết</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(Associative Activation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69" name="Oval 68">
            <a:extLst>
              <a:ext uri="{FF2B5EF4-FFF2-40B4-BE49-F238E27FC236}">
                <a16:creationId xmlns:a16="http://schemas.microsoft.com/office/drawing/2014/main" id="{AED2563A-3BD8-A335-FD9E-7D53AD2B1382}"/>
              </a:ext>
            </a:extLst>
          </p:cNvPr>
          <p:cNvSpPr/>
          <p:nvPr/>
        </p:nvSpPr>
        <p:spPr>
          <a:xfrm>
            <a:off x="1317765" y="7536565"/>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0" name="Group 69">
            <a:extLst>
              <a:ext uri="{FF2B5EF4-FFF2-40B4-BE49-F238E27FC236}">
                <a16:creationId xmlns:a16="http://schemas.microsoft.com/office/drawing/2014/main" id="{3E777B94-B2F7-8E24-9652-796B8D7CC85E}"/>
              </a:ext>
            </a:extLst>
          </p:cNvPr>
          <p:cNvGrpSpPr/>
          <p:nvPr/>
        </p:nvGrpSpPr>
        <p:grpSpPr>
          <a:xfrm>
            <a:off x="2265097" y="7396119"/>
            <a:ext cx="9549112" cy="653752"/>
            <a:chOff x="3734590" y="7002955"/>
            <a:chExt cx="12060501" cy="806153"/>
          </a:xfrm>
        </p:grpSpPr>
        <p:sp>
          <p:nvSpPr>
            <p:cNvPr id="71" name="Rectangle: Diagonal Corners Snipped 70">
              <a:extLst>
                <a:ext uri="{FF2B5EF4-FFF2-40B4-BE49-F238E27FC236}">
                  <a16:creationId xmlns:a16="http://schemas.microsoft.com/office/drawing/2014/main" id="{9CA986D5-B7B7-9284-3E60-C8D62BC3FF8C}"/>
                </a:ext>
              </a:extLst>
            </p:cNvPr>
            <p:cNvSpPr/>
            <p:nvPr/>
          </p:nvSpPr>
          <p:spPr>
            <a:xfrm>
              <a:off x="3734590" y="700295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72" name="TextBox 5">
              <a:extLst>
                <a:ext uri="{FF2B5EF4-FFF2-40B4-BE49-F238E27FC236}">
                  <a16:creationId xmlns:a16="http://schemas.microsoft.com/office/drawing/2014/main" id="{E0AE8A36-03AC-9C93-5F0E-8F9CE6891013}"/>
                </a:ext>
              </a:extLst>
            </p:cNvPr>
            <p:cNvSpPr txBox="1"/>
            <p:nvPr/>
          </p:nvSpPr>
          <p:spPr>
            <a:xfrm>
              <a:off x="3913404" y="7102411"/>
              <a:ext cx="10061363" cy="607240"/>
            </a:xfrm>
            <a:prstGeom prst="rect">
              <a:avLst/>
            </a:prstGeom>
          </p:spPr>
          <p:txBody>
            <a:bodyPr wrap="square" lIns="0" tIns="0" rIns="0" bIns="0" rtlCol="0" anchor="ctr">
              <a:spAutoFit/>
            </a:bodyPr>
            <a:lstStyle/>
            <a:p>
              <a:r>
                <a:rPr lang="en-US" sz="3200" b="1" dirty="0" err="1">
                  <a:solidFill>
                    <a:srgbClr val="002060">
                      <a:alpha val="30000"/>
                    </a:srgbClr>
                  </a:solidFill>
                  <a:latin typeface="Source Sans Pro" panose="020B0503030403020204" pitchFamily="34" charset="0"/>
                  <a:ea typeface="Source Sans Pro" panose="020B0503030403020204" pitchFamily="34" charset="0"/>
                </a:rPr>
                <a:t>Lỗi</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mất</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kích</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hoạt</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(Loss-of-activation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73" name="Oval 72">
            <a:extLst>
              <a:ext uri="{FF2B5EF4-FFF2-40B4-BE49-F238E27FC236}">
                <a16:creationId xmlns:a16="http://schemas.microsoft.com/office/drawing/2014/main" id="{C01FD74D-2408-195D-46CE-671829275884}"/>
              </a:ext>
            </a:extLst>
          </p:cNvPr>
          <p:cNvSpPr/>
          <p:nvPr/>
        </p:nvSpPr>
        <p:spPr>
          <a:xfrm>
            <a:off x="1306829" y="8330842"/>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4" name="Group 73">
            <a:extLst>
              <a:ext uri="{FF2B5EF4-FFF2-40B4-BE49-F238E27FC236}">
                <a16:creationId xmlns:a16="http://schemas.microsoft.com/office/drawing/2014/main" id="{361C9F0D-55C9-216E-18DD-7E07576082D1}"/>
              </a:ext>
            </a:extLst>
          </p:cNvPr>
          <p:cNvGrpSpPr/>
          <p:nvPr/>
        </p:nvGrpSpPr>
        <p:grpSpPr>
          <a:xfrm>
            <a:off x="2265097" y="8212794"/>
            <a:ext cx="9549112" cy="653752"/>
            <a:chOff x="3690373" y="8223547"/>
            <a:chExt cx="12060501" cy="806153"/>
          </a:xfrm>
        </p:grpSpPr>
        <p:sp>
          <p:nvSpPr>
            <p:cNvPr id="75" name="Rectangle: Diagonal Corners Snipped 74">
              <a:extLst>
                <a:ext uri="{FF2B5EF4-FFF2-40B4-BE49-F238E27FC236}">
                  <a16:creationId xmlns:a16="http://schemas.microsoft.com/office/drawing/2014/main" id="{816C1484-FA30-EB57-D8B4-3073AF9B8626}"/>
                </a:ext>
              </a:extLst>
            </p:cNvPr>
            <p:cNvSpPr/>
            <p:nvPr/>
          </p:nvSpPr>
          <p:spPr>
            <a:xfrm>
              <a:off x="3690373" y="8223547"/>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76" name="TextBox 5">
              <a:extLst>
                <a:ext uri="{FF2B5EF4-FFF2-40B4-BE49-F238E27FC236}">
                  <a16:creationId xmlns:a16="http://schemas.microsoft.com/office/drawing/2014/main" id="{8D8E5EE5-E776-0160-6AD7-13100A81DFDA}"/>
                </a:ext>
              </a:extLst>
            </p:cNvPr>
            <p:cNvSpPr txBox="1"/>
            <p:nvPr/>
          </p:nvSpPr>
          <p:spPr>
            <a:xfrm>
              <a:off x="3913404" y="8320937"/>
              <a:ext cx="9235963"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chế</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độ</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(Mode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cxnSp>
        <p:nvCxnSpPr>
          <p:cNvPr id="77" name="Straight Connector 76">
            <a:extLst>
              <a:ext uri="{FF2B5EF4-FFF2-40B4-BE49-F238E27FC236}">
                <a16:creationId xmlns:a16="http://schemas.microsoft.com/office/drawing/2014/main" id="{2F51B824-5F44-CAD2-2A2C-C714D7A4E2EA}"/>
              </a:ext>
            </a:extLst>
          </p:cNvPr>
          <p:cNvCxnSpPr>
            <a:cxnSpLocks/>
            <a:stCxn id="57" idx="6"/>
            <a:endCxn id="59" idx="2"/>
          </p:cNvCxnSpPr>
          <p:nvPr/>
        </p:nvCxnSpPr>
        <p:spPr>
          <a:xfrm>
            <a:off x="1714490" y="2371388"/>
            <a:ext cx="550609" cy="6836"/>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E9472DF5-78C1-89E6-F24B-3579BD878B3D}"/>
              </a:ext>
            </a:extLst>
          </p:cNvPr>
          <p:cNvCxnSpPr>
            <a:cxnSpLocks/>
            <a:stCxn id="61" idx="6"/>
            <a:endCxn id="63" idx="2"/>
          </p:cNvCxnSpPr>
          <p:nvPr/>
        </p:nvCxnSpPr>
        <p:spPr>
          <a:xfrm flipV="1">
            <a:off x="1716677" y="6112024"/>
            <a:ext cx="548422" cy="4398"/>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3E606330-C9A8-530B-9FC8-8D574B058ED0}"/>
              </a:ext>
            </a:extLst>
          </p:cNvPr>
          <p:cNvCxnSpPr>
            <a:cxnSpLocks/>
            <a:stCxn id="65" idx="6"/>
            <a:endCxn id="67" idx="2"/>
          </p:cNvCxnSpPr>
          <p:nvPr/>
        </p:nvCxnSpPr>
        <p:spPr>
          <a:xfrm>
            <a:off x="1716677" y="6898990"/>
            <a:ext cx="548422" cy="8432"/>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ED7087DE-DC81-1C5C-4FAB-A8921C715F68}"/>
              </a:ext>
            </a:extLst>
          </p:cNvPr>
          <p:cNvCxnSpPr>
            <a:cxnSpLocks/>
            <a:stCxn id="69" idx="6"/>
            <a:endCxn id="71" idx="2"/>
          </p:cNvCxnSpPr>
          <p:nvPr/>
        </p:nvCxnSpPr>
        <p:spPr>
          <a:xfrm flipV="1">
            <a:off x="1722188" y="7722995"/>
            <a:ext cx="542909" cy="4070"/>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03F885F4-C732-3273-A237-51693B2BB723}"/>
              </a:ext>
            </a:extLst>
          </p:cNvPr>
          <p:cNvCxnSpPr>
            <a:cxnSpLocks/>
            <a:stCxn id="73" idx="6"/>
            <a:endCxn id="75" idx="2"/>
          </p:cNvCxnSpPr>
          <p:nvPr/>
        </p:nvCxnSpPr>
        <p:spPr>
          <a:xfrm>
            <a:off x="1711252" y="8521342"/>
            <a:ext cx="553845" cy="18328"/>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36721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F789A0CE-D0EF-9523-4AB7-3D953814EDD1}"/>
            </a:ext>
          </a:extLst>
        </p:cNvPr>
        <p:cNvGrpSpPr/>
        <p:nvPr/>
      </p:nvGrpSpPr>
      <p:grpSpPr>
        <a:xfrm>
          <a:off x="0" y="0"/>
          <a:ext cx="0" cy="0"/>
          <a:chOff x="0" y="0"/>
          <a:chExt cx="0" cy="0"/>
        </a:xfrm>
      </p:grpSpPr>
      <p:cxnSp>
        <p:nvCxnSpPr>
          <p:cNvPr id="90" name="Straight Connector 89">
            <a:extLst>
              <a:ext uri="{FF2B5EF4-FFF2-40B4-BE49-F238E27FC236}">
                <a16:creationId xmlns:a16="http://schemas.microsoft.com/office/drawing/2014/main" id="{BA549060-4641-3C24-0F2A-B80D61869C1D}"/>
              </a:ext>
            </a:extLst>
          </p:cNvPr>
          <p:cNvCxnSpPr>
            <a:cxnSpLocks/>
          </p:cNvCxnSpPr>
          <p:nvPr/>
        </p:nvCxnSpPr>
        <p:spPr>
          <a:xfrm>
            <a:off x="1524000" y="1904181"/>
            <a:ext cx="0" cy="7239000"/>
          </a:xfrm>
          <a:prstGeom prst="line">
            <a:avLst/>
          </a:prstGeom>
          <a:ln w="762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Rectangle: Diagonal Corners Snipped 12">
            <a:extLst>
              <a:ext uri="{FF2B5EF4-FFF2-40B4-BE49-F238E27FC236}">
                <a16:creationId xmlns:a16="http://schemas.microsoft.com/office/drawing/2014/main" id="{342A9FE3-8FAF-051F-6330-9638941508E9}"/>
              </a:ext>
            </a:extLst>
          </p:cNvPr>
          <p:cNvSpPr/>
          <p:nvPr/>
        </p:nvSpPr>
        <p:spPr>
          <a:xfrm flipV="1">
            <a:off x="2265099" y="4164217"/>
            <a:ext cx="14803701" cy="2202392"/>
          </a:xfrm>
          <a:prstGeom prst="snip2DiagRect">
            <a:avLst>
              <a:gd name="adj1" fmla="val 17613"/>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blue logo with a black background&#10;&#10;AI-generated content may be incorrect.">
            <a:extLst>
              <a:ext uri="{FF2B5EF4-FFF2-40B4-BE49-F238E27FC236}">
                <a16:creationId xmlns:a16="http://schemas.microsoft.com/office/drawing/2014/main" id="{6398F085-D6D1-3160-9D5F-3E273E77F697}"/>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0EDB38E8-D466-AABE-AF7A-DD9E79A6EA72}"/>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6BFCA75E-7616-5C0D-558F-117A70463C49}"/>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818BDD56-8C1E-215E-AF17-C505CD284884}"/>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6ADF3EFE-3DFB-6E4E-F5FC-9F90E99E3102}"/>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a:t>
            </a:r>
          </a:p>
        </p:txBody>
      </p:sp>
      <p:sp>
        <p:nvSpPr>
          <p:cNvPr id="27" name="TextBox 26">
            <a:extLst>
              <a:ext uri="{FF2B5EF4-FFF2-40B4-BE49-F238E27FC236}">
                <a16:creationId xmlns:a16="http://schemas.microsoft.com/office/drawing/2014/main" id="{37DB71A9-987D-8DF8-64C8-1684AA4C4261}"/>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 SUẤT</a:t>
            </a:r>
          </a:p>
        </p:txBody>
      </p:sp>
      <p:pic>
        <p:nvPicPr>
          <p:cNvPr id="28" name="Picture 27" descr="A blue logo with a black background&#10;&#10;AI-generated content may be incorrect.">
            <a:extLst>
              <a:ext uri="{FF2B5EF4-FFF2-40B4-BE49-F238E27FC236}">
                <a16:creationId xmlns:a16="http://schemas.microsoft.com/office/drawing/2014/main" id="{F1FD907C-1840-086B-B257-5663B5BC6F6A}"/>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7A64EC04-F228-D67D-F83A-924F8E634A60}"/>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3" name="TextBox 2">
            <a:extLst>
              <a:ext uri="{FF2B5EF4-FFF2-40B4-BE49-F238E27FC236}">
                <a16:creationId xmlns:a16="http://schemas.microsoft.com/office/drawing/2014/main" id="{1B916578-85D6-9413-77B3-7E742E4D25CF}"/>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Các loại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suất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phổ</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biến</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4" name="TextBox 5">
            <a:extLst>
              <a:ext uri="{FF2B5EF4-FFF2-40B4-BE49-F238E27FC236}">
                <a16:creationId xmlns:a16="http://schemas.microsoft.com/office/drawing/2014/main" id="{B64C2C52-2EF6-4B5E-D694-459D6941D9B5}"/>
              </a:ext>
            </a:extLst>
          </p:cNvPr>
          <p:cNvSpPr txBox="1"/>
          <p:nvPr/>
        </p:nvSpPr>
        <p:spPr>
          <a:xfrm>
            <a:off x="2467309" y="4779883"/>
            <a:ext cx="14404757" cy="1354217"/>
          </a:xfrm>
          <a:prstGeom prst="rect">
            <a:avLst/>
          </a:prstGeom>
        </p:spPr>
        <p:txBody>
          <a:bodyPr wrap="square" lIns="0" tIns="0" rIns="0" bIns="0" rtlCol="0" anchor="ctr">
            <a:spAutoFit/>
          </a:bodyPr>
          <a:lstStyle/>
          <a:p>
            <a:pPr algn="just"/>
            <a:r>
              <a:rPr lang="vi-VN" sz="4400" dirty="0">
                <a:solidFill>
                  <a:schemeClr val="bg1"/>
                </a:solidFill>
                <a:latin typeface="Source Sans Pro" panose="020B0503030403020204" pitchFamily="34" charset="0"/>
                <a:ea typeface="Source Sans Pro" panose="020B0503030403020204" pitchFamily="34" charset="0"/>
              </a:rPr>
              <a:t>Tín hiệu/dữ liệu vừa nhìn hoặc nghe </a:t>
            </a:r>
            <a:r>
              <a:rPr lang="vi-VN" sz="4400" b="1" dirty="0">
                <a:solidFill>
                  <a:schemeClr val="bg1"/>
                </a:solidFill>
                <a:latin typeface="Source Sans Pro" panose="020B0503030403020204" pitchFamily="34" charset="0"/>
                <a:ea typeface="Source Sans Pro" panose="020B0503030403020204" pitchFamily="34" charset="0"/>
              </a:rPr>
              <a:t>chen vào hành động</a:t>
            </a:r>
            <a:r>
              <a:rPr lang="vi-VN" sz="4400" dirty="0">
                <a:solidFill>
                  <a:schemeClr val="bg1"/>
                </a:solidFill>
                <a:latin typeface="Source Sans Pro" panose="020B0503030403020204" pitchFamily="34" charset="0"/>
                <a:ea typeface="Source Sans Pro" panose="020B0503030403020204" pitchFamily="34" charset="0"/>
              </a:rPr>
              <a:t>, khiến nhập</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sai</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hoặc</a:t>
            </a:r>
            <a:r>
              <a:rPr lang="en-US" sz="4400" dirty="0">
                <a:solidFill>
                  <a:schemeClr val="bg1"/>
                </a:solidFill>
                <a:latin typeface="Source Sans Pro" panose="020B0503030403020204" pitchFamily="34" charset="0"/>
                <a:ea typeface="Source Sans Pro" panose="020B0503030403020204" pitchFamily="34" charset="0"/>
              </a:rPr>
              <a:t> </a:t>
            </a:r>
            <a:r>
              <a:rPr lang="vi-VN" sz="4400" dirty="0">
                <a:solidFill>
                  <a:schemeClr val="bg1"/>
                </a:solidFill>
                <a:latin typeface="Source Sans Pro" panose="020B0503030403020204" pitchFamily="34" charset="0"/>
                <a:ea typeface="Source Sans Pro" panose="020B0503030403020204" pitchFamily="34" charset="0"/>
              </a:rPr>
              <a:t>chọn nhầm.</a:t>
            </a:r>
            <a:endParaRPr lang="en-US" sz="6000" spc="11" dirty="0">
              <a:solidFill>
                <a:schemeClr val="bg1"/>
              </a:solidFill>
              <a:latin typeface="Source Sans Pro" panose="020B0503030403020204" pitchFamily="34" charset="0"/>
              <a:ea typeface="Source Sans Pro" panose="020B0503030403020204" pitchFamily="34" charset="0"/>
              <a:cs typeface="Source Sans Pro"/>
              <a:sym typeface="Source Sans Pro"/>
            </a:endParaRPr>
          </a:p>
        </p:txBody>
      </p:sp>
      <p:grpSp>
        <p:nvGrpSpPr>
          <p:cNvPr id="6" name="Group 5">
            <a:extLst>
              <a:ext uri="{FF2B5EF4-FFF2-40B4-BE49-F238E27FC236}">
                <a16:creationId xmlns:a16="http://schemas.microsoft.com/office/drawing/2014/main" id="{A5B6DF11-8BF1-CAF3-B2A5-9D6F544AED3D}"/>
              </a:ext>
            </a:extLst>
          </p:cNvPr>
          <p:cNvGrpSpPr/>
          <p:nvPr/>
        </p:nvGrpSpPr>
        <p:grpSpPr>
          <a:xfrm>
            <a:off x="2265099" y="3771900"/>
            <a:ext cx="12060501" cy="806153"/>
            <a:chOff x="3720276" y="2171700"/>
            <a:chExt cx="12060501" cy="806153"/>
          </a:xfrm>
        </p:grpSpPr>
        <p:sp>
          <p:nvSpPr>
            <p:cNvPr id="8" name="Rectangle: Diagonal Corners Snipped 7">
              <a:extLst>
                <a:ext uri="{FF2B5EF4-FFF2-40B4-BE49-F238E27FC236}">
                  <a16:creationId xmlns:a16="http://schemas.microsoft.com/office/drawing/2014/main" id="{09044105-BB50-7AC2-ACD8-5637FC9DC40E}"/>
                </a:ext>
              </a:extLst>
            </p:cNvPr>
            <p:cNvSpPr/>
            <p:nvPr/>
          </p:nvSpPr>
          <p:spPr>
            <a:xfrm>
              <a:off x="3720276" y="2171700"/>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5">
              <a:extLst>
                <a:ext uri="{FF2B5EF4-FFF2-40B4-BE49-F238E27FC236}">
                  <a16:creationId xmlns:a16="http://schemas.microsoft.com/office/drawing/2014/main" id="{2C74818A-4CD7-DC5F-F919-CC367897EA95}"/>
                </a:ext>
              </a:extLst>
            </p:cNvPr>
            <p:cNvSpPr txBox="1"/>
            <p:nvPr/>
          </p:nvSpPr>
          <p:spPr>
            <a:xfrm>
              <a:off x="3922486" y="2266999"/>
              <a:ext cx="11705891" cy="615553"/>
            </a:xfrm>
            <a:prstGeom prst="rect">
              <a:avLst/>
            </a:prstGeom>
          </p:spPr>
          <p:txBody>
            <a:bodyPr wrap="square" lIns="0" tIns="0" rIns="0" bIns="0" rtlCol="0" anchor="ctr">
              <a:spAutoFit/>
            </a:bodyPr>
            <a:lstStyle/>
            <a:p>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Lỗi</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điều</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khiển</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bảng</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dữ</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liệu</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(Data-Driven Errors)</a:t>
              </a:r>
            </a:p>
          </p:txBody>
        </p:sp>
      </p:grpSp>
      <p:cxnSp>
        <p:nvCxnSpPr>
          <p:cNvPr id="10" name="Straight Connector 9">
            <a:extLst>
              <a:ext uri="{FF2B5EF4-FFF2-40B4-BE49-F238E27FC236}">
                <a16:creationId xmlns:a16="http://schemas.microsoft.com/office/drawing/2014/main" id="{26775321-A56B-BE35-9032-63D3FC741AEF}"/>
              </a:ext>
            </a:extLst>
          </p:cNvPr>
          <p:cNvCxnSpPr>
            <a:cxnSpLocks/>
            <a:endCxn id="8" idx="2"/>
          </p:cNvCxnSpPr>
          <p:nvPr/>
        </p:nvCxnSpPr>
        <p:spPr>
          <a:xfrm flipV="1">
            <a:off x="1844847" y="4174977"/>
            <a:ext cx="420252" cy="1"/>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E4A96C41-6821-5343-139B-4BF400FD56A6}"/>
              </a:ext>
            </a:extLst>
          </p:cNvPr>
          <p:cNvSpPr/>
          <p:nvPr/>
        </p:nvSpPr>
        <p:spPr>
          <a:xfrm>
            <a:off x="1143000" y="3848100"/>
            <a:ext cx="709226" cy="668148"/>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6C5B1EE1-571E-6F89-1690-E6B302C51363}"/>
              </a:ext>
            </a:extLst>
          </p:cNvPr>
          <p:cNvSpPr/>
          <p:nvPr/>
        </p:nvSpPr>
        <p:spPr>
          <a:xfrm>
            <a:off x="1310067" y="2180888"/>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8" name="Group 57">
            <a:extLst>
              <a:ext uri="{FF2B5EF4-FFF2-40B4-BE49-F238E27FC236}">
                <a16:creationId xmlns:a16="http://schemas.microsoft.com/office/drawing/2014/main" id="{B27C86E8-6BFC-F53F-6608-649673B7E66D}"/>
              </a:ext>
            </a:extLst>
          </p:cNvPr>
          <p:cNvGrpSpPr/>
          <p:nvPr/>
        </p:nvGrpSpPr>
        <p:grpSpPr>
          <a:xfrm>
            <a:off x="2265099" y="2051348"/>
            <a:ext cx="9549112" cy="653752"/>
            <a:chOff x="3690372" y="3389726"/>
            <a:chExt cx="12060501" cy="806153"/>
          </a:xfrm>
        </p:grpSpPr>
        <p:sp>
          <p:nvSpPr>
            <p:cNvPr id="59" name="Rectangle: Diagonal Corners Snipped 58">
              <a:extLst>
                <a:ext uri="{FF2B5EF4-FFF2-40B4-BE49-F238E27FC236}">
                  <a16:creationId xmlns:a16="http://schemas.microsoft.com/office/drawing/2014/main" id="{3578B9FE-4E49-EBA8-966B-BFF17A62A5A8}"/>
                </a:ext>
              </a:extLst>
            </p:cNvPr>
            <p:cNvSpPr/>
            <p:nvPr/>
          </p:nvSpPr>
          <p:spPr>
            <a:xfrm>
              <a:off x="3690372" y="3389726"/>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0" name="TextBox 5">
              <a:extLst>
                <a:ext uri="{FF2B5EF4-FFF2-40B4-BE49-F238E27FC236}">
                  <a16:creationId xmlns:a16="http://schemas.microsoft.com/office/drawing/2014/main" id="{8AFAE1F9-E4E9-A6CC-B1AB-36E08C4CC2B6}"/>
                </a:ext>
              </a:extLst>
            </p:cNvPr>
            <p:cNvSpPr txBox="1"/>
            <p:nvPr/>
          </p:nvSpPr>
          <p:spPr>
            <a:xfrm>
              <a:off x="3922486" y="3496620"/>
              <a:ext cx="9235963"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bị</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chiếm</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đoạt</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(Capture Errors)</a:t>
              </a:r>
            </a:p>
          </p:txBody>
        </p:sp>
      </p:grpSp>
      <p:sp>
        <p:nvSpPr>
          <p:cNvPr id="61" name="Oval 60">
            <a:extLst>
              <a:ext uri="{FF2B5EF4-FFF2-40B4-BE49-F238E27FC236}">
                <a16:creationId xmlns:a16="http://schemas.microsoft.com/office/drawing/2014/main" id="{1619408D-4ABA-5536-E73F-2E6357A2C2B2}"/>
              </a:ext>
            </a:extLst>
          </p:cNvPr>
          <p:cNvSpPr/>
          <p:nvPr/>
        </p:nvSpPr>
        <p:spPr>
          <a:xfrm>
            <a:off x="1312254" y="2998274"/>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a:extLst>
              <a:ext uri="{FF2B5EF4-FFF2-40B4-BE49-F238E27FC236}">
                <a16:creationId xmlns:a16="http://schemas.microsoft.com/office/drawing/2014/main" id="{9F0807F7-78DA-E1FA-82DD-7569A2D4B456}"/>
              </a:ext>
            </a:extLst>
          </p:cNvPr>
          <p:cNvGrpSpPr/>
          <p:nvPr/>
        </p:nvGrpSpPr>
        <p:grpSpPr>
          <a:xfrm>
            <a:off x="2265099" y="2857500"/>
            <a:ext cx="9549112" cy="653752"/>
            <a:chOff x="3720276" y="4610125"/>
            <a:chExt cx="12060501" cy="806153"/>
          </a:xfrm>
        </p:grpSpPr>
        <p:sp>
          <p:nvSpPr>
            <p:cNvPr id="63" name="Rectangle: Diagonal Corners Snipped 62">
              <a:extLst>
                <a:ext uri="{FF2B5EF4-FFF2-40B4-BE49-F238E27FC236}">
                  <a16:creationId xmlns:a16="http://schemas.microsoft.com/office/drawing/2014/main" id="{F88DCA95-3B6B-7F21-0655-832495E69706}"/>
                </a:ext>
              </a:extLst>
            </p:cNvPr>
            <p:cNvSpPr/>
            <p:nvPr/>
          </p:nvSpPr>
          <p:spPr>
            <a:xfrm>
              <a:off x="3720276" y="461012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4" name="TextBox 5">
              <a:extLst>
                <a:ext uri="{FF2B5EF4-FFF2-40B4-BE49-F238E27FC236}">
                  <a16:creationId xmlns:a16="http://schemas.microsoft.com/office/drawing/2014/main" id="{DBCB1105-23CD-5D60-C1CB-BB7CAC4C0EBD}"/>
                </a:ext>
              </a:extLst>
            </p:cNvPr>
            <p:cNvSpPr txBox="1"/>
            <p:nvPr/>
          </p:nvSpPr>
          <p:spPr>
            <a:xfrm>
              <a:off x="3922486" y="4709581"/>
              <a:ext cx="11356764"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mô</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tả</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(Description Errors)</a:t>
              </a:r>
            </a:p>
          </p:txBody>
        </p:sp>
      </p:grpSp>
      <p:sp>
        <p:nvSpPr>
          <p:cNvPr id="65" name="Oval 64">
            <a:extLst>
              <a:ext uri="{FF2B5EF4-FFF2-40B4-BE49-F238E27FC236}">
                <a16:creationId xmlns:a16="http://schemas.microsoft.com/office/drawing/2014/main" id="{53425419-3D51-7928-30D8-BEFC0EBBAFF9}"/>
              </a:ext>
            </a:extLst>
          </p:cNvPr>
          <p:cNvSpPr/>
          <p:nvPr/>
        </p:nvSpPr>
        <p:spPr>
          <a:xfrm>
            <a:off x="1312254" y="6708490"/>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6" name="Group 65">
            <a:extLst>
              <a:ext uri="{FF2B5EF4-FFF2-40B4-BE49-F238E27FC236}">
                <a16:creationId xmlns:a16="http://schemas.microsoft.com/office/drawing/2014/main" id="{741B32D9-9773-AE1D-320F-3485654AB873}"/>
              </a:ext>
            </a:extLst>
          </p:cNvPr>
          <p:cNvGrpSpPr/>
          <p:nvPr/>
        </p:nvGrpSpPr>
        <p:grpSpPr>
          <a:xfrm>
            <a:off x="2265099" y="6580546"/>
            <a:ext cx="9549112" cy="653752"/>
            <a:chOff x="3713796" y="5828151"/>
            <a:chExt cx="12060501" cy="806153"/>
          </a:xfrm>
        </p:grpSpPr>
        <p:sp>
          <p:nvSpPr>
            <p:cNvPr id="67" name="Rectangle: Diagonal Corners Snipped 66">
              <a:extLst>
                <a:ext uri="{FF2B5EF4-FFF2-40B4-BE49-F238E27FC236}">
                  <a16:creationId xmlns:a16="http://schemas.microsoft.com/office/drawing/2014/main" id="{A6A649AA-7542-5F06-9AAA-8874122F19DF}"/>
                </a:ext>
              </a:extLst>
            </p:cNvPr>
            <p:cNvSpPr/>
            <p:nvPr/>
          </p:nvSpPr>
          <p:spPr>
            <a:xfrm>
              <a:off x="3713796" y="5828151"/>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8" name="TextBox 5">
              <a:extLst>
                <a:ext uri="{FF2B5EF4-FFF2-40B4-BE49-F238E27FC236}">
                  <a16:creationId xmlns:a16="http://schemas.microsoft.com/office/drawing/2014/main" id="{EF948C83-8BF8-EEBC-7B09-11C3D33BB28A}"/>
                </a:ext>
              </a:extLst>
            </p:cNvPr>
            <p:cNvSpPr txBox="1"/>
            <p:nvPr/>
          </p:nvSpPr>
          <p:spPr>
            <a:xfrm>
              <a:off x="3916723" y="5926432"/>
              <a:ext cx="11704276"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kích</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hoạt</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liên</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kết</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(Associative Activation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69" name="Oval 68">
            <a:extLst>
              <a:ext uri="{FF2B5EF4-FFF2-40B4-BE49-F238E27FC236}">
                <a16:creationId xmlns:a16="http://schemas.microsoft.com/office/drawing/2014/main" id="{E6329D7B-40FC-C78A-F3EC-7A6D4FAE6017}"/>
              </a:ext>
            </a:extLst>
          </p:cNvPr>
          <p:cNvSpPr/>
          <p:nvPr/>
        </p:nvSpPr>
        <p:spPr>
          <a:xfrm>
            <a:off x="1317765" y="7536565"/>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0" name="Group 69">
            <a:extLst>
              <a:ext uri="{FF2B5EF4-FFF2-40B4-BE49-F238E27FC236}">
                <a16:creationId xmlns:a16="http://schemas.microsoft.com/office/drawing/2014/main" id="{B7AE1A5B-6FA1-EA52-3692-EA3ECCD7B834}"/>
              </a:ext>
            </a:extLst>
          </p:cNvPr>
          <p:cNvGrpSpPr/>
          <p:nvPr/>
        </p:nvGrpSpPr>
        <p:grpSpPr>
          <a:xfrm>
            <a:off x="2265097" y="7396119"/>
            <a:ext cx="9549112" cy="653752"/>
            <a:chOff x="3734590" y="7002955"/>
            <a:chExt cx="12060501" cy="806153"/>
          </a:xfrm>
        </p:grpSpPr>
        <p:sp>
          <p:nvSpPr>
            <p:cNvPr id="71" name="Rectangle: Diagonal Corners Snipped 70">
              <a:extLst>
                <a:ext uri="{FF2B5EF4-FFF2-40B4-BE49-F238E27FC236}">
                  <a16:creationId xmlns:a16="http://schemas.microsoft.com/office/drawing/2014/main" id="{376C1D76-BB0B-75B1-9A0C-D7D4ECAD744A}"/>
                </a:ext>
              </a:extLst>
            </p:cNvPr>
            <p:cNvSpPr/>
            <p:nvPr/>
          </p:nvSpPr>
          <p:spPr>
            <a:xfrm>
              <a:off x="3734590" y="700295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72" name="TextBox 5">
              <a:extLst>
                <a:ext uri="{FF2B5EF4-FFF2-40B4-BE49-F238E27FC236}">
                  <a16:creationId xmlns:a16="http://schemas.microsoft.com/office/drawing/2014/main" id="{BEE1365F-611F-6017-EEE2-16F08295187A}"/>
                </a:ext>
              </a:extLst>
            </p:cNvPr>
            <p:cNvSpPr txBox="1"/>
            <p:nvPr/>
          </p:nvSpPr>
          <p:spPr>
            <a:xfrm>
              <a:off x="3913404" y="7102411"/>
              <a:ext cx="10061363" cy="607240"/>
            </a:xfrm>
            <a:prstGeom prst="rect">
              <a:avLst/>
            </a:prstGeom>
          </p:spPr>
          <p:txBody>
            <a:bodyPr wrap="square" lIns="0" tIns="0" rIns="0" bIns="0" rtlCol="0" anchor="ctr">
              <a:spAutoFit/>
            </a:bodyPr>
            <a:lstStyle/>
            <a:p>
              <a:r>
                <a:rPr lang="en-US" sz="3200" b="1" dirty="0" err="1">
                  <a:solidFill>
                    <a:srgbClr val="002060">
                      <a:alpha val="30000"/>
                    </a:srgbClr>
                  </a:solidFill>
                  <a:latin typeface="Source Sans Pro" panose="020B0503030403020204" pitchFamily="34" charset="0"/>
                  <a:ea typeface="Source Sans Pro" panose="020B0503030403020204" pitchFamily="34" charset="0"/>
                </a:rPr>
                <a:t>Lỗi</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mất</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kích</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hoạt</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(Loss-of-activation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73" name="Oval 72">
            <a:extLst>
              <a:ext uri="{FF2B5EF4-FFF2-40B4-BE49-F238E27FC236}">
                <a16:creationId xmlns:a16="http://schemas.microsoft.com/office/drawing/2014/main" id="{617D4FA8-7C0E-EEB8-9A4C-0164406C36FF}"/>
              </a:ext>
            </a:extLst>
          </p:cNvPr>
          <p:cNvSpPr/>
          <p:nvPr/>
        </p:nvSpPr>
        <p:spPr>
          <a:xfrm>
            <a:off x="1306829" y="8330842"/>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4" name="Group 73">
            <a:extLst>
              <a:ext uri="{FF2B5EF4-FFF2-40B4-BE49-F238E27FC236}">
                <a16:creationId xmlns:a16="http://schemas.microsoft.com/office/drawing/2014/main" id="{FD1ACF2F-ABC6-229C-0BD6-0D21647C7680}"/>
              </a:ext>
            </a:extLst>
          </p:cNvPr>
          <p:cNvGrpSpPr/>
          <p:nvPr/>
        </p:nvGrpSpPr>
        <p:grpSpPr>
          <a:xfrm>
            <a:off x="2265097" y="8212794"/>
            <a:ext cx="9549112" cy="653752"/>
            <a:chOff x="3690373" y="8223547"/>
            <a:chExt cx="12060501" cy="806153"/>
          </a:xfrm>
        </p:grpSpPr>
        <p:sp>
          <p:nvSpPr>
            <p:cNvPr id="75" name="Rectangle: Diagonal Corners Snipped 74">
              <a:extLst>
                <a:ext uri="{FF2B5EF4-FFF2-40B4-BE49-F238E27FC236}">
                  <a16:creationId xmlns:a16="http://schemas.microsoft.com/office/drawing/2014/main" id="{A48B8BFA-7E07-4E49-BE48-0617276FEA77}"/>
                </a:ext>
              </a:extLst>
            </p:cNvPr>
            <p:cNvSpPr/>
            <p:nvPr/>
          </p:nvSpPr>
          <p:spPr>
            <a:xfrm>
              <a:off x="3690373" y="8223547"/>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76" name="TextBox 5">
              <a:extLst>
                <a:ext uri="{FF2B5EF4-FFF2-40B4-BE49-F238E27FC236}">
                  <a16:creationId xmlns:a16="http://schemas.microsoft.com/office/drawing/2014/main" id="{6D446FBA-6EB2-E6B3-5FC4-A30A6F45E30B}"/>
                </a:ext>
              </a:extLst>
            </p:cNvPr>
            <p:cNvSpPr txBox="1"/>
            <p:nvPr/>
          </p:nvSpPr>
          <p:spPr>
            <a:xfrm>
              <a:off x="3913404" y="8320937"/>
              <a:ext cx="9235963"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chế</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độ</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(Mode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cxnSp>
        <p:nvCxnSpPr>
          <p:cNvPr id="77" name="Straight Connector 76">
            <a:extLst>
              <a:ext uri="{FF2B5EF4-FFF2-40B4-BE49-F238E27FC236}">
                <a16:creationId xmlns:a16="http://schemas.microsoft.com/office/drawing/2014/main" id="{64220BCB-5655-518B-D73D-C3A3F84BBF1C}"/>
              </a:ext>
            </a:extLst>
          </p:cNvPr>
          <p:cNvCxnSpPr>
            <a:cxnSpLocks/>
            <a:stCxn id="57" idx="6"/>
            <a:endCxn id="59" idx="2"/>
          </p:cNvCxnSpPr>
          <p:nvPr/>
        </p:nvCxnSpPr>
        <p:spPr>
          <a:xfrm>
            <a:off x="1714490" y="2371388"/>
            <a:ext cx="550609" cy="6836"/>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0E2E0FF0-BFC6-7AB6-5983-1A885FEF3469}"/>
              </a:ext>
            </a:extLst>
          </p:cNvPr>
          <p:cNvCxnSpPr>
            <a:cxnSpLocks/>
            <a:stCxn id="61" idx="6"/>
            <a:endCxn id="63" idx="2"/>
          </p:cNvCxnSpPr>
          <p:nvPr/>
        </p:nvCxnSpPr>
        <p:spPr>
          <a:xfrm flipV="1">
            <a:off x="1716677" y="3184376"/>
            <a:ext cx="548422" cy="4398"/>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D484CDB1-01C1-4307-D92E-2DDAD106B1A7}"/>
              </a:ext>
            </a:extLst>
          </p:cNvPr>
          <p:cNvCxnSpPr>
            <a:cxnSpLocks/>
            <a:stCxn id="65" idx="6"/>
            <a:endCxn id="67" idx="2"/>
          </p:cNvCxnSpPr>
          <p:nvPr/>
        </p:nvCxnSpPr>
        <p:spPr>
          <a:xfrm>
            <a:off x="1716677" y="6898990"/>
            <a:ext cx="548422" cy="8432"/>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144C06A7-6D2F-3890-F52A-7D90E36628EA}"/>
              </a:ext>
            </a:extLst>
          </p:cNvPr>
          <p:cNvCxnSpPr>
            <a:cxnSpLocks/>
            <a:stCxn id="69" idx="6"/>
            <a:endCxn id="71" idx="2"/>
          </p:cNvCxnSpPr>
          <p:nvPr/>
        </p:nvCxnSpPr>
        <p:spPr>
          <a:xfrm flipV="1">
            <a:off x="1722188" y="7722995"/>
            <a:ext cx="542909" cy="4070"/>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6EC4DA16-8BA6-2578-7FE2-0B2AD62E304E}"/>
              </a:ext>
            </a:extLst>
          </p:cNvPr>
          <p:cNvCxnSpPr>
            <a:cxnSpLocks/>
            <a:stCxn id="73" idx="6"/>
            <a:endCxn id="75" idx="2"/>
          </p:cNvCxnSpPr>
          <p:nvPr/>
        </p:nvCxnSpPr>
        <p:spPr>
          <a:xfrm>
            <a:off x="1711252" y="8521342"/>
            <a:ext cx="553845" cy="18328"/>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
        <p:nvSpPr>
          <p:cNvPr id="11" name="Slide Number Placeholder 8">
            <a:extLst>
              <a:ext uri="{FF2B5EF4-FFF2-40B4-BE49-F238E27FC236}">
                <a16:creationId xmlns:a16="http://schemas.microsoft.com/office/drawing/2014/main" id="{05494B23-6F26-C38C-BEDA-E73C9CC9E818}"/>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9</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Tree>
    <p:extLst>
      <p:ext uri="{BB962C8B-B14F-4D97-AF65-F5344CB8AC3E}">
        <p14:creationId xmlns:p14="http://schemas.microsoft.com/office/powerpoint/2010/main" val="9825225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17DD0B8D-1A67-5DB7-DC69-8789DCC0C011}"/>
            </a:ext>
          </a:extLst>
        </p:cNvPr>
        <p:cNvGrpSpPr/>
        <p:nvPr/>
      </p:nvGrpSpPr>
      <p:grpSpPr>
        <a:xfrm>
          <a:off x="0" y="0"/>
          <a:ext cx="0" cy="0"/>
          <a:chOff x="0" y="0"/>
          <a:chExt cx="0" cy="0"/>
        </a:xfrm>
      </p:grpSpPr>
      <p:cxnSp>
        <p:nvCxnSpPr>
          <p:cNvPr id="90" name="Straight Connector 89">
            <a:extLst>
              <a:ext uri="{FF2B5EF4-FFF2-40B4-BE49-F238E27FC236}">
                <a16:creationId xmlns:a16="http://schemas.microsoft.com/office/drawing/2014/main" id="{60BC526D-343B-2E28-C87E-6436F1665F06}"/>
              </a:ext>
            </a:extLst>
          </p:cNvPr>
          <p:cNvCxnSpPr>
            <a:cxnSpLocks/>
          </p:cNvCxnSpPr>
          <p:nvPr/>
        </p:nvCxnSpPr>
        <p:spPr>
          <a:xfrm>
            <a:off x="1524000" y="1904181"/>
            <a:ext cx="0" cy="7239000"/>
          </a:xfrm>
          <a:prstGeom prst="line">
            <a:avLst/>
          </a:prstGeom>
          <a:ln w="762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Rectangle: Diagonal Corners Snipped 12">
            <a:extLst>
              <a:ext uri="{FF2B5EF4-FFF2-40B4-BE49-F238E27FC236}">
                <a16:creationId xmlns:a16="http://schemas.microsoft.com/office/drawing/2014/main" id="{3B2F7CFB-7F41-3879-21F9-7C0018740C3C}"/>
              </a:ext>
            </a:extLst>
          </p:cNvPr>
          <p:cNvSpPr/>
          <p:nvPr/>
        </p:nvSpPr>
        <p:spPr>
          <a:xfrm flipV="1">
            <a:off x="2265099" y="4998508"/>
            <a:ext cx="14803701" cy="2202392"/>
          </a:xfrm>
          <a:prstGeom prst="snip2DiagRect">
            <a:avLst>
              <a:gd name="adj1" fmla="val 17613"/>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blue logo with a black background&#10;&#10;AI-generated content may be incorrect.">
            <a:extLst>
              <a:ext uri="{FF2B5EF4-FFF2-40B4-BE49-F238E27FC236}">
                <a16:creationId xmlns:a16="http://schemas.microsoft.com/office/drawing/2014/main" id="{4D4BFCC0-BB0D-E301-9693-8D066715D987}"/>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0DA307B4-A6BD-92F7-4D1E-6E25FE56CC24}"/>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983039CB-14AF-E33B-F9FB-5FBB33DF8809}"/>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F487CCB7-F486-1205-C480-BC04B453315B}"/>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F229E662-F25A-A4F7-2CAB-D8B1D8F3FD3D}"/>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a:t>
            </a:r>
          </a:p>
        </p:txBody>
      </p:sp>
      <p:sp>
        <p:nvSpPr>
          <p:cNvPr id="27" name="TextBox 26">
            <a:extLst>
              <a:ext uri="{FF2B5EF4-FFF2-40B4-BE49-F238E27FC236}">
                <a16:creationId xmlns:a16="http://schemas.microsoft.com/office/drawing/2014/main" id="{DFBD5713-FB19-3673-EA94-006EF2E4C0F9}"/>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 SUẤT</a:t>
            </a:r>
          </a:p>
        </p:txBody>
      </p:sp>
      <p:pic>
        <p:nvPicPr>
          <p:cNvPr id="28" name="Picture 27" descr="A blue logo with a black background&#10;&#10;AI-generated content may be incorrect.">
            <a:extLst>
              <a:ext uri="{FF2B5EF4-FFF2-40B4-BE49-F238E27FC236}">
                <a16:creationId xmlns:a16="http://schemas.microsoft.com/office/drawing/2014/main" id="{266B0B5B-D8D1-DD97-F6D0-4397D24F0266}"/>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60CE1E6A-9447-D827-2E9F-E05E82C7B87B}"/>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3" name="TextBox 2">
            <a:extLst>
              <a:ext uri="{FF2B5EF4-FFF2-40B4-BE49-F238E27FC236}">
                <a16:creationId xmlns:a16="http://schemas.microsoft.com/office/drawing/2014/main" id="{A7756F8E-416B-9C6A-E94B-F6E94870F2BA}"/>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Các loại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suất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phổ</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biến</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4" name="TextBox 5">
            <a:extLst>
              <a:ext uri="{FF2B5EF4-FFF2-40B4-BE49-F238E27FC236}">
                <a16:creationId xmlns:a16="http://schemas.microsoft.com/office/drawing/2014/main" id="{609C1862-A83D-C50B-4E45-C6128E95753B}"/>
              </a:ext>
            </a:extLst>
          </p:cNvPr>
          <p:cNvSpPr txBox="1"/>
          <p:nvPr/>
        </p:nvSpPr>
        <p:spPr>
          <a:xfrm>
            <a:off x="2467309" y="5614174"/>
            <a:ext cx="14404757" cy="1354217"/>
          </a:xfrm>
          <a:prstGeom prst="rect">
            <a:avLst/>
          </a:prstGeom>
        </p:spPr>
        <p:txBody>
          <a:bodyPr wrap="square" lIns="0" tIns="0" rIns="0" bIns="0" rtlCol="0" anchor="ctr">
            <a:spAutoFit/>
          </a:bodyPr>
          <a:lstStyle/>
          <a:p>
            <a:pPr algn="just"/>
            <a:r>
              <a:rPr lang="vi-VN" sz="4400" dirty="0">
                <a:solidFill>
                  <a:schemeClr val="bg1"/>
                </a:solidFill>
                <a:latin typeface="Source Sans Pro" panose="020B0503030403020204" pitchFamily="34" charset="0"/>
                <a:ea typeface="Source Sans Pro" panose="020B0503030403020204" pitchFamily="34" charset="0"/>
              </a:rPr>
              <a:t>Một liên tưởng (từ/cụm ý) đang hình thành trong vô thức kéo hành động theo nó, dẫn đến nói/viết/bấm nhầm.</a:t>
            </a:r>
          </a:p>
        </p:txBody>
      </p:sp>
      <p:grpSp>
        <p:nvGrpSpPr>
          <p:cNvPr id="6" name="Group 5">
            <a:extLst>
              <a:ext uri="{FF2B5EF4-FFF2-40B4-BE49-F238E27FC236}">
                <a16:creationId xmlns:a16="http://schemas.microsoft.com/office/drawing/2014/main" id="{F20731D8-2443-4B67-AD81-92AE971F5689}"/>
              </a:ext>
            </a:extLst>
          </p:cNvPr>
          <p:cNvGrpSpPr/>
          <p:nvPr/>
        </p:nvGrpSpPr>
        <p:grpSpPr>
          <a:xfrm>
            <a:off x="2265099" y="4606191"/>
            <a:ext cx="12060501" cy="806153"/>
            <a:chOff x="3720276" y="2171700"/>
            <a:chExt cx="12060501" cy="806153"/>
          </a:xfrm>
        </p:grpSpPr>
        <p:sp>
          <p:nvSpPr>
            <p:cNvPr id="8" name="Rectangle: Diagonal Corners Snipped 7">
              <a:extLst>
                <a:ext uri="{FF2B5EF4-FFF2-40B4-BE49-F238E27FC236}">
                  <a16:creationId xmlns:a16="http://schemas.microsoft.com/office/drawing/2014/main" id="{9E9A5BD0-7664-4C9A-4E97-362D9671FB96}"/>
                </a:ext>
              </a:extLst>
            </p:cNvPr>
            <p:cNvSpPr/>
            <p:nvPr/>
          </p:nvSpPr>
          <p:spPr>
            <a:xfrm>
              <a:off x="3720276" y="2171700"/>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5">
              <a:extLst>
                <a:ext uri="{FF2B5EF4-FFF2-40B4-BE49-F238E27FC236}">
                  <a16:creationId xmlns:a16="http://schemas.microsoft.com/office/drawing/2014/main" id="{3CFBCBDC-B273-92A4-87D0-F104FEA5151F}"/>
                </a:ext>
              </a:extLst>
            </p:cNvPr>
            <p:cNvSpPr txBox="1"/>
            <p:nvPr/>
          </p:nvSpPr>
          <p:spPr>
            <a:xfrm>
              <a:off x="3922486" y="2266999"/>
              <a:ext cx="11705891" cy="615553"/>
            </a:xfrm>
            <a:prstGeom prst="rect">
              <a:avLst/>
            </a:prstGeom>
          </p:spPr>
          <p:txBody>
            <a:bodyPr wrap="square" lIns="0" tIns="0" rIns="0" bIns="0" rtlCol="0" anchor="ctr">
              <a:spAutoFit/>
            </a:bodyPr>
            <a:lstStyle/>
            <a:p>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Lỗi</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kích</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hoạt</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liên</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kết</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(Associative Activation Errors)</a:t>
              </a:r>
            </a:p>
          </p:txBody>
        </p:sp>
      </p:grpSp>
      <p:cxnSp>
        <p:nvCxnSpPr>
          <p:cNvPr id="10" name="Straight Connector 9">
            <a:extLst>
              <a:ext uri="{FF2B5EF4-FFF2-40B4-BE49-F238E27FC236}">
                <a16:creationId xmlns:a16="http://schemas.microsoft.com/office/drawing/2014/main" id="{9CC0EC5F-7EB8-8A2F-0685-BF2EE3538A66}"/>
              </a:ext>
            </a:extLst>
          </p:cNvPr>
          <p:cNvCxnSpPr>
            <a:cxnSpLocks/>
            <a:endCxn id="8" idx="2"/>
          </p:cNvCxnSpPr>
          <p:nvPr/>
        </p:nvCxnSpPr>
        <p:spPr>
          <a:xfrm flipV="1">
            <a:off x="1844847" y="5009268"/>
            <a:ext cx="420252" cy="1"/>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B76C8881-ECB6-E18D-9103-992F9B053886}"/>
              </a:ext>
            </a:extLst>
          </p:cNvPr>
          <p:cNvSpPr/>
          <p:nvPr/>
        </p:nvSpPr>
        <p:spPr>
          <a:xfrm>
            <a:off x="1143000" y="4682391"/>
            <a:ext cx="709226" cy="668148"/>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9137FFF6-0A14-06FB-D08A-C0D077E8FBBD}"/>
              </a:ext>
            </a:extLst>
          </p:cNvPr>
          <p:cNvSpPr/>
          <p:nvPr/>
        </p:nvSpPr>
        <p:spPr>
          <a:xfrm>
            <a:off x="1310067" y="2180888"/>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8" name="Group 57">
            <a:extLst>
              <a:ext uri="{FF2B5EF4-FFF2-40B4-BE49-F238E27FC236}">
                <a16:creationId xmlns:a16="http://schemas.microsoft.com/office/drawing/2014/main" id="{788524BF-0888-C104-4DAA-1EAE2E903602}"/>
              </a:ext>
            </a:extLst>
          </p:cNvPr>
          <p:cNvGrpSpPr/>
          <p:nvPr/>
        </p:nvGrpSpPr>
        <p:grpSpPr>
          <a:xfrm>
            <a:off x="2265099" y="2051348"/>
            <a:ext cx="9549112" cy="653752"/>
            <a:chOff x="3690372" y="3389726"/>
            <a:chExt cx="12060501" cy="806153"/>
          </a:xfrm>
        </p:grpSpPr>
        <p:sp>
          <p:nvSpPr>
            <p:cNvPr id="59" name="Rectangle: Diagonal Corners Snipped 58">
              <a:extLst>
                <a:ext uri="{FF2B5EF4-FFF2-40B4-BE49-F238E27FC236}">
                  <a16:creationId xmlns:a16="http://schemas.microsoft.com/office/drawing/2014/main" id="{56AEF2B2-3E38-3D85-FBFE-BF055C23CA86}"/>
                </a:ext>
              </a:extLst>
            </p:cNvPr>
            <p:cNvSpPr/>
            <p:nvPr/>
          </p:nvSpPr>
          <p:spPr>
            <a:xfrm>
              <a:off x="3690372" y="3389726"/>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0" name="TextBox 5">
              <a:extLst>
                <a:ext uri="{FF2B5EF4-FFF2-40B4-BE49-F238E27FC236}">
                  <a16:creationId xmlns:a16="http://schemas.microsoft.com/office/drawing/2014/main" id="{5100213F-3DAC-E5DB-F0FE-207AAC0F1C65}"/>
                </a:ext>
              </a:extLst>
            </p:cNvPr>
            <p:cNvSpPr txBox="1"/>
            <p:nvPr/>
          </p:nvSpPr>
          <p:spPr>
            <a:xfrm>
              <a:off x="3922486" y="3496620"/>
              <a:ext cx="9235963"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bị</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chiếm</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đoạt</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(Capture Errors)</a:t>
              </a:r>
            </a:p>
          </p:txBody>
        </p:sp>
      </p:grpSp>
      <p:sp>
        <p:nvSpPr>
          <p:cNvPr id="61" name="Oval 60">
            <a:extLst>
              <a:ext uri="{FF2B5EF4-FFF2-40B4-BE49-F238E27FC236}">
                <a16:creationId xmlns:a16="http://schemas.microsoft.com/office/drawing/2014/main" id="{6B423C07-3509-B0F6-0010-2D917B355DDD}"/>
              </a:ext>
            </a:extLst>
          </p:cNvPr>
          <p:cNvSpPr/>
          <p:nvPr/>
        </p:nvSpPr>
        <p:spPr>
          <a:xfrm>
            <a:off x="1312254" y="2998274"/>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a:extLst>
              <a:ext uri="{FF2B5EF4-FFF2-40B4-BE49-F238E27FC236}">
                <a16:creationId xmlns:a16="http://schemas.microsoft.com/office/drawing/2014/main" id="{7DEE6839-2FE6-389E-0ADC-FDEE0131752F}"/>
              </a:ext>
            </a:extLst>
          </p:cNvPr>
          <p:cNvGrpSpPr/>
          <p:nvPr/>
        </p:nvGrpSpPr>
        <p:grpSpPr>
          <a:xfrm>
            <a:off x="2265099" y="2857500"/>
            <a:ext cx="9549112" cy="653752"/>
            <a:chOff x="3720276" y="4610125"/>
            <a:chExt cx="12060501" cy="806153"/>
          </a:xfrm>
        </p:grpSpPr>
        <p:sp>
          <p:nvSpPr>
            <p:cNvPr id="63" name="Rectangle: Diagonal Corners Snipped 62">
              <a:extLst>
                <a:ext uri="{FF2B5EF4-FFF2-40B4-BE49-F238E27FC236}">
                  <a16:creationId xmlns:a16="http://schemas.microsoft.com/office/drawing/2014/main" id="{C8094ED1-B399-F2E3-DEF9-98BF81B4D99F}"/>
                </a:ext>
              </a:extLst>
            </p:cNvPr>
            <p:cNvSpPr/>
            <p:nvPr/>
          </p:nvSpPr>
          <p:spPr>
            <a:xfrm>
              <a:off x="3720276" y="461012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4" name="TextBox 5">
              <a:extLst>
                <a:ext uri="{FF2B5EF4-FFF2-40B4-BE49-F238E27FC236}">
                  <a16:creationId xmlns:a16="http://schemas.microsoft.com/office/drawing/2014/main" id="{BA5D6DFE-8B64-38A5-14BF-5C906301F491}"/>
                </a:ext>
              </a:extLst>
            </p:cNvPr>
            <p:cNvSpPr txBox="1"/>
            <p:nvPr/>
          </p:nvSpPr>
          <p:spPr>
            <a:xfrm>
              <a:off x="3922486" y="4709581"/>
              <a:ext cx="11356764"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mô</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tả</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(Description Errors)</a:t>
              </a:r>
            </a:p>
          </p:txBody>
        </p:sp>
      </p:grpSp>
      <p:sp>
        <p:nvSpPr>
          <p:cNvPr id="65" name="Oval 64">
            <a:extLst>
              <a:ext uri="{FF2B5EF4-FFF2-40B4-BE49-F238E27FC236}">
                <a16:creationId xmlns:a16="http://schemas.microsoft.com/office/drawing/2014/main" id="{CA93411C-BF9B-89B2-B2A1-E25D747F1EF5}"/>
              </a:ext>
            </a:extLst>
          </p:cNvPr>
          <p:cNvSpPr/>
          <p:nvPr/>
        </p:nvSpPr>
        <p:spPr>
          <a:xfrm>
            <a:off x="1312254" y="3779492"/>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6" name="Group 65">
            <a:extLst>
              <a:ext uri="{FF2B5EF4-FFF2-40B4-BE49-F238E27FC236}">
                <a16:creationId xmlns:a16="http://schemas.microsoft.com/office/drawing/2014/main" id="{F9CC769B-3D49-C199-0267-90145DD51CBC}"/>
              </a:ext>
            </a:extLst>
          </p:cNvPr>
          <p:cNvGrpSpPr/>
          <p:nvPr/>
        </p:nvGrpSpPr>
        <p:grpSpPr>
          <a:xfrm>
            <a:off x="2265099" y="3651548"/>
            <a:ext cx="9549112" cy="653752"/>
            <a:chOff x="3713796" y="5828151"/>
            <a:chExt cx="12060501" cy="806153"/>
          </a:xfrm>
        </p:grpSpPr>
        <p:sp>
          <p:nvSpPr>
            <p:cNvPr id="67" name="Rectangle: Diagonal Corners Snipped 66">
              <a:extLst>
                <a:ext uri="{FF2B5EF4-FFF2-40B4-BE49-F238E27FC236}">
                  <a16:creationId xmlns:a16="http://schemas.microsoft.com/office/drawing/2014/main" id="{DF4F8FF2-EE76-2C68-6CC3-54526BEA80B1}"/>
                </a:ext>
              </a:extLst>
            </p:cNvPr>
            <p:cNvSpPr/>
            <p:nvPr/>
          </p:nvSpPr>
          <p:spPr>
            <a:xfrm>
              <a:off x="3713796" y="5828151"/>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8" name="TextBox 5">
              <a:extLst>
                <a:ext uri="{FF2B5EF4-FFF2-40B4-BE49-F238E27FC236}">
                  <a16:creationId xmlns:a16="http://schemas.microsoft.com/office/drawing/2014/main" id="{F20AC67F-0ECF-A249-3119-70284B7EA2A3}"/>
                </a:ext>
              </a:extLst>
            </p:cNvPr>
            <p:cNvSpPr txBox="1"/>
            <p:nvPr/>
          </p:nvSpPr>
          <p:spPr>
            <a:xfrm>
              <a:off x="3916723" y="5926432"/>
              <a:ext cx="11704276"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điều</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khiển</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bảng</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dữ</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liệu</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(Data-Driven Errors)</a:t>
              </a:r>
            </a:p>
          </p:txBody>
        </p:sp>
      </p:grpSp>
      <p:sp>
        <p:nvSpPr>
          <p:cNvPr id="69" name="Oval 68">
            <a:extLst>
              <a:ext uri="{FF2B5EF4-FFF2-40B4-BE49-F238E27FC236}">
                <a16:creationId xmlns:a16="http://schemas.microsoft.com/office/drawing/2014/main" id="{0DD55FB5-019A-0FB2-96A7-8B5221266EFE}"/>
              </a:ext>
            </a:extLst>
          </p:cNvPr>
          <p:cNvSpPr/>
          <p:nvPr/>
        </p:nvSpPr>
        <p:spPr>
          <a:xfrm>
            <a:off x="1317765" y="7536565"/>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0" name="Group 69">
            <a:extLst>
              <a:ext uri="{FF2B5EF4-FFF2-40B4-BE49-F238E27FC236}">
                <a16:creationId xmlns:a16="http://schemas.microsoft.com/office/drawing/2014/main" id="{6E6A0032-3FAF-A9D9-1F1B-CD488E30D172}"/>
              </a:ext>
            </a:extLst>
          </p:cNvPr>
          <p:cNvGrpSpPr/>
          <p:nvPr/>
        </p:nvGrpSpPr>
        <p:grpSpPr>
          <a:xfrm>
            <a:off x="2265097" y="7396119"/>
            <a:ext cx="9549112" cy="653752"/>
            <a:chOff x="3734590" y="7002955"/>
            <a:chExt cx="12060501" cy="806153"/>
          </a:xfrm>
        </p:grpSpPr>
        <p:sp>
          <p:nvSpPr>
            <p:cNvPr id="71" name="Rectangle: Diagonal Corners Snipped 70">
              <a:extLst>
                <a:ext uri="{FF2B5EF4-FFF2-40B4-BE49-F238E27FC236}">
                  <a16:creationId xmlns:a16="http://schemas.microsoft.com/office/drawing/2014/main" id="{B100BCA7-A6B9-9162-6670-2C7057E06B79}"/>
                </a:ext>
              </a:extLst>
            </p:cNvPr>
            <p:cNvSpPr/>
            <p:nvPr/>
          </p:nvSpPr>
          <p:spPr>
            <a:xfrm>
              <a:off x="3734590" y="700295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72" name="TextBox 5">
              <a:extLst>
                <a:ext uri="{FF2B5EF4-FFF2-40B4-BE49-F238E27FC236}">
                  <a16:creationId xmlns:a16="http://schemas.microsoft.com/office/drawing/2014/main" id="{FB65D13A-82E4-9AA9-8FBE-158AAD627428}"/>
                </a:ext>
              </a:extLst>
            </p:cNvPr>
            <p:cNvSpPr txBox="1"/>
            <p:nvPr/>
          </p:nvSpPr>
          <p:spPr>
            <a:xfrm>
              <a:off x="3913404" y="7102411"/>
              <a:ext cx="10061363" cy="607240"/>
            </a:xfrm>
            <a:prstGeom prst="rect">
              <a:avLst/>
            </a:prstGeom>
          </p:spPr>
          <p:txBody>
            <a:bodyPr wrap="square" lIns="0" tIns="0" rIns="0" bIns="0" rtlCol="0" anchor="ctr">
              <a:spAutoFit/>
            </a:bodyPr>
            <a:lstStyle/>
            <a:p>
              <a:r>
                <a:rPr lang="en-US" sz="3200" b="1" dirty="0" err="1">
                  <a:solidFill>
                    <a:srgbClr val="002060">
                      <a:alpha val="30000"/>
                    </a:srgbClr>
                  </a:solidFill>
                  <a:latin typeface="Source Sans Pro" panose="020B0503030403020204" pitchFamily="34" charset="0"/>
                  <a:ea typeface="Source Sans Pro" panose="020B0503030403020204" pitchFamily="34" charset="0"/>
                </a:rPr>
                <a:t>Lỗi</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mất</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kích</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hoạt</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(Loss-of-activation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73" name="Oval 72">
            <a:extLst>
              <a:ext uri="{FF2B5EF4-FFF2-40B4-BE49-F238E27FC236}">
                <a16:creationId xmlns:a16="http://schemas.microsoft.com/office/drawing/2014/main" id="{7BF8C4AF-86BC-C578-70D5-67B641B23FDD}"/>
              </a:ext>
            </a:extLst>
          </p:cNvPr>
          <p:cNvSpPr/>
          <p:nvPr/>
        </p:nvSpPr>
        <p:spPr>
          <a:xfrm>
            <a:off x="1306829" y="8330842"/>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4" name="Group 73">
            <a:extLst>
              <a:ext uri="{FF2B5EF4-FFF2-40B4-BE49-F238E27FC236}">
                <a16:creationId xmlns:a16="http://schemas.microsoft.com/office/drawing/2014/main" id="{51DB2495-7E2F-E913-5E9F-17E879E1A2A5}"/>
              </a:ext>
            </a:extLst>
          </p:cNvPr>
          <p:cNvGrpSpPr/>
          <p:nvPr/>
        </p:nvGrpSpPr>
        <p:grpSpPr>
          <a:xfrm>
            <a:off x="2265097" y="8212794"/>
            <a:ext cx="9549112" cy="653752"/>
            <a:chOff x="3690373" y="8223547"/>
            <a:chExt cx="12060501" cy="806153"/>
          </a:xfrm>
        </p:grpSpPr>
        <p:sp>
          <p:nvSpPr>
            <p:cNvPr id="75" name="Rectangle: Diagonal Corners Snipped 74">
              <a:extLst>
                <a:ext uri="{FF2B5EF4-FFF2-40B4-BE49-F238E27FC236}">
                  <a16:creationId xmlns:a16="http://schemas.microsoft.com/office/drawing/2014/main" id="{B5E28626-5544-2A03-AE74-27B2F50CAC8E}"/>
                </a:ext>
              </a:extLst>
            </p:cNvPr>
            <p:cNvSpPr/>
            <p:nvPr/>
          </p:nvSpPr>
          <p:spPr>
            <a:xfrm>
              <a:off x="3690373" y="8223547"/>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76" name="TextBox 5">
              <a:extLst>
                <a:ext uri="{FF2B5EF4-FFF2-40B4-BE49-F238E27FC236}">
                  <a16:creationId xmlns:a16="http://schemas.microsoft.com/office/drawing/2014/main" id="{2604822C-055E-D2E8-FB0B-F6B3C6B32AA2}"/>
                </a:ext>
              </a:extLst>
            </p:cNvPr>
            <p:cNvSpPr txBox="1"/>
            <p:nvPr/>
          </p:nvSpPr>
          <p:spPr>
            <a:xfrm>
              <a:off x="3913404" y="8320937"/>
              <a:ext cx="9235963"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chế</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độ</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(Mode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cxnSp>
        <p:nvCxnSpPr>
          <p:cNvPr id="77" name="Straight Connector 76">
            <a:extLst>
              <a:ext uri="{FF2B5EF4-FFF2-40B4-BE49-F238E27FC236}">
                <a16:creationId xmlns:a16="http://schemas.microsoft.com/office/drawing/2014/main" id="{FB7684F7-4A0B-72C8-AE1A-0D58FFB1BCC4}"/>
              </a:ext>
            </a:extLst>
          </p:cNvPr>
          <p:cNvCxnSpPr>
            <a:cxnSpLocks/>
            <a:stCxn id="57" idx="6"/>
            <a:endCxn id="59" idx="2"/>
          </p:cNvCxnSpPr>
          <p:nvPr/>
        </p:nvCxnSpPr>
        <p:spPr>
          <a:xfrm>
            <a:off x="1714490" y="2371388"/>
            <a:ext cx="550609" cy="6836"/>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32FEA9D9-DAA4-7ECA-6025-35F447FCA444}"/>
              </a:ext>
            </a:extLst>
          </p:cNvPr>
          <p:cNvCxnSpPr>
            <a:cxnSpLocks/>
            <a:stCxn id="61" idx="6"/>
            <a:endCxn id="63" idx="2"/>
          </p:cNvCxnSpPr>
          <p:nvPr/>
        </p:nvCxnSpPr>
        <p:spPr>
          <a:xfrm flipV="1">
            <a:off x="1716677" y="3184376"/>
            <a:ext cx="548422" cy="4398"/>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F660F8A2-3694-78E5-CE45-A8B33B07E4D6}"/>
              </a:ext>
            </a:extLst>
          </p:cNvPr>
          <p:cNvCxnSpPr>
            <a:cxnSpLocks/>
            <a:stCxn id="65" idx="6"/>
            <a:endCxn id="67" idx="2"/>
          </p:cNvCxnSpPr>
          <p:nvPr/>
        </p:nvCxnSpPr>
        <p:spPr>
          <a:xfrm>
            <a:off x="1716677" y="3969992"/>
            <a:ext cx="548422" cy="8432"/>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D7F9ACA6-F090-1DA3-F5AF-E9CE837205AA}"/>
              </a:ext>
            </a:extLst>
          </p:cNvPr>
          <p:cNvCxnSpPr>
            <a:cxnSpLocks/>
            <a:stCxn id="69" idx="6"/>
            <a:endCxn id="71" idx="2"/>
          </p:cNvCxnSpPr>
          <p:nvPr/>
        </p:nvCxnSpPr>
        <p:spPr>
          <a:xfrm flipV="1">
            <a:off x="1722188" y="7722995"/>
            <a:ext cx="542909" cy="4070"/>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F5DCAAF7-5E3F-7875-D3C6-3FF8D6B969FE}"/>
              </a:ext>
            </a:extLst>
          </p:cNvPr>
          <p:cNvCxnSpPr>
            <a:cxnSpLocks/>
            <a:stCxn id="73" idx="6"/>
            <a:endCxn id="75" idx="2"/>
          </p:cNvCxnSpPr>
          <p:nvPr/>
        </p:nvCxnSpPr>
        <p:spPr>
          <a:xfrm>
            <a:off x="1711252" y="8521342"/>
            <a:ext cx="553845" cy="18328"/>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
        <p:nvSpPr>
          <p:cNvPr id="5" name="Slide Number Placeholder 8">
            <a:extLst>
              <a:ext uri="{FF2B5EF4-FFF2-40B4-BE49-F238E27FC236}">
                <a16:creationId xmlns:a16="http://schemas.microsoft.com/office/drawing/2014/main" id="{003F533A-6889-0B1F-A2FF-1BFFAD45A591}"/>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10</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Tree>
    <p:extLst>
      <p:ext uri="{BB962C8B-B14F-4D97-AF65-F5344CB8AC3E}">
        <p14:creationId xmlns:p14="http://schemas.microsoft.com/office/powerpoint/2010/main" val="29338117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C5248240-FA86-791F-5E00-86EBE31CF0C0}"/>
            </a:ext>
          </a:extLst>
        </p:cNvPr>
        <p:cNvGrpSpPr/>
        <p:nvPr/>
      </p:nvGrpSpPr>
      <p:grpSpPr>
        <a:xfrm>
          <a:off x="0" y="0"/>
          <a:ext cx="0" cy="0"/>
          <a:chOff x="0" y="0"/>
          <a:chExt cx="0" cy="0"/>
        </a:xfrm>
      </p:grpSpPr>
      <p:cxnSp>
        <p:nvCxnSpPr>
          <p:cNvPr id="90" name="Straight Connector 89">
            <a:extLst>
              <a:ext uri="{FF2B5EF4-FFF2-40B4-BE49-F238E27FC236}">
                <a16:creationId xmlns:a16="http://schemas.microsoft.com/office/drawing/2014/main" id="{192CE35F-7321-1D17-F66E-7D75E8C87176}"/>
              </a:ext>
            </a:extLst>
          </p:cNvPr>
          <p:cNvCxnSpPr>
            <a:cxnSpLocks/>
          </p:cNvCxnSpPr>
          <p:nvPr/>
        </p:nvCxnSpPr>
        <p:spPr>
          <a:xfrm>
            <a:off x="1524000" y="1904181"/>
            <a:ext cx="0" cy="7239000"/>
          </a:xfrm>
          <a:prstGeom prst="line">
            <a:avLst/>
          </a:prstGeom>
          <a:ln w="762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Rectangle: Diagonal Corners Snipped 12">
            <a:extLst>
              <a:ext uri="{FF2B5EF4-FFF2-40B4-BE49-F238E27FC236}">
                <a16:creationId xmlns:a16="http://schemas.microsoft.com/office/drawing/2014/main" id="{686014B7-5619-C53B-33E4-F49FE729A4A4}"/>
              </a:ext>
            </a:extLst>
          </p:cNvPr>
          <p:cNvSpPr/>
          <p:nvPr/>
        </p:nvSpPr>
        <p:spPr>
          <a:xfrm flipV="1">
            <a:off x="2265099" y="5760508"/>
            <a:ext cx="14803701" cy="2202392"/>
          </a:xfrm>
          <a:prstGeom prst="snip2DiagRect">
            <a:avLst>
              <a:gd name="adj1" fmla="val 17613"/>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blue logo with a black background&#10;&#10;AI-generated content may be incorrect.">
            <a:extLst>
              <a:ext uri="{FF2B5EF4-FFF2-40B4-BE49-F238E27FC236}">
                <a16:creationId xmlns:a16="http://schemas.microsoft.com/office/drawing/2014/main" id="{CE1827E4-D503-2D77-E536-FFC547E3A4B4}"/>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25715F2E-A7D6-C90E-318B-9154D0C27799}"/>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CC6E7FD3-7F84-925A-2C05-6B383B4D333C}"/>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9CB1A773-5671-70E9-C25E-D88F2E3DEEE5}"/>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D3FE312D-F63E-BA7A-E479-FA4D9F36D9DF}"/>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a:t>
            </a:r>
          </a:p>
        </p:txBody>
      </p:sp>
      <p:sp>
        <p:nvSpPr>
          <p:cNvPr id="27" name="TextBox 26">
            <a:extLst>
              <a:ext uri="{FF2B5EF4-FFF2-40B4-BE49-F238E27FC236}">
                <a16:creationId xmlns:a16="http://schemas.microsoft.com/office/drawing/2014/main" id="{92FDEC27-2718-F20A-8CFE-E9006793756C}"/>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 SUẤT</a:t>
            </a:r>
          </a:p>
        </p:txBody>
      </p:sp>
      <p:pic>
        <p:nvPicPr>
          <p:cNvPr id="28" name="Picture 27" descr="A blue logo with a black background&#10;&#10;AI-generated content may be incorrect.">
            <a:extLst>
              <a:ext uri="{FF2B5EF4-FFF2-40B4-BE49-F238E27FC236}">
                <a16:creationId xmlns:a16="http://schemas.microsoft.com/office/drawing/2014/main" id="{1C6A59D7-D243-2034-4EA7-CA9F42F36EA3}"/>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A1893C2D-853D-E794-3E54-C64A89BD70FA}"/>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3" name="TextBox 2">
            <a:extLst>
              <a:ext uri="{FF2B5EF4-FFF2-40B4-BE49-F238E27FC236}">
                <a16:creationId xmlns:a16="http://schemas.microsoft.com/office/drawing/2014/main" id="{D4B8FFDA-DB20-7644-C575-ED9ABE329BE2}"/>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Các loại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suất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phổ</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biến</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4" name="TextBox 5">
            <a:extLst>
              <a:ext uri="{FF2B5EF4-FFF2-40B4-BE49-F238E27FC236}">
                <a16:creationId xmlns:a16="http://schemas.microsoft.com/office/drawing/2014/main" id="{9B4E1967-D410-164A-EDB3-BB04158BCDF3}"/>
              </a:ext>
            </a:extLst>
          </p:cNvPr>
          <p:cNvSpPr txBox="1"/>
          <p:nvPr/>
        </p:nvSpPr>
        <p:spPr>
          <a:xfrm>
            <a:off x="2467309" y="6376174"/>
            <a:ext cx="14404757" cy="1354217"/>
          </a:xfrm>
          <a:prstGeom prst="rect">
            <a:avLst/>
          </a:prstGeom>
        </p:spPr>
        <p:txBody>
          <a:bodyPr wrap="square" lIns="0" tIns="0" rIns="0" bIns="0" rtlCol="0" anchor="ctr">
            <a:spAutoFit/>
          </a:bodyPr>
          <a:lstStyle/>
          <a:p>
            <a:pPr algn="just"/>
            <a:r>
              <a:rPr lang="vi-VN" sz="4400" dirty="0">
                <a:solidFill>
                  <a:schemeClr val="bg1"/>
                </a:solidFill>
                <a:latin typeface="Source Sans Pro" panose="020B0503030403020204" pitchFamily="34" charset="0"/>
                <a:ea typeface="Source Sans Pro" panose="020B0503030403020204" pitchFamily="34" charset="0"/>
              </a:rPr>
              <a:t>Đang</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định</a:t>
            </a:r>
            <a:r>
              <a:rPr lang="vi-VN" sz="4400" dirty="0">
                <a:solidFill>
                  <a:schemeClr val="bg1"/>
                </a:solidFill>
                <a:latin typeface="Source Sans Pro" panose="020B0503030403020204" pitchFamily="34" charset="0"/>
                <a:ea typeface="Source Sans Pro" panose="020B0503030403020204" pitchFamily="34" charset="0"/>
              </a:rPr>
              <a:t> làm</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việc</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gì</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đó</a:t>
            </a:r>
            <a:r>
              <a:rPr lang="vi-VN" sz="4400" dirty="0">
                <a:solidFill>
                  <a:schemeClr val="bg1"/>
                </a:solidFill>
                <a:latin typeface="Source Sans Pro" panose="020B0503030403020204" pitchFamily="34" charset="0"/>
                <a:ea typeface="Source Sans Pro" panose="020B0503030403020204" pitchFamily="34" charset="0"/>
              </a:rPr>
              <a:t> thì </a:t>
            </a:r>
            <a:r>
              <a:rPr lang="en-US" sz="4400" dirty="0" err="1">
                <a:solidFill>
                  <a:schemeClr val="bg1"/>
                </a:solidFill>
                <a:latin typeface="Source Sans Pro" panose="020B0503030403020204" pitchFamily="34" charset="0"/>
                <a:ea typeface="Source Sans Pro" panose="020B0503030403020204" pitchFamily="34" charset="0"/>
              </a:rPr>
              <a:t>bỗng</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dưng</a:t>
            </a:r>
            <a:r>
              <a:rPr lang="en-US" sz="4400" dirty="0">
                <a:solidFill>
                  <a:schemeClr val="bg1"/>
                </a:solidFill>
                <a:latin typeface="Source Sans Pro" panose="020B0503030403020204" pitchFamily="34" charset="0"/>
                <a:ea typeface="Source Sans Pro" panose="020B0503030403020204" pitchFamily="34" charset="0"/>
              </a:rPr>
              <a:t> </a:t>
            </a:r>
            <a:r>
              <a:rPr lang="vi-VN" sz="4400" b="1" dirty="0">
                <a:solidFill>
                  <a:schemeClr val="bg1"/>
                </a:solidFill>
                <a:latin typeface="Source Sans Pro" panose="020B0503030403020204" pitchFamily="34" charset="0"/>
                <a:ea typeface="Source Sans Pro" panose="020B0503030403020204" pitchFamily="34" charset="0"/>
              </a:rPr>
              <a:t>quên</a:t>
            </a:r>
            <a:r>
              <a:rPr lang="en-US" sz="4400" b="1" dirty="0">
                <a:solidFill>
                  <a:schemeClr val="bg1"/>
                </a:solidFill>
                <a:latin typeface="Source Sans Pro" panose="020B0503030403020204" pitchFamily="34" charset="0"/>
                <a:ea typeface="Source Sans Pro" panose="020B0503030403020204" pitchFamily="34" charset="0"/>
              </a:rPr>
              <a:t> </a:t>
            </a:r>
            <a:r>
              <a:rPr lang="en-US" sz="4400" b="1" dirty="0" err="1">
                <a:solidFill>
                  <a:schemeClr val="bg1"/>
                </a:solidFill>
                <a:latin typeface="Source Sans Pro" panose="020B0503030403020204" pitchFamily="34" charset="0"/>
                <a:ea typeface="Source Sans Pro" panose="020B0503030403020204" pitchFamily="34" charset="0"/>
              </a:rPr>
              <a:t>nội</a:t>
            </a:r>
            <a:r>
              <a:rPr lang="en-US" sz="4400" b="1" dirty="0">
                <a:solidFill>
                  <a:schemeClr val="bg1"/>
                </a:solidFill>
                <a:latin typeface="Source Sans Pro" panose="020B0503030403020204" pitchFamily="34" charset="0"/>
                <a:ea typeface="Source Sans Pro" panose="020B0503030403020204" pitchFamily="34" charset="0"/>
              </a:rPr>
              <a:t> dung </a:t>
            </a:r>
            <a:r>
              <a:rPr lang="en-US" sz="4400" b="1" dirty="0" err="1">
                <a:solidFill>
                  <a:schemeClr val="bg1"/>
                </a:solidFill>
                <a:latin typeface="Source Sans Pro" panose="020B0503030403020204" pitchFamily="34" charset="0"/>
                <a:ea typeface="Source Sans Pro" panose="020B0503030403020204" pitchFamily="34" charset="0"/>
              </a:rPr>
              <a:t>định</a:t>
            </a:r>
            <a:r>
              <a:rPr lang="en-US" sz="4400" b="1" dirty="0">
                <a:solidFill>
                  <a:schemeClr val="bg1"/>
                </a:solidFill>
                <a:latin typeface="Source Sans Pro" panose="020B0503030403020204" pitchFamily="34" charset="0"/>
                <a:ea typeface="Source Sans Pro" panose="020B0503030403020204" pitchFamily="34" charset="0"/>
              </a:rPr>
              <a:t> </a:t>
            </a:r>
            <a:r>
              <a:rPr lang="en-US" sz="4400" b="1" dirty="0" err="1">
                <a:solidFill>
                  <a:schemeClr val="bg1"/>
                </a:solidFill>
                <a:latin typeface="Source Sans Pro" panose="020B0503030403020204" pitchFamily="34" charset="0"/>
                <a:ea typeface="Source Sans Pro" panose="020B0503030403020204" pitchFamily="34" charset="0"/>
              </a:rPr>
              <a:t>làm</a:t>
            </a:r>
            <a:r>
              <a:rPr lang="en-US" sz="4400" b="1" dirty="0">
                <a:solidFill>
                  <a:schemeClr val="bg1"/>
                </a:solidFill>
                <a:latin typeface="Source Sans Pro" panose="020B0503030403020204" pitchFamily="34" charset="0"/>
                <a:ea typeface="Source Sans Pro" panose="020B0503030403020204" pitchFamily="34" charset="0"/>
              </a:rPr>
              <a:t>,</a:t>
            </a:r>
            <a:r>
              <a:rPr lang="vi-VN" sz="4400" b="1" dirty="0">
                <a:solidFill>
                  <a:schemeClr val="bg1"/>
                </a:solidFill>
                <a:latin typeface="Source Sans Pro" panose="020B0503030403020204" pitchFamily="34" charset="0"/>
                <a:ea typeface="Source Sans Pro" panose="020B0503030403020204" pitchFamily="34" charset="0"/>
              </a:rPr>
              <a:t> </a:t>
            </a:r>
            <a:r>
              <a:rPr lang="vi-VN" sz="4400" dirty="0">
                <a:solidFill>
                  <a:schemeClr val="bg1"/>
                </a:solidFill>
                <a:latin typeface="Source Sans Pro" panose="020B0503030403020204" pitchFamily="34" charset="0"/>
                <a:ea typeface="Source Sans Pro" panose="020B0503030403020204" pitchFamily="34" charset="0"/>
              </a:rPr>
              <a:t>mục tiêu</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vô</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tình</a:t>
            </a:r>
            <a:r>
              <a:rPr lang="vi-VN" sz="4400" dirty="0">
                <a:solidFill>
                  <a:schemeClr val="bg1"/>
                </a:solidFill>
                <a:latin typeface="Source Sans Pro" panose="020B0503030403020204" pitchFamily="34" charset="0"/>
                <a:ea typeface="Source Sans Pro" panose="020B0503030403020204" pitchFamily="34" charset="0"/>
              </a:rPr>
              <a:t> rơi khỏi trí nhớ làm việc.</a:t>
            </a:r>
            <a:endParaRPr lang="en-US" sz="6000" spc="11" dirty="0">
              <a:solidFill>
                <a:schemeClr val="bg1"/>
              </a:solidFill>
              <a:latin typeface="Source Sans Pro" panose="020B0503030403020204" pitchFamily="34" charset="0"/>
              <a:ea typeface="Source Sans Pro" panose="020B0503030403020204" pitchFamily="34" charset="0"/>
              <a:cs typeface="Source Sans Pro"/>
              <a:sym typeface="Source Sans Pro"/>
            </a:endParaRPr>
          </a:p>
        </p:txBody>
      </p:sp>
      <p:grpSp>
        <p:nvGrpSpPr>
          <p:cNvPr id="6" name="Group 5">
            <a:extLst>
              <a:ext uri="{FF2B5EF4-FFF2-40B4-BE49-F238E27FC236}">
                <a16:creationId xmlns:a16="http://schemas.microsoft.com/office/drawing/2014/main" id="{B84AD923-51B6-D824-F06A-504C44763BAF}"/>
              </a:ext>
            </a:extLst>
          </p:cNvPr>
          <p:cNvGrpSpPr/>
          <p:nvPr/>
        </p:nvGrpSpPr>
        <p:grpSpPr>
          <a:xfrm>
            <a:off x="2265099" y="5368191"/>
            <a:ext cx="12060501" cy="806153"/>
            <a:chOff x="3720276" y="2171700"/>
            <a:chExt cx="12060501" cy="806153"/>
          </a:xfrm>
        </p:grpSpPr>
        <p:sp>
          <p:nvSpPr>
            <p:cNvPr id="8" name="Rectangle: Diagonal Corners Snipped 7">
              <a:extLst>
                <a:ext uri="{FF2B5EF4-FFF2-40B4-BE49-F238E27FC236}">
                  <a16:creationId xmlns:a16="http://schemas.microsoft.com/office/drawing/2014/main" id="{CCB1EDD1-8473-9057-85F9-87F615A65E4A}"/>
                </a:ext>
              </a:extLst>
            </p:cNvPr>
            <p:cNvSpPr/>
            <p:nvPr/>
          </p:nvSpPr>
          <p:spPr>
            <a:xfrm>
              <a:off x="3720276" y="2171700"/>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5">
              <a:extLst>
                <a:ext uri="{FF2B5EF4-FFF2-40B4-BE49-F238E27FC236}">
                  <a16:creationId xmlns:a16="http://schemas.microsoft.com/office/drawing/2014/main" id="{332FAFBC-E998-5070-D0AF-43C293E3A648}"/>
                </a:ext>
              </a:extLst>
            </p:cNvPr>
            <p:cNvSpPr txBox="1"/>
            <p:nvPr/>
          </p:nvSpPr>
          <p:spPr>
            <a:xfrm>
              <a:off x="3922486" y="2266999"/>
              <a:ext cx="11705891" cy="615553"/>
            </a:xfrm>
            <a:prstGeom prst="rect">
              <a:avLst/>
            </a:prstGeom>
          </p:spPr>
          <p:txBody>
            <a:bodyPr wrap="square" lIns="0" tIns="0" rIns="0" bIns="0" rtlCol="0" anchor="ctr">
              <a:spAutoFit/>
            </a:bodyPr>
            <a:lstStyle/>
            <a:p>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Lỗi</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mất</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kích</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hoạt</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(Loss-of-activation Errors)</a:t>
              </a:r>
            </a:p>
          </p:txBody>
        </p:sp>
      </p:grpSp>
      <p:cxnSp>
        <p:nvCxnSpPr>
          <p:cNvPr id="10" name="Straight Connector 9">
            <a:extLst>
              <a:ext uri="{FF2B5EF4-FFF2-40B4-BE49-F238E27FC236}">
                <a16:creationId xmlns:a16="http://schemas.microsoft.com/office/drawing/2014/main" id="{09F6E5C2-A8B9-EA14-FB91-AD67C5343117}"/>
              </a:ext>
            </a:extLst>
          </p:cNvPr>
          <p:cNvCxnSpPr>
            <a:cxnSpLocks/>
            <a:endCxn id="8" idx="2"/>
          </p:cNvCxnSpPr>
          <p:nvPr/>
        </p:nvCxnSpPr>
        <p:spPr>
          <a:xfrm flipV="1">
            <a:off x="1844847" y="5771268"/>
            <a:ext cx="420252" cy="1"/>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BE4E1CF8-DB01-7A89-6AD6-A5FFB63E7793}"/>
              </a:ext>
            </a:extLst>
          </p:cNvPr>
          <p:cNvSpPr/>
          <p:nvPr/>
        </p:nvSpPr>
        <p:spPr>
          <a:xfrm>
            <a:off x="1143000" y="5444391"/>
            <a:ext cx="709226" cy="668148"/>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1769F183-8318-C40A-B534-06A651B9F10D}"/>
              </a:ext>
            </a:extLst>
          </p:cNvPr>
          <p:cNvSpPr/>
          <p:nvPr/>
        </p:nvSpPr>
        <p:spPr>
          <a:xfrm>
            <a:off x="1310067" y="2180888"/>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8" name="Group 57">
            <a:extLst>
              <a:ext uri="{FF2B5EF4-FFF2-40B4-BE49-F238E27FC236}">
                <a16:creationId xmlns:a16="http://schemas.microsoft.com/office/drawing/2014/main" id="{CE36AA0E-AE56-249A-9006-9258FB9B6CA4}"/>
              </a:ext>
            </a:extLst>
          </p:cNvPr>
          <p:cNvGrpSpPr/>
          <p:nvPr/>
        </p:nvGrpSpPr>
        <p:grpSpPr>
          <a:xfrm>
            <a:off x="2265099" y="2051348"/>
            <a:ext cx="9549112" cy="653752"/>
            <a:chOff x="3690372" y="3389726"/>
            <a:chExt cx="12060501" cy="806153"/>
          </a:xfrm>
        </p:grpSpPr>
        <p:sp>
          <p:nvSpPr>
            <p:cNvPr id="59" name="Rectangle: Diagonal Corners Snipped 58">
              <a:extLst>
                <a:ext uri="{FF2B5EF4-FFF2-40B4-BE49-F238E27FC236}">
                  <a16:creationId xmlns:a16="http://schemas.microsoft.com/office/drawing/2014/main" id="{8E4A20CD-09D1-43C1-5B71-DB721202C082}"/>
                </a:ext>
              </a:extLst>
            </p:cNvPr>
            <p:cNvSpPr/>
            <p:nvPr/>
          </p:nvSpPr>
          <p:spPr>
            <a:xfrm>
              <a:off x="3690372" y="3389726"/>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0" name="TextBox 5">
              <a:extLst>
                <a:ext uri="{FF2B5EF4-FFF2-40B4-BE49-F238E27FC236}">
                  <a16:creationId xmlns:a16="http://schemas.microsoft.com/office/drawing/2014/main" id="{49677861-3493-9F10-8A18-B79380860D74}"/>
                </a:ext>
              </a:extLst>
            </p:cNvPr>
            <p:cNvSpPr txBox="1"/>
            <p:nvPr/>
          </p:nvSpPr>
          <p:spPr>
            <a:xfrm>
              <a:off x="3922486" y="3496620"/>
              <a:ext cx="9235963"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bị</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chiếm</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đoạt</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(Capture Errors)</a:t>
              </a:r>
            </a:p>
          </p:txBody>
        </p:sp>
      </p:grpSp>
      <p:sp>
        <p:nvSpPr>
          <p:cNvPr id="61" name="Oval 60">
            <a:extLst>
              <a:ext uri="{FF2B5EF4-FFF2-40B4-BE49-F238E27FC236}">
                <a16:creationId xmlns:a16="http://schemas.microsoft.com/office/drawing/2014/main" id="{8B458629-0879-C6BA-5FDE-14C4945D76CB}"/>
              </a:ext>
            </a:extLst>
          </p:cNvPr>
          <p:cNvSpPr/>
          <p:nvPr/>
        </p:nvSpPr>
        <p:spPr>
          <a:xfrm>
            <a:off x="1312254" y="2998274"/>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a:extLst>
              <a:ext uri="{FF2B5EF4-FFF2-40B4-BE49-F238E27FC236}">
                <a16:creationId xmlns:a16="http://schemas.microsoft.com/office/drawing/2014/main" id="{C86DD51E-B4B0-1285-A70F-DD583C75065B}"/>
              </a:ext>
            </a:extLst>
          </p:cNvPr>
          <p:cNvGrpSpPr/>
          <p:nvPr/>
        </p:nvGrpSpPr>
        <p:grpSpPr>
          <a:xfrm>
            <a:off x="2265099" y="2857500"/>
            <a:ext cx="9549112" cy="653752"/>
            <a:chOff x="3720276" y="4610125"/>
            <a:chExt cx="12060501" cy="806153"/>
          </a:xfrm>
        </p:grpSpPr>
        <p:sp>
          <p:nvSpPr>
            <p:cNvPr id="63" name="Rectangle: Diagonal Corners Snipped 62">
              <a:extLst>
                <a:ext uri="{FF2B5EF4-FFF2-40B4-BE49-F238E27FC236}">
                  <a16:creationId xmlns:a16="http://schemas.microsoft.com/office/drawing/2014/main" id="{023AA3E7-1265-4532-0A14-BDC6B67C0A65}"/>
                </a:ext>
              </a:extLst>
            </p:cNvPr>
            <p:cNvSpPr/>
            <p:nvPr/>
          </p:nvSpPr>
          <p:spPr>
            <a:xfrm>
              <a:off x="3720276" y="461012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4" name="TextBox 5">
              <a:extLst>
                <a:ext uri="{FF2B5EF4-FFF2-40B4-BE49-F238E27FC236}">
                  <a16:creationId xmlns:a16="http://schemas.microsoft.com/office/drawing/2014/main" id="{E7735CF5-B0BA-10F4-658E-6E7AF99CB1B5}"/>
                </a:ext>
              </a:extLst>
            </p:cNvPr>
            <p:cNvSpPr txBox="1"/>
            <p:nvPr/>
          </p:nvSpPr>
          <p:spPr>
            <a:xfrm>
              <a:off x="3922486" y="4709581"/>
              <a:ext cx="11356764"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mô</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tả</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(Description Errors)</a:t>
              </a:r>
            </a:p>
          </p:txBody>
        </p:sp>
      </p:grpSp>
      <p:sp>
        <p:nvSpPr>
          <p:cNvPr id="65" name="Oval 64">
            <a:extLst>
              <a:ext uri="{FF2B5EF4-FFF2-40B4-BE49-F238E27FC236}">
                <a16:creationId xmlns:a16="http://schemas.microsoft.com/office/drawing/2014/main" id="{6A9675B6-16FF-A9D0-09E2-2380E7B43F89}"/>
              </a:ext>
            </a:extLst>
          </p:cNvPr>
          <p:cNvSpPr/>
          <p:nvPr/>
        </p:nvSpPr>
        <p:spPr>
          <a:xfrm>
            <a:off x="1312254" y="3779492"/>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6" name="Group 65">
            <a:extLst>
              <a:ext uri="{FF2B5EF4-FFF2-40B4-BE49-F238E27FC236}">
                <a16:creationId xmlns:a16="http://schemas.microsoft.com/office/drawing/2014/main" id="{A97971D5-1296-4F81-07FE-E4E4C5358121}"/>
              </a:ext>
            </a:extLst>
          </p:cNvPr>
          <p:cNvGrpSpPr/>
          <p:nvPr/>
        </p:nvGrpSpPr>
        <p:grpSpPr>
          <a:xfrm>
            <a:off x="2265099" y="3651548"/>
            <a:ext cx="9549112" cy="653752"/>
            <a:chOff x="3713796" y="5828151"/>
            <a:chExt cx="12060501" cy="806153"/>
          </a:xfrm>
        </p:grpSpPr>
        <p:sp>
          <p:nvSpPr>
            <p:cNvPr id="67" name="Rectangle: Diagonal Corners Snipped 66">
              <a:extLst>
                <a:ext uri="{FF2B5EF4-FFF2-40B4-BE49-F238E27FC236}">
                  <a16:creationId xmlns:a16="http://schemas.microsoft.com/office/drawing/2014/main" id="{F40A641F-7A0C-14F4-D797-0E3702BCA154}"/>
                </a:ext>
              </a:extLst>
            </p:cNvPr>
            <p:cNvSpPr/>
            <p:nvPr/>
          </p:nvSpPr>
          <p:spPr>
            <a:xfrm>
              <a:off x="3713796" y="5828151"/>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8" name="TextBox 5">
              <a:extLst>
                <a:ext uri="{FF2B5EF4-FFF2-40B4-BE49-F238E27FC236}">
                  <a16:creationId xmlns:a16="http://schemas.microsoft.com/office/drawing/2014/main" id="{1C2841AA-038F-6C9B-754E-32D1B176AD70}"/>
                </a:ext>
              </a:extLst>
            </p:cNvPr>
            <p:cNvSpPr txBox="1"/>
            <p:nvPr/>
          </p:nvSpPr>
          <p:spPr>
            <a:xfrm>
              <a:off x="3916723" y="5926432"/>
              <a:ext cx="11704276"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điều</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khiển</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bảng</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dữ</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liệu</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(Data-Driven Errors)</a:t>
              </a:r>
            </a:p>
          </p:txBody>
        </p:sp>
      </p:grpSp>
      <p:sp>
        <p:nvSpPr>
          <p:cNvPr id="69" name="Oval 68">
            <a:extLst>
              <a:ext uri="{FF2B5EF4-FFF2-40B4-BE49-F238E27FC236}">
                <a16:creationId xmlns:a16="http://schemas.microsoft.com/office/drawing/2014/main" id="{8F613B1F-CE44-1F62-030A-07C5C6E52F88}"/>
              </a:ext>
            </a:extLst>
          </p:cNvPr>
          <p:cNvSpPr/>
          <p:nvPr/>
        </p:nvSpPr>
        <p:spPr>
          <a:xfrm>
            <a:off x="1317765" y="4598146"/>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0" name="Group 69">
            <a:extLst>
              <a:ext uri="{FF2B5EF4-FFF2-40B4-BE49-F238E27FC236}">
                <a16:creationId xmlns:a16="http://schemas.microsoft.com/office/drawing/2014/main" id="{D5D19118-BBAE-C6E0-1180-637A344B7973}"/>
              </a:ext>
            </a:extLst>
          </p:cNvPr>
          <p:cNvGrpSpPr/>
          <p:nvPr/>
        </p:nvGrpSpPr>
        <p:grpSpPr>
          <a:xfrm>
            <a:off x="2265097" y="4457700"/>
            <a:ext cx="9549112" cy="653752"/>
            <a:chOff x="3734590" y="7002955"/>
            <a:chExt cx="12060501" cy="806153"/>
          </a:xfrm>
        </p:grpSpPr>
        <p:sp>
          <p:nvSpPr>
            <p:cNvPr id="71" name="Rectangle: Diagonal Corners Snipped 70">
              <a:extLst>
                <a:ext uri="{FF2B5EF4-FFF2-40B4-BE49-F238E27FC236}">
                  <a16:creationId xmlns:a16="http://schemas.microsoft.com/office/drawing/2014/main" id="{A621EF59-EFCD-D9E2-D5FB-8BCA4B389D5E}"/>
                </a:ext>
              </a:extLst>
            </p:cNvPr>
            <p:cNvSpPr/>
            <p:nvPr/>
          </p:nvSpPr>
          <p:spPr>
            <a:xfrm>
              <a:off x="3734590" y="700295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72" name="TextBox 5">
              <a:extLst>
                <a:ext uri="{FF2B5EF4-FFF2-40B4-BE49-F238E27FC236}">
                  <a16:creationId xmlns:a16="http://schemas.microsoft.com/office/drawing/2014/main" id="{B0759241-26E0-85A3-D3A2-D012D4C2A18E}"/>
                </a:ext>
              </a:extLst>
            </p:cNvPr>
            <p:cNvSpPr txBox="1"/>
            <p:nvPr/>
          </p:nvSpPr>
          <p:spPr>
            <a:xfrm>
              <a:off x="3913403" y="7102410"/>
              <a:ext cx="11881685" cy="607240"/>
            </a:xfrm>
            <a:prstGeom prst="rect">
              <a:avLst/>
            </a:prstGeom>
          </p:spPr>
          <p:txBody>
            <a:bodyPr wrap="square" lIns="0" tIns="0" rIns="0" bIns="0" rtlCol="0" anchor="ctr">
              <a:spAutoFit/>
            </a:bodyPr>
            <a:lstStyle/>
            <a:p>
              <a:r>
                <a:rPr lang="en-US" sz="3200" b="1" dirty="0" err="1">
                  <a:solidFill>
                    <a:srgbClr val="002060">
                      <a:alpha val="30000"/>
                    </a:srgbClr>
                  </a:solidFill>
                  <a:latin typeface="Source Sans Pro" panose="020B0503030403020204" pitchFamily="34" charset="0"/>
                  <a:ea typeface="Source Sans Pro" panose="020B0503030403020204" pitchFamily="34" charset="0"/>
                </a:rPr>
                <a:t>Lỗi</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kích</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hoạt</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liên</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kết</a:t>
              </a:r>
              <a:r>
                <a:rPr lang="en-US" sz="3200" b="1" dirty="0">
                  <a:solidFill>
                    <a:srgbClr val="002060">
                      <a:alpha val="30000"/>
                    </a:srgbClr>
                  </a:solidFill>
                  <a:latin typeface="Source Sans Pro" panose="020B0503030403020204" pitchFamily="34" charset="0"/>
                  <a:ea typeface="Source Sans Pro" panose="020B0503030403020204" pitchFamily="34" charset="0"/>
                </a:rPr>
                <a:t> (Associative Activation Errors)</a:t>
              </a:r>
            </a:p>
          </p:txBody>
        </p:sp>
      </p:grpSp>
      <p:sp>
        <p:nvSpPr>
          <p:cNvPr id="73" name="Oval 72">
            <a:extLst>
              <a:ext uri="{FF2B5EF4-FFF2-40B4-BE49-F238E27FC236}">
                <a16:creationId xmlns:a16="http://schemas.microsoft.com/office/drawing/2014/main" id="{A2999BEF-23C9-E594-7990-900B73F595DD}"/>
              </a:ext>
            </a:extLst>
          </p:cNvPr>
          <p:cNvSpPr/>
          <p:nvPr/>
        </p:nvSpPr>
        <p:spPr>
          <a:xfrm>
            <a:off x="1306829" y="8330842"/>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4" name="Group 73">
            <a:extLst>
              <a:ext uri="{FF2B5EF4-FFF2-40B4-BE49-F238E27FC236}">
                <a16:creationId xmlns:a16="http://schemas.microsoft.com/office/drawing/2014/main" id="{8311AB10-83C1-63FE-154E-F37A02C5F0BC}"/>
              </a:ext>
            </a:extLst>
          </p:cNvPr>
          <p:cNvGrpSpPr/>
          <p:nvPr/>
        </p:nvGrpSpPr>
        <p:grpSpPr>
          <a:xfrm>
            <a:off x="2265097" y="8212794"/>
            <a:ext cx="9549112" cy="653752"/>
            <a:chOff x="3690373" y="8223547"/>
            <a:chExt cx="12060501" cy="806153"/>
          </a:xfrm>
        </p:grpSpPr>
        <p:sp>
          <p:nvSpPr>
            <p:cNvPr id="75" name="Rectangle: Diagonal Corners Snipped 74">
              <a:extLst>
                <a:ext uri="{FF2B5EF4-FFF2-40B4-BE49-F238E27FC236}">
                  <a16:creationId xmlns:a16="http://schemas.microsoft.com/office/drawing/2014/main" id="{B5AF5240-4A1E-FFD8-66A3-7F87834F5A24}"/>
                </a:ext>
              </a:extLst>
            </p:cNvPr>
            <p:cNvSpPr/>
            <p:nvPr/>
          </p:nvSpPr>
          <p:spPr>
            <a:xfrm>
              <a:off x="3690373" y="8223547"/>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76" name="TextBox 5">
              <a:extLst>
                <a:ext uri="{FF2B5EF4-FFF2-40B4-BE49-F238E27FC236}">
                  <a16:creationId xmlns:a16="http://schemas.microsoft.com/office/drawing/2014/main" id="{D69CD345-F447-48C4-F627-051681181765}"/>
                </a:ext>
              </a:extLst>
            </p:cNvPr>
            <p:cNvSpPr txBox="1"/>
            <p:nvPr/>
          </p:nvSpPr>
          <p:spPr>
            <a:xfrm>
              <a:off x="3913404" y="8320937"/>
              <a:ext cx="9235963"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chế</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độ</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(Mode Errors)</a:t>
              </a:r>
              <a:endParaRPr lang="en-US" sz="4400" b="1" spc="11" dirty="0">
                <a:solidFill>
                  <a:srgbClr val="002060">
                    <a:alpha val="30000"/>
                  </a:srgbClr>
                </a:solidFill>
                <a:latin typeface="Source Sans Pro" panose="020B0503030403020204" pitchFamily="34" charset="0"/>
                <a:ea typeface="Source Sans Pro" panose="020B0503030403020204" pitchFamily="34" charset="0"/>
                <a:cs typeface="Source Sans Pro"/>
                <a:sym typeface="Source Sans Pro"/>
              </a:endParaRPr>
            </a:p>
          </p:txBody>
        </p:sp>
      </p:grpSp>
      <p:cxnSp>
        <p:nvCxnSpPr>
          <p:cNvPr id="77" name="Straight Connector 76">
            <a:extLst>
              <a:ext uri="{FF2B5EF4-FFF2-40B4-BE49-F238E27FC236}">
                <a16:creationId xmlns:a16="http://schemas.microsoft.com/office/drawing/2014/main" id="{920B9366-7E13-F3D1-560C-41798D29B4E3}"/>
              </a:ext>
            </a:extLst>
          </p:cNvPr>
          <p:cNvCxnSpPr>
            <a:cxnSpLocks/>
            <a:stCxn id="57" idx="6"/>
            <a:endCxn id="59" idx="2"/>
          </p:cNvCxnSpPr>
          <p:nvPr/>
        </p:nvCxnSpPr>
        <p:spPr>
          <a:xfrm>
            <a:off x="1714490" y="2371388"/>
            <a:ext cx="550609" cy="6836"/>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C6A24D52-E04A-8DF4-53D6-CD366CCD5DC9}"/>
              </a:ext>
            </a:extLst>
          </p:cNvPr>
          <p:cNvCxnSpPr>
            <a:cxnSpLocks/>
            <a:stCxn id="61" idx="6"/>
            <a:endCxn id="63" idx="2"/>
          </p:cNvCxnSpPr>
          <p:nvPr/>
        </p:nvCxnSpPr>
        <p:spPr>
          <a:xfrm flipV="1">
            <a:off x="1716677" y="3184376"/>
            <a:ext cx="548422" cy="4398"/>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FB7A73BB-17FE-CA3E-BE64-1CDD9C3A25DE}"/>
              </a:ext>
            </a:extLst>
          </p:cNvPr>
          <p:cNvCxnSpPr>
            <a:cxnSpLocks/>
            <a:stCxn id="65" idx="6"/>
            <a:endCxn id="67" idx="2"/>
          </p:cNvCxnSpPr>
          <p:nvPr/>
        </p:nvCxnSpPr>
        <p:spPr>
          <a:xfrm>
            <a:off x="1716677" y="3969992"/>
            <a:ext cx="548422" cy="8432"/>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0EBBDCED-070B-AF37-3AB3-9E2699342B7B}"/>
              </a:ext>
            </a:extLst>
          </p:cNvPr>
          <p:cNvCxnSpPr>
            <a:cxnSpLocks/>
            <a:stCxn id="69" idx="6"/>
            <a:endCxn id="71" idx="2"/>
          </p:cNvCxnSpPr>
          <p:nvPr/>
        </p:nvCxnSpPr>
        <p:spPr>
          <a:xfrm flipV="1">
            <a:off x="1722188" y="4784576"/>
            <a:ext cx="542909" cy="4070"/>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B471BC5E-EB5F-B792-F6B5-A672CDEEDC4E}"/>
              </a:ext>
            </a:extLst>
          </p:cNvPr>
          <p:cNvCxnSpPr>
            <a:cxnSpLocks/>
            <a:stCxn id="73" idx="6"/>
            <a:endCxn id="75" idx="2"/>
          </p:cNvCxnSpPr>
          <p:nvPr/>
        </p:nvCxnSpPr>
        <p:spPr>
          <a:xfrm>
            <a:off x="1711252" y="8521342"/>
            <a:ext cx="553845" cy="18328"/>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
        <p:nvSpPr>
          <p:cNvPr id="5" name="Slide Number Placeholder 8">
            <a:extLst>
              <a:ext uri="{FF2B5EF4-FFF2-40B4-BE49-F238E27FC236}">
                <a16:creationId xmlns:a16="http://schemas.microsoft.com/office/drawing/2014/main" id="{FD9A7CFF-339C-4E38-5F3D-F591DBAE42D7}"/>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11</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Tree>
    <p:extLst>
      <p:ext uri="{BB962C8B-B14F-4D97-AF65-F5344CB8AC3E}">
        <p14:creationId xmlns:p14="http://schemas.microsoft.com/office/powerpoint/2010/main" val="16351081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888A6FA9-B125-2CF4-BED3-D4241946E1BA}"/>
            </a:ext>
          </a:extLst>
        </p:cNvPr>
        <p:cNvGrpSpPr/>
        <p:nvPr/>
      </p:nvGrpSpPr>
      <p:grpSpPr>
        <a:xfrm>
          <a:off x="0" y="0"/>
          <a:ext cx="0" cy="0"/>
          <a:chOff x="0" y="0"/>
          <a:chExt cx="0" cy="0"/>
        </a:xfrm>
      </p:grpSpPr>
      <p:cxnSp>
        <p:nvCxnSpPr>
          <p:cNvPr id="90" name="Straight Connector 89">
            <a:extLst>
              <a:ext uri="{FF2B5EF4-FFF2-40B4-BE49-F238E27FC236}">
                <a16:creationId xmlns:a16="http://schemas.microsoft.com/office/drawing/2014/main" id="{3CF2BD21-DD0A-695B-9241-B423361AFF61}"/>
              </a:ext>
            </a:extLst>
          </p:cNvPr>
          <p:cNvCxnSpPr>
            <a:cxnSpLocks/>
          </p:cNvCxnSpPr>
          <p:nvPr/>
        </p:nvCxnSpPr>
        <p:spPr>
          <a:xfrm>
            <a:off x="1524000" y="1904181"/>
            <a:ext cx="0" cy="7239000"/>
          </a:xfrm>
          <a:prstGeom prst="line">
            <a:avLst/>
          </a:prstGeom>
          <a:ln w="762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Rectangle: Diagonal Corners Snipped 12">
            <a:extLst>
              <a:ext uri="{FF2B5EF4-FFF2-40B4-BE49-F238E27FC236}">
                <a16:creationId xmlns:a16="http://schemas.microsoft.com/office/drawing/2014/main" id="{C9D18DCC-7C07-F775-2BD0-DF9F6F283E01}"/>
              </a:ext>
            </a:extLst>
          </p:cNvPr>
          <p:cNvSpPr/>
          <p:nvPr/>
        </p:nvSpPr>
        <p:spPr>
          <a:xfrm flipV="1">
            <a:off x="2265099" y="6674908"/>
            <a:ext cx="14803701" cy="2202392"/>
          </a:xfrm>
          <a:prstGeom prst="snip2DiagRect">
            <a:avLst>
              <a:gd name="adj1" fmla="val 17613"/>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blue logo with a black background&#10;&#10;AI-generated content may be incorrect.">
            <a:extLst>
              <a:ext uri="{FF2B5EF4-FFF2-40B4-BE49-F238E27FC236}">
                <a16:creationId xmlns:a16="http://schemas.microsoft.com/office/drawing/2014/main" id="{56F52435-79AD-65CD-72F8-7BA97327FA67}"/>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B4A4527A-161F-B401-DC76-9A035AE9942B}"/>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7500FECC-4A34-67D5-C597-A009C194C792}"/>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CB243FCE-9BB6-558B-B7BB-0F90979AB6A1}"/>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AF7174E4-C65F-0C96-3333-2E1BEA05229C}"/>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a:t>
            </a:r>
          </a:p>
        </p:txBody>
      </p:sp>
      <p:sp>
        <p:nvSpPr>
          <p:cNvPr id="27" name="TextBox 26">
            <a:extLst>
              <a:ext uri="{FF2B5EF4-FFF2-40B4-BE49-F238E27FC236}">
                <a16:creationId xmlns:a16="http://schemas.microsoft.com/office/drawing/2014/main" id="{91C29594-285C-7834-6FC2-0E9CA77FBEBA}"/>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 SUẤT</a:t>
            </a:r>
          </a:p>
        </p:txBody>
      </p:sp>
      <p:pic>
        <p:nvPicPr>
          <p:cNvPr id="28" name="Picture 27" descr="A blue logo with a black background&#10;&#10;AI-generated content may be incorrect.">
            <a:extLst>
              <a:ext uri="{FF2B5EF4-FFF2-40B4-BE49-F238E27FC236}">
                <a16:creationId xmlns:a16="http://schemas.microsoft.com/office/drawing/2014/main" id="{BFE847DA-147C-B1D9-C870-5CBC0DC06AE3}"/>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3CC51651-9DEA-C003-0C90-3C8B4EB70F6B}"/>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3" name="TextBox 2">
            <a:extLst>
              <a:ext uri="{FF2B5EF4-FFF2-40B4-BE49-F238E27FC236}">
                <a16:creationId xmlns:a16="http://schemas.microsoft.com/office/drawing/2014/main" id="{FC571470-4764-ACCC-D6D9-FDF1C3940E11}"/>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Các loại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suất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phổ</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biến</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4" name="TextBox 5">
            <a:extLst>
              <a:ext uri="{FF2B5EF4-FFF2-40B4-BE49-F238E27FC236}">
                <a16:creationId xmlns:a16="http://schemas.microsoft.com/office/drawing/2014/main" id="{A23D983B-F541-2BF0-2375-4CC282D4FEB6}"/>
              </a:ext>
            </a:extLst>
          </p:cNvPr>
          <p:cNvSpPr txBox="1"/>
          <p:nvPr/>
        </p:nvSpPr>
        <p:spPr>
          <a:xfrm>
            <a:off x="2467309" y="7290574"/>
            <a:ext cx="14404757" cy="1354217"/>
          </a:xfrm>
          <a:prstGeom prst="rect">
            <a:avLst/>
          </a:prstGeom>
        </p:spPr>
        <p:txBody>
          <a:bodyPr wrap="square" lIns="0" tIns="0" rIns="0" bIns="0" rtlCol="0" anchor="ctr">
            <a:spAutoFit/>
          </a:bodyPr>
          <a:lstStyle/>
          <a:p>
            <a:pPr algn="just"/>
            <a:r>
              <a:rPr lang="vi-VN" sz="4400" dirty="0">
                <a:solidFill>
                  <a:schemeClr val="bg1"/>
                </a:solidFill>
                <a:latin typeface="Source Sans Pro" panose="020B0503030403020204" pitchFamily="34" charset="0"/>
                <a:ea typeface="Source Sans Pro" panose="020B0503030403020204" pitchFamily="34" charset="0"/>
              </a:rPr>
              <a:t>Hành động </a:t>
            </a:r>
            <a:r>
              <a:rPr lang="vi-VN" sz="4400" b="1" dirty="0">
                <a:solidFill>
                  <a:schemeClr val="bg1"/>
                </a:solidFill>
                <a:latin typeface="Source Sans Pro" panose="020B0503030403020204" pitchFamily="34" charset="0"/>
                <a:ea typeface="Source Sans Pro" panose="020B0503030403020204" pitchFamily="34" charset="0"/>
              </a:rPr>
              <a:t>đúng thao tác </a:t>
            </a:r>
            <a:r>
              <a:rPr lang="vi-VN" sz="4400" dirty="0">
                <a:solidFill>
                  <a:schemeClr val="bg1"/>
                </a:solidFill>
                <a:latin typeface="Source Sans Pro" panose="020B0503030403020204" pitchFamily="34" charset="0"/>
                <a:ea typeface="Source Sans Pro" panose="020B0503030403020204" pitchFamily="34" charset="0"/>
              </a:rPr>
              <a:t>nhưng thực hiện trong </a:t>
            </a:r>
            <a:r>
              <a:rPr lang="vi-VN" sz="4400" b="1" dirty="0">
                <a:solidFill>
                  <a:schemeClr val="bg1"/>
                </a:solidFill>
                <a:latin typeface="Source Sans Pro" panose="020B0503030403020204" pitchFamily="34" charset="0"/>
                <a:ea typeface="Source Sans Pro" panose="020B0503030403020204" pitchFamily="34" charset="0"/>
              </a:rPr>
              <a:t>chế độ sai</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dẫn</a:t>
            </a:r>
            <a:r>
              <a:rPr lang="en-US" sz="4400" dirty="0">
                <a:solidFill>
                  <a:schemeClr val="bg1"/>
                </a:solidFill>
                <a:latin typeface="Source Sans Pro" panose="020B0503030403020204" pitchFamily="34" charset="0"/>
                <a:ea typeface="Source Sans Pro" panose="020B0503030403020204" pitchFamily="34" charset="0"/>
              </a:rPr>
              <a:t> </a:t>
            </a:r>
            <a:r>
              <a:rPr lang="en-US" sz="4400" dirty="0" err="1">
                <a:solidFill>
                  <a:schemeClr val="bg1"/>
                </a:solidFill>
                <a:latin typeface="Source Sans Pro" panose="020B0503030403020204" pitchFamily="34" charset="0"/>
                <a:ea typeface="Source Sans Pro" panose="020B0503030403020204" pitchFamily="34" charset="0"/>
              </a:rPr>
              <a:t>đến</a:t>
            </a:r>
            <a:r>
              <a:rPr lang="vi-VN" sz="4400" dirty="0">
                <a:solidFill>
                  <a:schemeClr val="bg1"/>
                </a:solidFill>
                <a:latin typeface="Source Sans Pro" panose="020B0503030403020204" pitchFamily="34" charset="0"/>
                <a:ea typeface="Source Sans Pro" panose="020B0503030403020204" pitchFamily="34" charset="0"/>
              </a:rPr>
              <a:t> kết quả không như mong đợi.</a:t>
            </a:r>
            <a:endParaRPr lang="en-US" sz="6000" spc="11" dirty="0">
              <a:solidFill>
                <a:schemeClr val="bg1"/>
              </a:solidFill>
              <a:latin typeface="Source Sans Pro" panose="020B0503030403020204" pitchFamily="34" charset="0"/>
              <a:ea typeface="Source Sans Pro" panose="020B0503030403020204" pitchFamily="34" charset="0"/>
              <a:cs typeface="Source Sans Pro"/>
              <a:sym typeface="Source Sans Pro"/>
            </a:endParaRPr>
          </a:p>
        </p:txBody>
      </p:sp>
      <p:grpSp>
        <p:nvGrpSpPr>
          <p:cNvPr id="6" name="Group 5">
            <a:extLst>
              <a:ext uri="{FF2B5EF4-FFF2-40B4-BE49-F238E27FC236}">
                <a16:creationId xmlns:a16="http://schemas.microsoft.com/office/drawing/2014/main" id="{F18EAE15-297E-19B1-785C-61C044281673}"/>
              </a:ext>
            </a:extLst>
          </p:cNvPr>
          <p:cNvGrpSpPr/>
          <p:nvPr/>
        </p:nvGrpSpPr>
        <p:grpSpPr>
          <a:xfrm>
            <a:off x="2265099" y="6282591"/>
            <a:ext cx="12060501" cy="806153"/>
            <a:chOff x="3720276" y="2171700"/>
            <a:chExt cx="12060501" cy="806153"/>
          </a:xfrm>
        </p:grpSpPr>
        <p:sp>
          <p:nvSpPr>
            <p:cNvPr id="8" name="Rectangle: Diagonal Corners Snipped 7">
              <a:extLst>
                <a:ext uri="{FF2B5EF4-FFF2-40B4-BE49-F238E27FC236}">
                  <a16:creationId xmlns:a16="http://schemas.microsoft.com/office/drawing/2014/main" id="{6F457C62-AF3F-9250-CF05-D16C9274B64A}"/>
                </a:ext>
              </a:extLst>
            </p:cNvPr>
            <p:cNvSpPr/>
            <p:nvPr/>
          </p:nvSpPr>
          <p:spPr>
            <a:xfrm>
              <a:off x="3720276" y="2171700"/>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5">
              <a:extLst>
                <a:ext uri="{FF2B5EF4-FFF2-40B4-BE49-F238E27FC236}">
                  <a16:creationId xmlns:a16="http://schemas.microsoft.com/office/drawing/2014/main" id="{26351D51-B52A-B424-15D1-900C9B96B0CC}"/>
                </a:ext>
              </a:extLst>
            </p:cNvPr>
            <p:cNvSpPr txBox="1"/>
            <p:nvPr/>
          </p:nvSpPr>
          <p:spPr>
            <a:xfrm>
              <a:off x="3922486" y="2266999"/>
              <a:ext cx="11705891" cy="615553"/>
            </a:xfrm>
            <a:prstGeom prst="rect">
              <a:avLst/>
            </a:prstGeom>
          </p:spPr>
          <p:txBody>
            <a:bodyPr wrap="square" lIns="0" tIns="0" rIns="0" bIns="0" rtlCol="0" anchor="ctr">
              <a:spAutoFit/>
            </a:bodyPr>
            <a:lstStyle/>
            <a:p>
              <a:r>
                <a:rPr lang="fr-FR" sz="4000" b="1" i="0" u="none" strike="noStrike" dirty="0" err="1">
                  <a:solidFill>
                    <a:srgbClr val="002060"/>
                  </a:solidFill>
                  <a:effectLst/>
                  <a:latin typeface="Source Sans Pro" panose="020B0503030403020204" pitchFamily="34" charset="0"/>
                  <a:ea typeface="Source Sans Pro" panose="020B0503030403020204" pitchFamily="34" charset="0"/>
                </a:rPr>
                <a:t>Lỗi</a:t>
              </a:r>
              <a:r>
                <a:rPr lang="fr-FR" sz="4000" b="1" i="0" u="none" strike="noStrike" dirty="0">
                  <a:solidFill>
                    <a:srgbClr val="002060"/>
                  </a:solidFill>
                  <a:effectLst/>
                  <a:latin typeface="Source Sans Pro" panose="020B0503030403020204" pitchFamily="34" charset="0"/>
                  <a:ea typeface="Source Sans Pro" panose="020B0503030403020204" pitchFamily="34" charset="0"/>
                </a:rPr>
                <a:t> </a:t>
              </a:r>
              <a:r>
                <a:rPr lang="fr-FR" sz="4000" b="1" i="0" u="none" strike="noStrike" dirty="0" err="1">
                  <a:solidFill>
                    <a:srgbClr val="002060"/>
                  </a:solidFill>
                  <a:effectLst/>
                  <a:latin typeface="Source Sans Pro" panose="020B0503030403020204" pitchFamily="34" charset="0"/>
                  <a:ea typeface="Source Sans Pro" panose="020B0503030403020204" pitchFamily="34" charset="0"/>
                </a:rPr>
                <a:t>chế</a:t>
              </a:r>
              <a:r>
                <a:rPr lang="fr-FR" sz="4000" b="1" i="0" u="none" strike="noStrike" dirty="0">
                  <a:solidFill>
                    <a:srgbClr val="002060"/>
                  </a:solidFill>
                  <a:effectLst/>
                  <a:latin typeface="Source Sans Pro" panose="020B0503030403020204" pitchFamily="34" charset="0"/>
                  <a:ea typeface="Source Sans Pro" panose="020B0503030403020204" pitchFamily="34" charset="0"/>
                </a:rPr>
                <a:t> </a:t>
              </a:r>
              <a:r>
                <a:rPr lang="fr-FR" sz="4000" b="1" i="0" u="none" strike="noStrike" dirty="0" err="1">
                  <a:solidFill>
                    <a:srgbClr val="002060"/>
                  </a:solidFill>
                  <a:effectLst/>
                  <a:latin typeface="Source Sans Pro" panose="020B0503030403020204" pitchFamily="34" charset="0"/>
                  <a:ea typeface="Source Sans Pro" panose="020B0503030403020204" pitchFamily="34" charset="0"/>
                </a:rPr>
                <a:t>độ</a:t>
              </a:r>
              <a:r>
                <a:rPr lang="fr-FR" sz="4000" b="1" i="0" u="none" strike="noStrike" dirty="0">
                  <a:solidFill>
                    <a:srgbClr val="002060"/>
                  </a:solidFill>
                  <a:effectLst/>
                  <a:latin typeface="Source Sans Pro" panose="020B0503030403020204" pitchFamily="34" charset="0"/>
                  <a:ea typeface="Source Sans Pro" panose="020B0503030403020204" pitchFamily="34" charset="0"/>
                </a:rPr>
                <a:t> (Mode </a:t>
              </a:r>
              <a:r>
                <a:rPr lang="fr-FR" sz="4000" b="1" i="0" u="none" strike="noStrike" dirty="0" err="1">
                  <a:solidFill>
                    <a:srgbClr val="002060"/>
                  </a:solidFill>
                  <a:effectLst/>
                  <a:latin typeface="Source Sans Pro" panose="020B0503030403020204" pitchFamily="34" charset="0"/>
                  <a:ea typeface="Source Sans Pro" panose="020B0503030403020204" pitchFamily="34" charset="0"/>
                </a:rPr>
                <a:t>Errors</a:t>
              </a:r>
              <a:r>
                <a:rPr lang="fr-FR" sz="4000" b="1" i="0" u="none" strike="noStrike" dirty="0">
                  <a:solidFill>
                    <a:srgbClr val="002060"/>
                  </a:solidFill>
                  <a:effectLst/>
                  <a:latin typeface="Source Sans Pro" panose="020B0503030403020204" pitchFamily="34" charset="0"/>
                  <a:ea typeface="Source Sans Pro" panose="020B0503030403020204" pitchFamily="34" charset="0"/>
                </a:rPr>
                <a:t>)</a:t>
              </a:r>
            </a:p>
          </p:txBody>
        </p:sp>
      </p:grpSp>
      <p:cxnSp>
        <p:nvCxnSpPr>
          <p:cNvPr id="10" name="Straight Connector 9">
            <a:extLst>
              <a:ext uri="{FF2B5EF4-FFF2-40B4-BE49-F238E27FC236}">
                <a16:creationId xmlns:a16="http://schemas.microsoft.com/office/drawing/2014/main" id="{5800D04C-7BEA-CE14-274E-E81CACE8C929}"/>
              </a:ext>
            </a:extLst>
          </p:cNvPr>
          <p:cNvCxnSpPr>
            <a:cxnSpLocks/>
            <a:endCxn id="8" idx="2"/>
          </p:cNvCxnSpPr>
          <p:nvPr/>
        </p:nvCxnSpPr>
        <p:spPr>
          <a:xfrm flipV="1">
            <a:off x="1844847" y="6685668"/>
            <a:ext cx="420252" cy="1"/>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956B30FA-AFE7-1A44-59AD-7687D159440B}"/>
              </a:ext>
            </a:extLst>
          </p:cNvPr>
          <p:cNvSpPr/>
          <p:nvPr/>
        </p:nvSpPr>
        <p:spPr>
          <a:xfrm>
            <a:off x="1143000" y="6358791"/>
            <a:ext cx="709226" cy="668148"/>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07FF27F0-38E6-51A8-65D1-D4B2612E0CBD}"/>
              </a:ext>
            </a:extLst>
          </p:cNvPr>
          <p:cNvSpPr/>
          <p:nvPr/>
        </p:nvSpPr>
        <p:spPr>
          <a:xfrm>
            <a:off x="1310067" y="2180888"/>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8" name="Group 57">
            <a:extLst>
              <a:ext uri="{FF2B5EF4-FFF2-40B4-BE49-F238E27FC236}">
                <a16:creationId xmlns:a16="http://schemas.microsoft.com/office/drawing/2014/main" id="{FD64AF3C-3872-A360-3D1C-135751BD5D80}"/>
              </a:ext>
            </a:extLst>
          </p:cNvPr>
          <p:cNvGrpSpPr/>
          <p:nvPr/>
        </p:nvGrpSpPr>
        <p:grpSpPr>
          <a:xfrm>
            <a:off x="2265099" y="2051348"/>
            <a:ext cx="9549112" cy="653752"/>
            <a:chOff x="3690372" y="3389726"/>
            <a:chExt cx="12060501" cy="806153"/>
          </a:xfrm>
        </p:grpSpPr>
        <p:sp>
          <p:nvSpPr>
            <p:cNvPr id="59" name="Rectangle: Diagonal Corners Snipped 58">
              <a:extLst>
                <a:ext uri="{FF2B5EF4-FFF2-40B4-BE49-F238E27FC236}">
                  <a16:creationId xmlns:a16="http://schemas.microsoft.com/office/drawing/2014/main" id="{6BF6E5CA-7E25-33C1-1714-EEAE1902F506}"/>
                </a:ext>
              </a:extLst>
            </p:cNvPr>
            <p:cNvSpPr/>
            <p:nvPr/>
          </p:nvSpPr>
          <p:spPr>
            <a:xfrm>
              <a:off x="3690372" y="3389726"/>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0" name="TextBox 5">
              <a:extLst>
                <a:ext uri="{FF2B5EF4-FFF2-40B4-BE49-F238E27FC236}">
                  <a16:creationId xmlns:a16="http://schemas.microsoft.com/office/drawing/2014/main" id="{D0428CBD-D2C3-EA7B-DE49-BDEDADE82AE5}"/>
                </a:ext>
              </a:extLst>
            </p:cNvPr>
            <p:cNvSpPr txBox="1"/>
            <p:nvPr/>
          </p:nvSpPr>
          <p:spPr>
            <a:xfrm>
              <a:off x="3922486" y="3496620"/>
              <a:ext cx="9235963"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bị</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chiếm</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đoạt</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(Capture Errors)</a:t>
              </a:r>
            </a:p>
          </p:txBody>
        </p:sp>
      </p:grpSp>
      <p:sp>
        <p:nvSpPr>
          <p:cNvPr id="61" name="Oval 60">
            <a:extLst>
              <a:ext uri="{FF2B5EF4-FFF2-40B4-BE49-F238E27FC236}">
                <a16:creationId xmlns:a16="http://schemas.microsoft.com/office/drawing/2014/main" id="{F2888C05-FC9A-9E4C-A8CD-1E2731E01BDA}"/>
              </a:ext>
            </a:extLst>
          </p:cNvPr>
          <p:cNvSpPr/>
          <p:nvPr/>
        </p:nvSpPr>
        <p:spPr>
          <a:xfrm>
            <a:off x="1312254" y="2998274"/>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a:extLst>
              <a:ext uri="{FF2B5EF4-FFF2-40B4-BE49-F238E27FC236}">
                <a16:creationId xmlns:a16="http://schemas.microsoft.com/office/drawing/2014/main" id="{50F0EA1F-2D90-1652-F821-479EB25A3450}"/>
              </a:ext>
            </a:extLst>
          </p:cNvPr>
          <p:cNvGrpSpPr/>
          <p:nvPr/>
        </p:nvGrpSpPr>
        <p:grpSpPr>
          <a:xfrm>
            <a:off x="2265099" y="2857500"/>
            <a:ext cx="9549112" cy="653752"/>
            <a:chOff x="3720276" y="4610125"/>
            <a:chExt cx="12060501" cy="806153"/>
          </a:xfrm>
        </p:grpSpPr>
        <p:sp>
          <p:nvSpPr>
            <p:cNvPr id="63" name="Rectangle: Diagonal Corners Snipped 62">
              <a:extLst>
                <a:ext uri="{FF2B5EF4-FFF2-40B4-BE49-F238E27FC236}">
                  <a16:creationId xmlns:a16="http://schemas.microsoft.com/office/drawing/2014/main" id="{4A242D34-9DA6-DCB8-DEEB-116E0603C8A1}"/>
                </a:ext>
              </a:extLst>
            </p:cNvPr>
            <p:cNvSpPr/>
            <p:nvPr/>
          </p:nvSpPr>
          <p:spPr>
            <a:xfrm>
              <a:off x="3720276" y="461012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4" name="TextBox 5">
              <a:extLst>
                <a:ext uri="{FF2B5EF4-FFF2-40B4-BE49-F238E27FC236}">
                  <a16:creationId xmlns:a16="http://schemas.microsoft.com/office/drawing/2014/main" id="{9D6F5944-E60E-087A-AA7C-05560B333601}"/>
                </a:ext>
              </a:extLst>
            </p:cNvPr>
            <p:cNvSpPr txBox="1"/>
            <p:nvPr/>
          </p:nvSpPr>
          <p:spPr>
            <a:xfrm>
              <a:off x="3922486" y="4709581"/>
              <a:ext cx="11356764"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mô</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tả</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(Description Errors)</a:t>
              </a:r>
            </a:p>
          </p:txBody>
        </p:sp>
      </p:grpSp>
      <p:sp>
        <p:nvSpPr>
          <p:cNvPr id="65" name="Oval 64">
            <a:extLst>
              <a:ext uri="{FF2B5EF4-FFF2-40B4-BE49-F238E27FC236}">
                <a16:creationId xmlns:a16="http://schemas.microsoft.com/office/drawing/2014/main" id="{44DE4B80-A08A-16BA-35FE-985D4D7248CC}"/>
              </a:ext>
            </a:extLst>
          </p:cNvPr>
          <p:cNvSpPr/>
          <p:nvPr/>
        </p:nvSpPr>
        <p:spPr>
          <a:xfrm>
            <a:off x="1312254" y="3779492"/>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6" name="Group 65">
            <a:extLst>
              <a:ext uri="{FF2B5EF4-FFF2-40B4-BE49-F238E27FC236}">
                <a16:creationId xmlns:a16="http://schemas.microsoft.com/office/drawing/2014/main" id="{84E17C48-D067-4FA9-8281-17C7919CAEC7}"/>
              </a:ext>
            </a:extLst>
          </p:cNvPr>
          <p:cNvGrpSpPr/>
          <p:nvPr/>
        </p:nvGrpSpPr>
        <p:grpSpPr>
          <a:xfrm>
            <a:off x="2265099" y="3651548"/>
            <a:ext cx="9549112" cy="653752"/>
            <a:chOff x="3713796" y="5828151"/>
            <a:chExt cx="12060501" cy="806153"/>
          </a:xfrm>
        </p:grpSpPr>
        <p:sp>
          <p:nvSpPr>
            <p:cNvPr id="67" name="Rectangle: Diagonal Corners Snipped 66">
              <a:extLst>
                <a:ext uri="{FF2B5EF4-FFF2-40B4-BE49-F238E27FC236}">
                  <a16:creationId xmlns:a16="http://schemas.microsoft.com/office/drawing/2014/main" id="{C7F22A84-A2D5-7DD7-1936-A41DB1A97F0E}"/>
                </a:ext>
              </a:extLst>
            </p:cNvPr>
            <p:cNvSpPr/>
            <p:nvPr/>
          </p:nvSpPr>
          <p:spPr>
            <a:xfrm>
              <a:off x="3713796" y="5828151"/>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68" name="TextBox 5">
              <a:extLst>
                <a:ext uri="{FF2B5EF4-FFF2-40B4-BE49-F238E27FC236}">
                  <a16:creationId xmlns:a16="http://schemas.microsoft.com/office/drawing/2014/main" id="{2A73C263-46E1-F809-A0FE-B55F1EC3C73A}"/>
                </a:ext>
              </a:extLst>
            </p:cNvPr>
            <p:cNvSpPr txBox="1"/>
            <p:nvPr/>
          </p:nvSpPr>
          <p:spPr>
            <a:xfrm>
              <a:off x="3916723" y="5926432"/>
              <a:ext cx="11704276"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điều</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khiển</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bảng</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dữ</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liệu</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(Data-Driven Errors)</a:t>
              </a:r>
            </a:p>
          </p:txBody>
        </p:sp>
      </p:grpSp>
      <p:sp>
        <p:nvSpPr>
          <p:cNvPr id="69" name="Oval 68">
            <a:extLst>
              <a:ext uri="{FF2B5EF4-FFF2-40B4-BE49-F238E27FC236}">
                <a16:creationId xmlns:a16="http://schemas.microsoft.com/office/drawing/2014/main" id="{6923427D-7A10-A1D6-FA45-B9518FE2B16D}"/>
              </a:ext>
            </a:extLst>
          </p:cNvPr>
          <p:cNvSpPr/>
          <p:nvPr/>
        </p:nvSpPr>
        <p:spPr>
          <a:xfrm>
            <a:off x="1317765" y="4598146"/>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0" name="Group 69">
            <a:extLst>
              <a:ext uri="{FF2B5EF4-FFF2-40B4-BE49-F238E27FC236}">
                <a16:creationId xmlns:a16="http://schemas.microsoft.com/office/drawing/2014/main" id="{980AF356-3A66-67F2-C481-ED9CE3ABB6FC}"/>
              </a:ext>
            </a:extLst>
          </p:cNvPr>
          <p:cNvGrpSpPr/>
          <p:nvPr/>
        </p:nvGrpSpPr>
        <p:grpSpPr>
          <a:xfrm>
            <a:off x="2265097" y="4457700"/>
            <a:ext cx="9549112" cy="653752"/>
            <a:chOff x="3734590" y="7002955"/>
            <a:chExt cx="12060501" cy="806153"/>
          </a:xfrm>
        </p:grpSpPr>
        <p:sp>
          <p:nvSpPr>
            <p:cNvPr id="71" name="Rectangle: Diagonal Corners Snipped 70">
              <a:extLst>
                <a:ext uri="{FF2B5EF4-FFF2-40B4-BE49-F238E27FC236}">
                  <a16:creationId xmlns:a16="http://schemas.microsoft.com/office/drawing/2014/main" id="{F36962FF-BFC6-AA1C-B7D1-1EEA6CEAD079}"/>
                </a:ext>
              </a:extLst>
            </p:cNvPr>
            <p:cNvSpPr/>
            <p:nvPr/>
          </p:nvSpPr>
          <p:spPr>
            <a:xfrm>
              <a:off x="3734590" y="700295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72" name="TextBox 5">
              <a:extLst>
                <a:ext uri="{FF2B5EF4-FFF2-40B4-BE49-F238E27FC236}">
                  <a16:creationId xmlns:a16="http://schemas.microsoft.com/office/drawing/2014/main" id="{9343E2DA-33B3-4F36-4F6E-841B6DA2C7F0}"/>
                </a:ext>
              </a:extLst>
            </p:cNvPr>
            <p:cNvSpPr txBox="1"/>
            <p:nvPr/>
          </p:nvSpPr>
          <p:spPr>
            <a:xfrm>
              <a:off x="3913403" y="7102410"/>
              <a:ext cx="11881685" cy="607240"/>
            </a:xfrm>
            <a:prstGeom prst="rect">
              <a:avLst/>
            </a:prstGeom>
          </p:spPr>
          <p:txBody>
            <a:bodyPr wrap="square" lIns="0" tIns="0" rIns="0" bIns="0" rtlCol="0" anchor="ctr">
              <a:spAutoFit/>
            </a:bodyPr>
            <a:lstStyle/>
            <a:p>
              <a:r>
                <a:rPr lang="en-US" sz="3200" b="1" dirty="0" err="1">
                  <a:solidFill>
                    <a:srgbClr val="002060">
                      <a:alpha val="30000"/>
                    </a:srgbClr>
                  </a:solidFill>
                  <a:latin typeface="Source Sans Pro" panose="020B0503030403020204" pitchFamily="34" charset="0"/>
                  <a:ea typeface="Source Sans Pro" panose="020B0503030403020204" pitchFamily="34" charset="0"/>
                </a:rPr>
                <a:t>Lỗi</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kích</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hoạt</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liên</a:t>
              </a:r>
              <a:r>
                <a:rPr lang="en-US" sz="3200" b="1" dirty="0">
                  <a:solidFill>
                    <a:srgbClr val="002060">
                      <a:alpha val="30000"/>
                    </a:srgbClr>
                  </a:solidFill>
                  <a:latin typeface="Source Sans Pro" panose="020B0503030403020204" pitchFamily="34" charset="0"/>
                  <a:ea typeface="Source Sans Pro" panose="020B0503030403020204" pitchFamily="34" charset="0"/>
                </a:rPr>
                <a:t> </a:t>
              </a:r>
              <a:r>
                <a:rPr lang="en-US" sz="3200" b="1" dirty="0" err="1">
                  <a:solidFill>
                    <a:srgbClr val="002060">
                      <a:alpha val="30000"/>
                    </a:srgbClr>
                  </a:solidFill>
                  <a:latin typeface="Source Sans Pro" panose="020B0503030403020204" pitchFamily="34" charset="0"/>
                  <a:ea typeface="Source Sans Pro" panose="020B0503030403020204" pitchFamily="34" charset="0"/>
                </a:rPr>
                <a:t>kết</a:t>
              </a:r>
              <a:r>
                <a:rPr lang="en-US" sz="3200" b="1" dirty="0">
                  <a:solidFill>
                    <a:srgbClr val="002060">
                      <a:alpha val="30000"/>
                    </a:srgbClr>
                  </a:solidFill>
                  <a:latin typeface="Source Sans Pro" panose="020B0503030403020204" pitchFamily="34" charset="0"/>
                  <a:ea typeface="Source Sans Pro" panose="020B0503030403020204" pitchFamily="34" charset="0"/>
                </a:rPr>
                <a:t> (Associative Activation Errors)</a:t>
              </a:r>
            </a:p>
          </p:txBody>
        </p:sp>
      </p:grpSp>
      <p:sp>
        <p:nvSpPr>
          <p:cNvPr id="73" name="Oval 72">
            <a:extLst>
              <a:ext uri="{FF2B5EF4-FFF2-40B4-BE49-F238E27FC236}">
                <a16:creationId xmlns:a16="http://schemas.microsoft.com/office/drawing/2014/main" id="{9D427AA6-C88A-1195-218A-05E2B528C79A}"/>
              </a:ext>
            </a:extLst>
          </p:cNvPr>
          <p:cNvSpPr/>
          <p:nvPr/>
        </p:nvSpPr>
        <p:spPr>
          <a:xfrm>
            <a:off x="1306829" y="5413948"/>
            <a:ext cx="404423"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4" name="Group 73">
            <a:extLst>
              <a:ext uri="{FF2B5EF4-FFF2-40B4-BE49-F238E27FC236}">
                <a16:creationId xmlns:a16="http://schemas.microsoft.com/office/drawing/2014/main" id="{4237CEC4-ED09-BCAE-7AC8-592CF02E2AD0}"/>
              </a:ext>
            </a:extLst>
          </p:cNvPr>
          <p:cNvGrpSpPr/>
          <p:nvPr/>
        </p:nvGrpSpPr>
        <p:grpSpPr>
          <a:xfrm>
            <a:off x="2265097" y="5295900"/>
            <a:ext cx="9549112" cy="653752"/>
            <a:chOff x="3690373" y="8223547"/>
            <a:chExt cx="12060501" cy="806153"/>
          </a:xfrm>
        </p:grpSpPr>
        <p:sp>
          <p:nvSpPr>
            <p:cNvPr id="75" name="Rectangle: Diagonal Corners Snipped 74">
              <a:extLst>
                <a:ext uri="{FF2B5EF4-FFF2-40B4-BE49-F238E27FC236}">
                  <a16:creationId xmlns:a16="http://schemas.microsoft.com/office/drawing/2014/main" id="{850379FB-0519-83ED-FA76-9B26596C5C55}"/>
                </a:ext>
              </a:extLst>
            </p:cNvPr>
            <p:cNvSpPr/>
            <p:nvPr/>
          </p:nvSpPr>
          <p:spPr>
            <a:xfrm>
              <a:off x="3690373" y="8223547"/>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alpha val="30000"/>
                  </a:schemeClr>
                </a:solidFill>
              </a:endParaRPr>
            </a:p>
          </p:txBody>
        </p:sp>
        <p:sp>
          <p:nvSpPr>
            <p:cNvPr id="76" name="TextBox 5">
              <a:extLst>
                <a:ext uri="{FF2B5EF4-FFF2-40B4-BE49-F238E27FC236}">
                  <a16:creationId xmlns:a16="http://schemas.microsoft.com/office/drawing/2014/main" id="{10650A93-0827-7369-2A3F-E6575A95B79A}"/>
                </a:ext>
              </a:extLst>
            </p:cNvPr>
            <p:cNvSpPr txBox="1"/>
            <p:nvPr/>
          </p:nvSpPr>
          <p:spPr>
            <a:xfrm>
              <a:off x="3913404" y="8320937"/>
              <a:ext cx="10486051" cy="607240"/>
            </a:xfrm>
            <a:prstGeom prst="rect">
              <a:avLst/>
            </a:prstGeom>
          </p:spPr>
          <p:txBody>
            <a:bodyPr wrap="square" lIns="0" tIns="0" rIns="0" bIns="0" rtlCol="0" anchor="ctr">
              <a:spAutoFit/>
            </a:bodyPr>
            <a:lstStyle/>
            <a:p>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Lỗi</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mất</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kích</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alpha val="30000"/>
                    </a:srgbClr>
                  </a:solidFill>
                  <a:effectLst/>
                  <a:latin typeface="Source Sans Pro" panose="020B0503030403020204" pitchFamily="34" charset="0"/>
                  <a:ea typeface="Source Sans Pro" panose="020B0503030403020204" pitchFamily="34" charset="0"/>
                </a:rPr>
                <a:t>hoạt</a:t>
              </a:r>
              <a:r>
                <a:rPr lang="en-US" sz="3200" b="1" i="0" u="none" strike="noStrike" dirty="0">
                  <a:solidFill>
                    <a:srgbClr val="002060">
                      <a:alpha val="30000"/>
                    </a:srgbClr>
                  </a:solidFill>
                  <a:effectLst/>
                  <a:latin typeface="Source Sans Pro" panose="020B0503030403020204" pitchFamily="34" charset="0"/>
                  <a:ea typeface="Source Sans Pro" panose="020B0503030403020204" pitchFamily="34" charset="0"/>
                </a:rPr>
                <a:t> (Loss-of-activation Errors)</a:t>
              </a:r>
            </a:p>
          </p:txBody>
        </p:sp>
      </p:grpSp>
      <p:cxnSp>
        <p:nvCxnSpPr>
          <p:cNvPr id="77" name="Straight Connector 76">
            <a:extLst>
              <a:ext uri="{FF2B5EF4-FFF2-40B4-BE49-F238E27FC236}">
                <a16:creationId xmlns:a16="http://schemas.microsoft.com/office/drawing/2014/main" id="{01EA022F-2D3D-8988-62F1-76F7A4D52A2B}"/>
              </a:ext>
            </a:extLst>
          </p:cNvPr>
          <p:cNvCxnSpPr>
            <a:cxnSpLocks/>
            <a:stCxn id="57" idx="6"/>
            <a:endCxn id="59" idx="2"/>
          </p:cNvCxnSpPr>
          <p:nvPr/>
        </p:nvCxnSpPr>
        <p:spPr>
          <a:xfrm>
            <a:off x="1714490" y="2371388"/>
            <a:ext cx="550609" cy="6836"/>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58270918-AF34-3F97-DC5B-51235A8DC301}"/>
              </a:ext>
            </a:extLst>
          </p:cNvPr>
          <p:cNvCxnSpPr>
            <a:cxnSpLocks/>
            <a:stCxn id="61" idx="6"/>
            <a:endCxn id="63" idx="2"/>
          </p:cNvCxnSpPr>
          <p:nvPr/>
        </p:nvCxnSpPr>
        <p:spPr>
          <a:xfrm flipV="1">
            <a:off x="1716677" y="3184376"/>
            <a:ext cx="548422" cy="4398"/>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20891E21-54D5-F60E-39F3-BD5002BF55DD}"/>
              </a:ext>
            </a:extLst>
          </p:cNvPr>
          <p:cNvCxnSpPr>
            <a:cxnSpLocks/>
            <a:stCxn id="65" idx="6"/>
            <a:endCxn id="67" idx="2"/>
          </p:cNvCxnSpPr>
          <p:nvPr/>
        </p:nvCxnSpPr>
        <p:spPr>
          <a:xfrm>
            <a:off x="1716677" y="3969992"/>
            <a:ext cx="548422" cy="8432"/>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79F01C82-B969-04B6-9944-36E0D41375FD}"/>
              </a:ext>
            </a:extLst>
          </p:cNvPr>
          <p:cNvCxnSpPr>
            <a:cxnSpLocks/>
            <a:stCxn id="69" idx="6"/>
            <a:endCxn id="71" idx="2"/>
          </p:cNvCxnSpPr>
          <p:nvPr/>
        </p:nvCxnSpPr>
        <p:spPr>
          <a:xfrm flipV="1">
            <a:off x="1722188" y="4784576"/>
            <a:ext cx="542909" cy="4070"/>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AD185951-45E7-7DB9-AFD3-E309770FB16C}"/>
              </a:ext>
            </a:extLst>
          </p:cNvPr>
          <p:cNvCxnSpPr>
            <a:cxnSpLocks/>
            <a:stCxn id="73" idx="6"/>
            <a:endCxn id="75" idx="2"/>
          </p:cNvCxnSpPr>
          <p:nvPr/>
        </p:nvCxnSpPr>
        <p:spPr>
          <a:xfrm>
            <a:off x="1711252" y="5604448"/>
            <a:ext cx="553845" cy="18328"/>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
        <p:nvSpPr>
          <p:cNvPr id="5" name="Slide Number Placeholder 8">
            <a:extLst>
              <a:ext uri="{FF2B5EF4-FFF2-40B4-BE49-F238E27FC236}">
                <a16:creationId xmlns:a16="http://schemas.microsoft.com/office/drawing/2014/main" id="{BCE7D7E3-5C8E-C322-B662-F7F1912E6CC6}"/>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12</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Tree>
    <p:extLst>
      <p:ext uri="{BB962C8B-B14F-4D97-AF65-F5344CB8AC3E}">
        <p14:creationId xmlns:p14="http://schemas.microsoft.com/office/powerpoint/2010/main" val="22708507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D7DA40BD-BE25-8CD2-6A73-FB282A019A06}"/>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A7336537-62E8-8554-3E4D-C3866AA777F6}"/>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59E59413-796B-2563-B7E6-4CC98C492AC8}"/>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3B68412E-9C6D-836C-E675-0FF563E4FE32}"/>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2D75A013-D0E3-5CF2-3C45-AAEEF90E147A}"/>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9D987817-FFB0-B413-BD54-A597D7CF3391}"/>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a:t>
            </a:r>
          </a:p>
        </p:txBody>
      </p:sp>
      <p:sp>
        <p:nvSpPr>
          <p:cNvPr id="27" name="TextBox 26">
            <a:extLst>
              <a:ext uri="{FF2B5EF4-FFF2-40B4-BE49-F238E27FC236}">
                <a16:creationId xmlns:a16="http://schemas.microsoft.com/office/drawing/2014/main" id="{FC18A2BB-A49C-40E3-BF03-A293568CF719}"/>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 SUẤT</a:t>
            </a:r>
          </a:p>
        </p:txBody>
      </p:sp>
      <p:pic>
        <p:nvPicPr>
          <p:cNvPr id="28" name="Picture 27" descr="A blue logo with a black background&#10;&#10;AI-generated content may be incorrect.">
            <a:extLst>
              <a:ext uri="{FF2B5EF4-FFF2-40B4-BE49-F238E27FC236}">
                <a16:creationId xmlns:a16="http://schemas.microsoft.com/office/drawing/2014/main" id="{74A5A1E9-7101-90DC-6783-73C3138C7366}"/>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71FA6BD7-83D3-D1AB-70EB-C2CEC31157AD}"/>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3" name="TextBox 2">
            <a:extLst>
              <a:ext uri="{FF2B5EF4-FFF2-40B4-BE49-F238E27FC236}">
                <a16:creationId xmlns:a16="http://schemas.microsoft.com/office/drawing/2014/main" id="{1479B7A0-7F48-5BC0-B92D-7158A23EEB52}"/>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Phát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hiện</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suất</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6" name="Slide Number Placeholder 8">
            <a:extLst>
              <a:ext uri="{FF2B5EF4-FFF2-40B4-BE49-F238E27FC236}">
                <a16:creationId xmlns:a16="http://schemas.microsoft.com/office/drawing/2014/main" id="{B7036C6A-D5C8-DE1F-5A3A-27D0F83EDE72}"/>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13</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14" name="TextBox 5">
            <a:extLst>
              <a:ext uri="{FF2B5EF4-FFF2-40B4-BE49-F238E27FC236}">
                <a16:creationId xmlns:a16="http://schemas.microsoft.com/office/drawing/2014/main" id="{D8CD728E-1326-1790-1C42-32808B65C5E4}"/>
              </a:ext>
            </a:extLst>
          </p:cNvPr>
          <p:cNvSpPr txBox="1"/>
          <p:nvPr/>
        </p:nvSpPr>
        <p:spPr>
          <a:xfrm>
            <a:off x="1819255" y="2290733"/>
            <a:ext cx="14649489" cy="1846659"/>
          </a:xfrm>
          <a:prstGeom prst="rect">
            <a:avLst/>
          </a:prstGeom>
        </p:spPr>
        <p:txBody>
          <a:bodyPr wrap="square" lIns="0" tIns="0" rIns="0" bIns="0" rtlCol="0" anchor="ctr">
            <a:spAutoFit/>
          </a:bodyPr>
          <a:lstStyle/>
          <a:p>
            <a:pPr algn="just"/>
            <a:r>
              <a:rPr lang="vi-VN" sz="4000" i="0" u="none" strike="noStrike" dirty="0">
                <a:solidFill>
                  <a:srgbClr val="002060"/>
                </a:solidFill>
                <a:effectLst/>
                <a:latin typeface="Source Sans Pro" panose="020B0503030403020204" pitchFamily="34" charset="0"/>
                <a:ea typeface="Source Sans Pro" panose="020B0503030403020204" pitchFamily="34" charset="0"/>
              </a:rPr>
              <a:t>Phát hiện sơ suất thường </a:t>
            </a:r>
            <a:r>
              <a:rPr lang="vi-VN" sz="4000" b="1" i="0" u="none" strike="noStrike" dirty="0">
                <a:solidFill>
                  <a:srgbClr val="002060"/>
                </a:solidFill>
                <a:effectLst/>
                <a:latin typeface="Source Sans Pro" panose="020B0503030403020204" pitchFamily="34" charset="0"/>
                <a:ea typeface="Source Sans Pro" panose="020B0503030403020204" pitchFamily="34" charset="0"/>
              </a:rPr>
              <a:t>khá dễ dàng </a:t>
            </a:r>
            <a:r>
              <a:rPr lang="vi-VN" sz="4000" i="0" u="none" strike="noStrike" dirty="0">
                <a:solidFill>
                  <a:srgbClr val="002060"/>
                </a:solidFill>
                <a:effectLst/>
                <a:latin typeface="Source Sans Pro" panose="020B0503030403020204" pitchFamily="34" charset="0"/>
                <a:ea typeface="Source Sans Pro" panose="020B0503030403020204" pitchFamily="34" charset="0"/>
              </a:rPr>
              <a:t>vì có </a:t>
            </a:r>
            <a:r>
              <a:rPr lang="vi-VN" sz="4000" b="1" i="0" u="none" strike="noStrike" dirty="0">
                <a:solidFill>
                  <a:srgbClr val="002060"/>
                </a:solidFill>
                <a:effectLst/>
                <a:latin typeface="Source Sans Pro" panose="020B0503030403020204" pitchFamily="34" charset="0"/>
                <a:ea typeface="Source Sans Pro" panose="020B0503030403020204" pitchFamily="34" charset="0"/>
              </a:rPr>
              <a:t>sự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chênh</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vi-VN" sz="4000" b="1" i="0" u="none" strike="noStrike" dirty="0">
                <a:solidFill>
                  <a:srgbClr val="002060"/>
                </a:solidFill>
                <a:effectLst/>
                <a:latin typeface="Source Sans Pro" panose="020B0503030403020204" pitchFamily="34" charset="0"/>
                <a:ea typeface="Source Sans Pro" panose="020B0503030403020204" pitchFamily="34" charset="0"/>
              </a:rPr>
              <a:t>lệch rõ rệt </a:t>
            </a:r>
            <a:r>
              <a:rPr lang="vi-VN" sz="4000" i="0" u="none" strike="noStrike" dirty="0">
                <a:solidFill>
                  <a:srgbClr val="002060"/>
                </a:solidFill>
                <a:effectLst/>
                <a:latin typeface="Source Sans Pro" panose="020B0503030403020204" pitchFamily="34" charset="0"/>
                <a:ea typeface="Source Sans Pro" panose="020B0503030403020204" pitchFamily="34" charset="0"/>
              </a:rPr>
              <a:t>giữa </a:t>
            </a:r>
            <a:r>
              <a:rPr lang="vi-VN" sz="4000" b="1" i="0" u="none" strike="noStrike" dirty="0">
                <a:solidFill>
                  <a:srgbClr val="002060"/>
                </a:solidFill>
                <a:effectLst/>
                <a:latin typeface="Source Sans Pro" panose="020B0503030403020204" pitchFamily="34" charset="0"/>
                <a:ea typeface="Source Sans Pro" panose="020B0503030403020204" pitchFamily="34" charset="0"/>
              </a:rPr>
              <a:t>mục tiêu mong muốn </a:t>
            </a:r>
            <a:r>
              <a:rPr lang="vi-VN" sz="4000" i="0" u="none" strike="noStrike" dirty="0">
                <a:solidFill>
                  <a:srgbClr val="002060"/>
                </a:solidFill>
                <a:effectLst/>
                <a:latin typeface="Source Sans Pro" panose="020B0503030403020204" pitchFamily="34" charset="0"/>
                <a:ea typeface="Source Sans Pro" panose="020B0503030403020204" pitchFamily="34" charset="0"/>
              </a:rPr>
              <a:t>và </a:t>
            </a:r>
            <a:r>
              <a:rPr lang="vi-VN" sz="4000" b="1" i="0" u="none" strike="noStrike" dirty="0">
                <a:solidFill>
                  <a:srgbClr val="002060"/>
                </a:solidFill>
                <a:effectLst/>
                <a:latin typeface="Source Sans Pro" panose="020B0503030403020204" pitchFamily="34" charset="0"/>
                <a:ea typeface="Source Sans Pro" panose="020B0503030403020204" pitchFamily="34" charset="0"/>
              </a:rPr>
              <a:t>kết quả thực tế</a:t>
            </a:r>
            <a:r>
              <a:rPr lang="vi-VN" sz="4000" i="0" u="none" strike="noStrike" dirty="0">
                <a:solidFill>
                  <a:srgbClr val="002060"/>
                </a:solidFill>
                <a:effectLst/>
                <a:latin typeface="Source Sans Pro" panose="020B0503030403020204" pitchFamily="34" charset="0"/>
                <a:ea typeface="Source Sans Pro" panose="020B0503030403020204" pitchFamily="34" charset="0"/>
              </a:rPr>
              <a:t>, tuy nhiên, việc phát hiện chỉ xảy ra khi có phản hồi nhìn thấy được. </a:t>
            </a:r>
          </a:p>
        </p:txBody>
      </p:sp>
      <p:sp>
        <p:nvSpPr>
          <p:cNvPr id="16" name="TextBox 5">
            <a:extLst>
              <a:ext uri="{FF2B5EF4-FFF2-40B4-BE49-F238E27FC236}">
                <a16:creationId xmlns:a16="http://schemas.microsoft.com/office/drawing/2014/main" id="{75848BA7-EA1A-9EE0-7EF3-94A123BD0D4C}"/>
              </a:ext>
            </a:extLst>
          </p:cNvPr>
          <p:cNvSpPr txBox="1"/>
          <p:nvPr/>
        </p:nvSpPr>
        <p:spPr>
          <a:xfrm>
            <a:off x="1819255" y="4381500"/>
            <a:ext cx="14649489" cy="1846659"/>
          </a:xfrm>
          <a:prstGeom prst="rect">
            <a:avLst/>
          </a:prstGeom>
        </p:spPr>
        <p:txBody>
          <a:bodyPr wrap="square" lIns="0" tIns="0" rIns="0" bIns="0" rtlCol="0" anchor="ctr">
            <a:spAutoFit/>
          </a:bodyPr>
          <a:lstStyle/>
          <a:p>
            <a:pPr algn="just"/>
            <a:r>
              <a:rPr lang="vi-VN" sz="4000" i="0" u="none" strike="noStrike" dirty="0">
                <a:solidFill>
                  <a:srgbClr val="002060"/>
                </a:solidFill>
                <a:effectLst/>
                <a:latin typeface="Source Sans Pro" panose="020B0503030403020204" pitchFamily="34" charset="0"/>
                <a:ea typeface="Source Sans Pro" panose="020B0503030403020204" pitchFamily="34" charset="0"/>
              </a:rPr>
              <a:t>Ngay cả khi đã nhận ra </a:t>
            </a:r>
            <a:r>
              <a:rPr lang="en-US" sz="4000" i="0" u="none" strike="noStrike" dirty="0" err="1">
                <a:solidFill>
                  <a:srgbClr val="002060"/>
                </a:solidFill>
                <a:effectLst/>
                <a:latin typeface="Source Sans Pro" panose="020B0503030403020204" pitchFamily="34" charset="0"/>
                <a:ea typeface="Source Sans Pro" panose="020B0503030403020204" pitchFamily="34" charset="0"/>
              </a:rPr>
              <a:t>sai</a:t>
            </a:r>
            <a:r>
              <a:rPr lang="en-US" sz="4000"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i="0" u="none" strike="noStrike" dirty="0" err="1">
                <a:solidFill>
                  <a:srgbClr val="002060"/>
                </a:solidFill>
                <a:effectLst/>
                <a:latin typeface="Source Sans Pro" panose="020B0503030403020204" pitchFamily="34" charset="0"/>
                <a:ea typeface="Source Sans Pro" panose="020B0503030403020204" pitchFamily="34" charset="0"/>
              </a:rPr>
              <a:t>lệch</a:t>
            </a:r>
            <a:r>
              <a:rPr lang="vi-VN" sz="4000" i="0" u="none" strike="noStrike" dirty="0">
                <a:solidFill>
                  <a:srgbClr val="002060"/>
                </a:solidFill>
                <a:effectLst/>
                <a:latin typeface="Source Sans Pro" panose="020B0503030403020204" pitchFamily="34" charset="0"/>
                <a:ea typeface="Source Sans Pro" panose="020B0503030403020204" pitchFamily="34" charset="0"/>
              </a:rPr>
              <a:t> giữa mục tiêu và kết quả, vấn đề lớn nhất nằm ở việc </a:t>
            </a:r>
            <a:r>
              <a:rPr lang="vi-VN" sz="4000" b="1" i="0" u="none" strike="noStrike" dirty="0">
                <a:solidFill>
                  <a:srgbClr val="002060"/>
                </a:solidFill>
                <a:effectLst/>
                <a:latin typeface="Source Sans Pro" panose="020B0503030403020204" pitchFamily="34" charset="0"/>
                <a:ea typeface="Source Sans Pro" panose="020B0503030403020204" pitchFamily="34" charset="0"/>
              </a:rPr>
              <a:t>chưa chắc đã biết lỗi đó là gì và nó xảy ra ở mức đặc tả nào. </a:t>
            </a:r>
          </a:p>
        </p:txBody>
      </p:sp>
      <p:sp>
        <p:nvSpPr>
          <p:cNvPr id="19" name="TextBox 5">
            <a:extLst>
              <a:ext uri="{FF2B5EF4-FFF2-40B4-BE49-F238E27FC236}">
                <a16:creationId xmlns:a16="http://schemas.microsoft.com/office/drawing/2014/main" id="{B9A036B2-DC71-6763-197F-3AE28880E50C}"/>
              </a:ext>
            </a:extLst>
          </p:cNvPr>
          <p:cNvSpPr txBox="1"/>
          <p:nvPr/>
        </p:nvSpPr>
        <p:spPr>
          <a:xfrm>
            <a:off x="1804332" y="6515100"/>
            <a:ext cx="14649489" cy="1846659"/>
          </a:xfrm>
          <a:prstGeom prst="rect">
            <a:avLst/>
          </a:prstGeom>
        </p:spPr>
        <p:txBody>
          <a:bodyPr wrap="square" lIns="0" tIns="0" rIns="0" bIns="0" rtlCol="0" anchor="ctr">
            <a:spAutoFit/>
          </a:bodyPr>
          <a:lstStyle/>
          <a:p>
            <a:pPr algn="just"/>
            <a:r>
              <a:rPr lang="vi-VN" sz="4000" i="0" u="none" strike="noStrike" dirty="0">
                <a:solidFill>
                  <a:srgbClr val="002060"/>
                </a:solidFill>
                <a:effectLst/>
                <a:latin typeface="Source Sans Pro" panose="020B0503030403020204" pitchFamily="34" charset="0"/>
                <a:ea typeface="Source Sans Pro" panose="020B0503030403020204" pitchFamily="34" charset="0"/>
              </a:rPr>
              <a:t>Lỗi có thể xuất hiện ở </a:t>
            </a:r>
            <a:r>
              <a:rPr lang="vi-VN" sz="4000" b="1" i="0" u="none" strike="noStrike" dirty="0">
                <a:solidFill>
                  <a:srgbClr val="002060"/>
                </a:solidFill>
                <a:effectLst/>
                <a:latin typeface="Source Sans Pro" panose="020B0503030403020204" pitchFamily="34" charset="0"/>
                <a:ea typeface="Source Sans Pro" panose="020B0503030403020204" pitchFamily="34" charset="0"/>
              </a:rPr>
              <a:t>bất cứ mức nào</a:t>
            </a:r>
            <a:r>
              <a:rPr lang="vi-VN" sz="4000" i="0" u="none" strike="noStrike" dirty="0">
                <a:solidFill>
                  <a:srgbClr val="002060"/>
                </a:solidFill>
                <a:effectLst/>
                <a:latin typeface="Source Sans Pro" panose="020B0503030403020204" pitchFamily="34" charset="0"/>
                <a:ea typeface="Source Sans Pro" panose="020B0503030403020204" pitchFamily="34" charset="0"/>
              </a:rPr>
              <a:t>, và con người thường sửa từ mức thấp nhất (làm lại thao tác) rồi mới leo lên mức cao hơn (xem lại bước, mục tiêu)</a:t>
            </a:r>
            <a:r>
              <a:rPr lang="en-US" sz="4000"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i="0" u="none" strike="noStrike" dirty="0" err="1">
                <a:solidFill>
                  <a:srgbClr val="002060"/>
                </a:solidFill>
                <a:effectLst/>
                <a:latin typeface="Source Sans Pro" panose="020B0503030403020204" pitchFamily="34" charset="0"/>
                <a:ea typeface="Source Sans Pro" panose="020B0503030403020204" pitchFamily="34" charset="0"/>
              </a:rPr>
              <a:t>nên</a:t>
            </a:r>
            <a:r>
              <a:rPr lang="en-US" sz="4000"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i="0" u="none" strike="noStrike" dirty="0" err="1">
                <a:solidFill>
                  <a:srgbClr val="002060"/>
                </a:solidFill>
                <a:effectLst/>
                <a:latin typeface="Source Sans Pro" panose="020B0503030403020204" pitchFamily="34" charset="0"/>
                <a:ea typeface="Source Sans Pro" panose="020B0503030403020204" pitchFamily="34" charset="0"/>
              </a:rPr>
              <a:t>đôi</a:t>
            </a:r>
            <a:r>
              <a:rPr lang="en-US" sz="4000"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i="0" u="none" strike="noStrike" dirty="0" err="1">
                <a:solidFill>
                  <a:srgbClr val="002060"/>
                </a:solidFill>
                <a:effectLst/>
                <a:latin typeface="Source Sans Pro" panose="020B0503030403020204" pitchFamily="34" charset="0"/>
                <a:ea typeface="Source Sans Pro" panose="020B0503030403020204" pitchFamily="34" charset="0"/>
              </a:rPr>
              <a:t>khi</a:t>
            </a:r>
            <a:r>
              <a:rPr lang="en-US" sz="4000" i="0" u="none" strike="noStrike" dirty="0">
                <a:solidFill>
                  <a:srgbClr val="002060"/>
                </a:solidFill>
                <a:effectLst/>
                <a:latin typeface="Source Sans Pro" panose="020B0503030403020204" pitchFamily="34" charset="0"/>
                <a:ea typeface="Source Sans Pro" panose="020B0503030403020204" pitchFamily="34" charset="0"/>
              </a:rPr>
              <a:t> con </a:t>
            </a:r>
            <a:r>
              <a:rPr lang="en-US" sz="4000" i="0" u="none" strike="noStrike" dirty="0" err="1">
                <a:solidFill>
                  <a:srgbClr val="002060"/>
                </a:solidFill>
                <a:effectLst/>
                <a:latin typeface="Source Sans Pro" panose="020B0503030403020204" pitchFamily="34" charset="0"/>
                <a:ea typeface="Source Sans Pro" panose="020B0503030403020204" pitchFamily="34" charset="0"/>
              </a:rPr>
              <a:t>người</a:t>
            </a:r>
            <a:r>
              <a:rPr lang="en-US" sz="4000"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sửa</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sai</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chỗ</a:t>
            </a:r>
            <a:r>
              <a:rPr lang="en-US" sz="4000" b="1" i="0" u="none" strike="noStrike" dirty="0">
                <a:solidFill>
                  <a:srgbClr val="002060"/>
                </a:solidFill>
                <a:effectLst/>
                <a:latin typeface="Source Sans Pro" panose="020B0503030403020204" pitchFamily="34" charset="0"/>
                <a:ea typeface="Source Sans Pro" panose="020B0503030403020204" pitchFamily="34" charset="0"/>
              </a:rPr>
              <a:t>”.</a:t>
            </a:r>
            <a:endParaRPr lang="vi-VN" sz="4000" b="1" i="0" u="none" strike="noStrike" dirty="0">
              <a:solidFill>
                <a:srgbClr val="002060"/>
              </a:solidFill>
              <a:effectLst/>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40286240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EF3FD149-55FC-ADA3-ED98-71051F4D3E4C}"/>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FDE50A95-20F3-3FBF-B5B6-198503CE2BDA}"/>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B18D55A0-4CCB-61DB-43DC-058AB49BB272}"/>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E54EFB47-1629-C1F2-2FE8-45F0834372FD}"/>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35C2191D-5704-3E8F-102A-1D2222FB737A}"/>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18F6CBC4-E0B3-DAB2-3D8B-F3D5D07AFBD0}"/>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a:t>
            </a:r>
          </a:p>
        </p:txBody>
      </p:sp>
      <p:sp>
        <p:nvSpPr>
          <p:cNvPr id="27" name="TextBox 26">
            <a:extLst>
              <a:ext uri="{FF2B5EF4-FFF2-40B4-BE49-F238E27FC236}">
                <a16:creationId xmlns:a16="http://schemas.microsoft.com/office/drawing/2014/main" id="{80BAE192-1E17-039D-8E46-293D582A79D9}"/>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 SUẤT</a:t>
            </a:r>
          </a:p>
        </p:txBody>
      </p:sp>
      <p:pic>
        <p:nvPicPr>
          <p:cNvPr id="28" name="Picture 27" descr="A blue logo with a black background&#10;&#10;AI-generated content may be incorrect.">
            <a:extLst>
              <a:ext uri="{FF2B5EF4-FFF2-40B4-BE49-F238E27FC236}">
                <a16:creationId xmlns:a16="http://schemas.microsoft.com/office/drawing/2014/main" id="{9247FEE6-102D-8BF8-464D-86559130B721}"/>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F9B52ACD-A48F-2800-8787-DDEE762B8AEE}"/>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3" name="TextBox 2">
            <a:extLst>
              <a:ext uri="{FF2B5EF4-FFF2-40B4-BE49-F238E27FC236}">
                <a16:creationId xmlns:a16="http://schemas.microsoft.com/office/drawing/2014/main" id="{9D98F1DD-4813-B7B0-C4D4-322B933B9FE3}"/>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Bài</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học</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thiết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kế</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từ</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việc</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nghiên</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cứu</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suất</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6" name="Slide Number Placeholder 8">
            <a:extLst>
              <a:ext uri="{FF2B5EF4-FFF2-40B4-BE49-F238E27FC236}">
                <a16:creationId xmlns:a16="http://schemas.microsoft.com/office/drawing/2014/main" id="{BFDE211E-435E-D1F2-CAAB-5BE122BACE6F}"/>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14</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grpSp>
        <p:nvGrpSpPr>
          <p:cNvPr id="31" name="Group 30">
            <a:extLst>
              <a:ext uri="{FF2B5EF4-FFF2-40B4-BE49-F238E27FC236}">
                <a16:creationId xmlns:a16="http://schemas.microsoft.com/office/drawing/2014/main" id="{623CFA89-381C-7E63-ED4F-20D9B498D344}"/>
              </a:ext>
            </a:extLst>
          </p:cNvPr>
          <p:cNvGrpSpPr/>
          <p:nvPr/>
        </p:nvGrpSpPr>
        <p:grpSpPr>
          <a:xfrm>
            <a:off x="2100630" y="3845170"/>
            <a:ext cx="14083158" cy="838200"/>
            <a:chOff x="3821710" y="3368248"/>
            <a:chExt cx="11414036" cy="838200"/>
          </a:xfrm>
          <a:effectLst>
            <a:outerShdw blurRad="50800" dist="38100" dir="2700000" algn="tl" rotWithShape="0">
              <a:prstClr val="black">
                <a:alpha val="40000"/>
              </a:prstClr>
            </a:outerShdw>
          </a:effectLst>
        </p:grpSpPr>
        <p:sp>
          <p:nvSpPr>
            <p:cNvPr id="32" name="Rectangle: Diagonal Corners Snipped 16">
              <a:extLst>
                <a:ext uri="{FF2B5EF4-FFF2-40B4-BE49-F238E27FC236}">
                  <a16:creationId xmlns:a16="http://schemas.microsoft.com/office/drawing/2014/main" id="{32B3BF16-4DAD-B6FF-C565-22A5C2952DC3}"/>
                </a:ext>
              </a:extLst>
            </p:cNvPr>
            <p:cNvSpPr/>
            <p:nvPr/>
          </p:nvSpPr>
          <p:spPr>
            <a:xfrm>
              <a:off x="3821710" y="3390901"/>
              <a:ext cx="11414036" cy="815547"/>
            </a:xfrm>
            <a:prstGeom prst="snip2DiagRect">
              <a:avLst>
                <a:gd name="adj1" fmla="val 0"/>
                <a:gd name="adj2" fmla="val 40960"/>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5C98A4F8-8C4C-9277-92D3-9F48B9057734}"/>
                </a:ext>
              </a:extLst>
            </p:cNvPr>
            <p:cNvSpPr txBox="1"/>
            <p:nvPr/>
          </p:nvSpPr>
          <p:spPr>
            <a:xfrm>
              <a:off x="4035070" y="3368248"/>
              <a:ext cx="11021284" cy="769501"/>
            </a:xfrm>
            <a:prstGeom prst="snip1Rect">
              <a:avLst/>
            </a:prstGeom>
            <a:noFill/>
          </p:spPr>
          <p:txBody>
            <a:bodyPr wrap="square" rtlCol="0">
              <a:spAutoFit/>
            </a:bodyPr>
            <a:lstStyle/>
            <a:p>
              <a:pPr algn="ct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NGĂN CHẶN SƠ SUẤT TRƯỚC KHI XẢY RA</a:t>
              </a:r>
            </a:p>
          </p:txBody>
        </p:sp>
      </p:grpSp>
      <p:grpSp>
        <p:nvGrpSpPr>
          <p:cNvPr id="37" name="Group 36">
            <a:extLst>
              <a:ext uri="{FF2B5EF4-FFF2-40B4-BE49-F238E27FC236}">
                <a16:creationId xmlns:a16="http://schemas.microsoft.com/office/drawing/2014/main" id="{F6A4289D-75D0-BD78-C276-AE0C70966B46}"/>
              </a:ext>
            </a:extLst>
          </p:cNvPr>
          <p:cNvGrpSpPr/>
          <p:nvPr/>
        </p:nvGrpSpPr>
        <p:grpSpPr>
          <a:xfrm>
            <a:off x="2037587" y="5699044"/>
            <a:ext cx="14083158" cy="838200"/>
            <a:chOff x="3821710" y="3368248"/>
            <a:chExt cx="11414036" cy="838200"/>
          </a:xfrm>
          <a:effectLst>
            <a:outerShdw blurRad="50800" dist="38100" dir="2700000" algn="tl" rotWithShape="0">
              <a:prstClr val="black">
                <a:alpha val="40000"/>
              </a:prstClr>
            </a:outerShdw>
          </a:effectLst>
        </p:grpSpPr>
        <p:sp>
          <p:nvSpPr>
            <p:cNvPr id="38" name="Rectangle: Diagonal Corners Snipped 16">
              <a:extLst>
                <a:ext uri="{FF2B5EF4-FFF2-40B4-BE49-F238E27FC236}">
                  <a16:creationId xmlns:a16="http://schemas.microsoft.com/office/drawing/2014/main" id="{52A4493E-C687-4858-12C4-1F4E4D7101F8}"/>
                </a:ext>
              </a:extLst>
            </p:cNvPr>
            <p:cNvSpPr/>
            <p:nvPr/>
          </p:nvSpPr>
          <p:spPr>
            <a:xfrm>
              <a:off x="3821710" y="3390901"/>
              <a:ext cx="11414036" cy="815547"/>
            </a:xfrm>
            <a:prstGeom prst="snip2DiagRect">
              <a:avLst>
                <a:gd name="adj1" fmla="val 0"/>
                <a:gd name="adj2" fmla="val 40960"/>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a:extLst>
                <a:ext uri="{FF2B5EF4-FFF2-40B4-BE49-F238E27FC236}">
                  <a16:creationId xmlns:a16="http://schemas.microsoft.com/office/drawing/2014/main" id="{5AB4163B-8DA0-9D6A-10F6-C22FC7CCE8B7}"/>
                </a:ext>
              </a:extLst>
            </p:cNvPr>
            <p:cNvSpPr txBox="1"/>
            <p:nvPr/>
          </p:nvSpPr>
          <p:spPr>
            <a:xfrm>
              <a:off x="4035070" y="3368248"/>
              <a:ext cx="11021284" cy="769501"/>
            </a:xfrm>
            <a:prstGeom prst="snip1Rect">
              <a:avLst/>
            </a:prstGeom>
            <a:noFill/>
          </p:spPr>
          <p:txBody>
            <a:bodyPr wrap="square" rtlCol="0">
              <a:spAutoFit/>
            </a:bodyPr>
            <a:lstStyle/>
            <a:p>
              <a:pPr algn="ct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PHÁT HIỆN / SỬA LỖI TRƯỚC KHI XẢY RA</a:t>
              </a:r>
            </a:p>
          </p:txBody>
        </p:sp>
      </p:grpSp>
    </p:spTree>
    <p:extLst>
      <p:ext uri="{BB962C8B-B14F-4D97-AF65-F5344CB8AC3E}">
        <p14:creationId xmlns:p14="http://schemas.microsoft.com/office/powerpoint/2010/main" val="28433668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0DFA7524-20BB-994D-82A8-022DC03E60D9}"/>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A7810443-E16F-3664-824C-47DA8AC91207}"/>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602E0B67-57F3-86A4-E414-EC2E358FA3E6}"/>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DBE0EDB2-41C7-02A1-B99A-2193069E7BE1}"/>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54C0AE2B-7F27-D823-E425-34EAFCA2C5F3}"/>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0D3C2513-81E0-4C4A-E746-B3857B4F8061}"/>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a:t>
            </a:r>
          </a:p>
        </p:txBody>
      </p:sp>
      <p:sp>
        <p:nvSpPr>
          <p:cNvPr id="27" name="TextBox 26">
            <a:extLst>
              <a:ext uri="{FF2B5EF4-FFF2-40B4-BE49-F238E27FC236}">
                <a16:creationId xmlns:a16="http://schemas.microsoft.com/office/drawing/2014/main" id="{9A4478FA-96F9-6343-2803-8AB13AE9A40D}"/>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 SUẤT</a:t>
            </a:r>
          </a:p>
        </p:txBody>
      </p:sp>
      <p:pic>
        <p:nvPicPr>
          <p:cNvPr id="28" name="Picture 27" descr="A blue logo with a black background&#10;&#10;AI-generated content may be incorrect.">
            <a:extLst>
              <a:ext uri="{FF2B5EF4-FFF2-40B4-BE49-F238E27FC236}">
                <a16:creationId xmlns:a16="http://schemas.microsoft.com/office/drawing/2014/main" id="{A6EED9A5-8E9F-F587-B58C-F7774EEF017C}"/>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8C5102A9-9BD3-6956-7510-602AA5FDF68E}"/>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3" name="TextBox 2">
            <a:extLst>
              <a:ext uri="{FF2B5EF4-FFF2-40B4-BE49-F238E27FC236}">
                <a16:creationId xmlns:a16="http://schemas.microsoft.com/office/drawing/2014/main" id="{F9EC2F81-B60E-0483-D910-A7FECDE8DB2B}"/>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Bài</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học</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thiết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kế</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từ</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việc</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nghiên</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cứu</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suất</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6" name="Slide Number Placeholder 8">
            <a:extLst>
              <a:ext uri="{FF2B5EF4-FFF2-40B4-BE49-F238E27FC236}">
                <a16:creationId xmlns:a16="http://schemas.microsoft.com/office/drawing/2014/main" id="{467900D1-7135-FE0A-D596-C0287DB52704}"/>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15</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14" name="Rectangle: Diagonal Corners Snipped 13">
            <a:extLst>
              <a:ext uri="{FF2B5EF4-FFF2-40B4-BE49-F238E27FC236}">
                <a16:creationId xmlns:a16="http://schemas.microsoft.com/office/drawing/2014/main" id="{C7E0C068-EAFC-9847-A2BF-ADF032443F66}"/>
              </a:ext>
            </a:extLst>
          </p:cNvPr>
          <p:cNvSpPr/>
          <p:nvPr/>
        </p:nvSpPr>
        <p:spPr>
          <a:xfrm flipV="1">
            <a:off x="2104210" y="2422950"/>
            <a:ext cx="14083159" cy="3950500"/>
          </a:xfrm>
          <a:prstGeom prst="snip2DiagRect">
            <a:avLst>
              <a:gd name="adj1" fmla="val 11385"/>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2573ED98-5A9D-68D6-7D2C-6663A8A718A9}"/>
              </a:ext>
            </a:extLst>
          </p:cNvPr>
          <p:cNvSpPr txBox="1"/>
          <p:nvPr/>
        </p:nvSpPr>
        <p:spPr>
          <a:xfrm>
            <a:off x="2510192" y="3341781"/>
            <a:ext cx="13383485" cy="2862322"/>
          </a:xfrm>
          <a:prstGeom prst="rect">
            <a:avLst/>
          </a:prstGeom>
          <a:noFill/>
        </p:spPr>
        <p:txBody>
          <a:bodyPr wrap="square" rtlCol="0">
            <a:spAutoFit/>
          </a:bodyPr>
          <a:lstStyle/>
          <a:p>
            <a:pPr algn="just"/>
            <a:r>
              <a:rPr lang="vi-VN"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Giảm bớt </a:t>
            </a:r>
            <a:r>
              <a:rPr lang="vi-VN"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hoặc </a:t>
            </a:r>
            <a:r>
              <a:rPr lang="vi-VN"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loại bỏ </a:t>
            </a:r>
            <a:r>
              <a:rPr lang="vi-VN"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chế độ</a:t>
            </a:r>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vi-VN"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nếu bắt buộc phải có, hãy làm thấy rõ đang ở </a:t>
            </a:r>
            <a:r>
              <a:rPr lang="en-US" sz="36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chế</a:t>
            </a:r>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độ</a:t>
            </a:r>
            <a:r>
              <a:rPr lang="vi-VN"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nào. </a:t>
            </a:r>
            <a:endPar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a:p>
            <a:pPr algn="just"/>
            <a:r>
              <a:rPr lang="vi-VN"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Thiết kế các </a:t>
            </a:r>
            <a:r>
              <a:rPr lang="vi-VN"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nút/điều khiển khác nhau</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a:t>
            </a:r>
            <a:r>
              <a:rPr lang="vi-VN"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vi-VN"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rõ ràng về hình dạng, màu sắc, vị trí để khó bấm nhầm. </a:t>
            </a:r>
            <a:endPar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a:p>
            <a:pPr algn="just"/>
            <a:r>
              <a:rPr lang="vi-VN"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Đặt mặc định an toàn để dù lỡ tay cũng không gây hại lớn.</a:t>
            </a:r>
          </a:p>
        </p:txBody>
      </p:sp>
      <p:grpSp>
        <p:nvGrpSpPr>
          <p:cNvPr id="26" name="Group 25">
            <a:extLst>
              <a:ext uri="{FF2B5EF4-FFF2-40B4-BE49-F238E27FC236}">
                <a16:creationId xmlns:a16="http://schemas.microsoft.com/office/drawing/2014/main" id="{3016525E-63DA-5314-B335-88073637A351}"/>
              </a:ext>
            </a:extLst>
          </p:cNvPr>
          <p:cNvGrpSpPr/>
          <p:nvPr/>
        </p:nvGrpSpPr>
        <p:grpSpPr>
          <a:xfrm>
            <a:off x="2100630" y="2400300"/>
            <a:ext cx="14083158" cy="838200"/>
            <a:chOff x="3821710" y="3368248"/>
            <a:chExt cx="11414036" cy="838200"/>
          </a:xfrm>
          <a:effectLst>
            <a:outerShdw blurRad="50800" dist="38100" dir="2700000" algn="tl" rotWithShape="0">
              <a:prstClr val="black">
                <a:alpha val="40000"/>
              </a:prstClr>
            </a:outerShdw>
          </a:effectLst>
        </p:grpSpPr>
        <p:sp>
          <p:nvSpPr>
            <p:cNvPr id="30" name="Rectangle: Diagonal Corners Snipped 16">
              <a:extLst>
                <a:ext uri="{FF2B5EF4-FFF2-40B4-BE49-F238E27FC236}">
                  <a16:creationId xmlns:a16="http://schemas.microsoft.com/office/drawing/2014/main" id="{6EAB6F06-C307-270C-1D71-464A29591561}"/>
                </a:ext>
              </a:extLst>
            </p:cNvPr>
            <p:cNvSpPr/>
            <p:nvPr/>
          </p:nvSpPr>
          <p:spPr>
            <a:xfrm>
              <a:off x="3821710" y="3390901"/>
              <a:ext cx="11414036" cy="815547"/>
            </a:xfrm>
            <a:prstGeom prst="snip2DiagRect">
              <a:avLst>
                <a:gd name="adj1" fmla="val 0"/>
                <a:gd name="adj2" fmla="val 40960"/>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37EC7C29-942B-0E9B-A315-DC2E84745FFA}"/>
                </a:ext>
              </a:extLst>
            </p:cNvPr>
            <p:cNvSpPr txBox="1"/>
            <p:nvPr/>
          </p:nvSpPr>
          <p:spPr>
            <a:xfrm>
              <a:off x="4035070" y="3368248"/>
              <a:ext cx="11021284" cy="769501"/>
            </a:xfrm>
            <a:prstGeom prst="snip1Rect">
              <a:avLst/>
            </a:prstGeom>
            <a:noFill/>
          </p:spPr>
          <p:txBody>
            <a:bodyPr wrap="square" rtlCol="0">
              <a:spAutoFit/>
            </a:bodyPr>
            <a:lstStyle/>
            <a:p>
              <a:pPr algn="ct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NGĂN CHẶN SƠ SUẤT TRƯỚC KHI XẢY RA</a:t>
              </a:r>
            </a:p>
          </p:txBody>
        </p:sp>
      </p:grpSp>
      <p:grpSp>
        <p:nvGrpSpPr>
          <p:cNvPr id="32" name="Group 31">
            <a:extLst>
              <a:ext uri="{FF2B5EF4-FFF2-40B4-BE49-F238E27FC236}">
                <a16:creationId xmlns:a16="http://schemas.microsoft.com/office/drawing/2014/main" id="{8FA59479-3758-7219-5B8B-78086435356B}"/>
              </a:ext>
            </a:extLst>
          </p:cNvPr>
          <p:cNvGrpSpPr/>
          <p:nvPr/>
        </p:nvGrpSpPr>
        <p:grpSpPr>
          <a:xfrm>
            <a:off x="2100630" y="6819900"/>
            <a:ext cx="14083158" cy="838200"/>
            <a:chOff x="3821710" y="3368248"/>
            <a:chExt cx="11414036" cy="838200"/>
          </a:xfrm>
          <a:effectLst>
            <a:outerShdw blurRad="50800" dist="38100" dir="2700000" algn="tl" rotWithShape="0">
              <a:prstClr val="black">
                <a:alpha val="40000"/>
              </a:prstClr>
            </a:outerShdw>
          </a:effectLst>
        </p:grpSpPr>
        <p:sp>
          <p:nvSpPr>
            <p:cNvPr id="33" name="Rectangle: Diagonal Corners Snipped 16">
              <a:extLst>
                <a:ext uri="{FF2B5EF4-FFF2-40B4-BE49-F238E27FC236}">
                  <a16:creationId xmlns:a16="http://schemas.microsoft.com/office/drawing/2014/main" id="{823EFD83-09F1-2373-C2EA-8294B4596FF3}"/>
                </a:ext>
              </a:extLst>
            </p:cNvPr>
            <p:cNvSpPr/>
            <p:nvPr/>
          </p:nvSpPr>
          <p:spPr>
            <a:xfrm>
              <a:off x="3821710" y="3390901"/>
              <a:ext cx="11414036" cy="815547"/>
            </a:xfrm>
            <a:prstGeom prst="snip2DiagRect">
              <a:avLst>
                <a:gd name="adj1" fmla="val 0"/>
                <a:gd name="adj2" fmla="val 40960"/>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4A35D078-8880-EF90-F4CC-83A1E83378C0}"/>
                </a:ext>
              </a:extLst>
            </p:cNvPr>
            <p:cNvSpPr txBox="1"/>
            <p:nvPr/>
          </p:nvSpPr>
          <p:spPr>
            <a:xfrm>
              <a:off x="4035070" y="3368248"/>
              <a:ext cx="11021284" cy="769501"/>
            </a:xfrm>
            <a:prstGeom prst="snip1Rect">
              <a:avLst/>
            </a:prstGeom>
            <a:noFill/>
          </p:spPr>
          <p:txBody>
            <a:bodyPr wrap="square" rtlCol="0">
              <a:spAutoFit/>
            </a:bodyPr>
            <a:lstStyle/>
            <a:p>
              <a:pPr algn="ct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PHÁT HIỆN / SỬA LỖI TRƯỚC KHI XẢY RA</a:t>
              </a:r>
            </a:p>
          </p:txBody>
        </p:sp>
      </p:grpSp>
    </p:spTree>
    <p:extLst>
      <p:ext uri="{BB962C8B-B14F-4D97-AF65-F5344CB8AC3E}">
        <p14:creationId xmlns:p14="http://schemas.microsoft.com/office/powerpoint/2010/main" val="14169779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F862FA81-ACE0-0DFB-AB74-89B9FF7FE1D4}"/>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8498A1DA-04DD-055A-D07E-43CA5128D1CD}"/>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F0604970-549A-C1FE-77B2-89A9BA0C953A}"/>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6FDE2062-4C94-B4D4-97FB-96D4E0468A12}"/>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579D23AD-A923-AF4D-1B7D-13B7493DD59D}"/>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65D6FB62-0644-ABF7-E8FF-260A23270105}"/>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a:t>
            </a:r>
          </a:p>
        </p:txBody>
      </p:sp>
      <p:sp>
        <p:nvSpPr>
          <p:cNvPr id="27" name="TextBox 26">
            <a:extLst>
              <a:ext uri="{FF2B5EF4-FFF2-40B4-BE49-F238E27FC236}">
                <a16:creationId xmlns:a16="http://schemas.microsoft.com/office/drawing/2014/main" id="{5AA01196-48CD-CBC2-042B-B48B2F50DE73}"/>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 SUẤT</a:t>
            </a:r>
          </a:p>
        </p:txBody>
      </p:sp>
      <p:pic>
        <p:nvPicPr>
          <p:cNvPr id="28" name="Picture 27" descr="A blue logo with a black background&#10;&#10;AI-generated content may be incorrect.">
            <a:extLst>
              <a:ext uri="{FF2B5EF4-FFF2-40B4-BE49-F238E27FC236}">
                <a16:creationId xmlns:a16="http://schemas.microsoft.com/office/drawing/2014/main" id="{AE2DF39F-F115-A265-879A-D44C14E950FF}"/>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F18FAE96-C751-0101-1966-9C3D9556FF8F}"/>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3" name="TextBox 2">
            <a:extLst>
              <a:ext uri="{FF2B5EF4-FFF2-40B4-BE49-F238E27FC236}">
                <a16:creationId xmlns:a16="http://schemas.microsoft.com/office/drawing/2014/main" id="{B4D8B26F-9B60-E4B7-DA92-91F7FFDB7827}"/>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Bài</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học</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thiết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kế</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từ</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việc</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nghiên</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cứu</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suất</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6" name="Slide Number Placeholder 8">
            <a:extLst>
              <a:ext uri="{FF2B5EF4-FFF2-40B4-BE49-F238E27FC236}">
                <a16:creationId xmlns:a16="http://schemas.microsoft.com/office/drawing/2014/main" id="{AA2D83E8-FBBE-B69D-47B5-D9CC9E061407}"/>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16</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14" name="Rectangle: Diagonal Corners Snipped 13">
            <a:extLst>
              <a:ext uri="{FF2B5EF4-FFF2-40B4-BE49-F238E27FC236}">
                <a16:creationId xmlns:a16="http://schemas.microsoft.com/office/drawing/2014/main" id="{95B61006-F1C6-CE6C-282F-3C5CA86D6394}"/>
              </a:ext>
            </a:extLst>
          </p:cNvPr>
          <p:cNvSpPr/>
          <p:nvPr/>
        </p:nvSpPr>
        <p:spPr>
          <a:xfrm flipV="1">
            <a:off x="2104210" y="4545800"/>
            <a:ext cx="14083159" cy="3340900"/>
          </a:xfrm>
          <a:prstGeom prst="snip2DiagRect">
            <a:avLst>
              <a:gd name="adj1" fmla="val 11385"/>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6075C5E6-2310-370A-36C4-BE49FBA4459E}"/>
              </a:ext>
            </a:extLst>
          </p:cNvPr>
          <p:cNvSpPr txBox="1"/>
          <p:nvPr/>
        </p:nvSpPr>
        <p:spPr>
          <a:xfrm>
            <a:off x="2510192" y="5481578"/>
            <a:ext cx="13383485" cy="2308324"/>
          </a:xfrm>
          <a:prstGeom prst="rect">
            <a:avLst/>
          </a:prstGeom>
          <a:noFill/>
        </p:spPr>
        <p:txBody>
          <a:bodyPr wrap="square" rtlCol="0">
            <a:spAutoFit/>
          </a:bodyPr>
          <a:lstStyle/>
          <a:p>
            <a:pPr algn="just"/>
            <a:r>
              <a:rPr lang="en-US" sz="36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Việc</a:t>
            </a:r>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yêu</a:t>
            </a:r>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cầu</a:t>
            </a:r>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xác</a:t>
            </a:r>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nhận</a:t>
            </a:r>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hành</a:t>
            </a:r>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động</a:t>
            </a:r>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thường</a:t>
            </a:r>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không</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hiệu</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quả</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sym typeface="Wingdings" panose="05000000000000000000" pitchFamily="2" charset="2"/>
              </a:rPr>
              <a:t> </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Loại </a:t>
            </a: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bỏ</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các</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hành</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động</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không</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thể</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đảo</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ngược</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a:t>
            </a:r>
          </a:p>
          <a:p>
            <a:pPr algn="just"/>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K</a:t>
            </a:r>
            <a:r>
              <a:rPr lang="vi-VN"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hi tạo ra một cơ chế khoan dung lỗi</a:t>
            </a:r>
            <a:r>
              <a:rPr lang="vi-VN"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nó phải đủ tin cậy, </a:t>
            </a:r>
            <a:r>
              <a:rPr lang="vi-VN"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vì nếu thất bại</a:t>
            </a:r>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thì</a:t>
            </a:r>
            <a:r>
              <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vi-VN"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hậu quả có thể rất tệ.</a:t>
            </a:r>
            <a:endParaRPr lang="en-US" sz="36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p:txBody>
      </p:sp>
      <p:grpSp>
        <p:nvGrpSpPr>
          <p:cNvPr id="2" name="Group 1">
            <a:extLst>
              <a:ext uri="{FF2B5EF4-FFF2-40B4-BE49-F238E27FC236}">
                <a16:creationId xmlns:a16="http://schemas.microsoft.com/office/drawing/2014/main" id="{FA7263C5-09C2-47CD-DF71-20480DF56C3C}"/>
              </a:ext>
            </a:extLst>
          </p:cNvPr>
          <p:cNvGrpSpPr/>
          <p:nvPr/>
        </p:nvGrpSpPr>
        <p:grpSpPr>
          <a:xfrm>
            <a:off x="2100630" y="2400300"/>
            <a:ext cx="14083158" cy="838200"/>
            <a:chOff x="3821710" y="3368248"/>
            <a:chExt cx="11414036" cy="838200"/>
          </a:xfrm>
          <a:effectLst>
            <a:outerShdw blurRad="50800" dist="38100" dir="2700000" algn="tl" rotWithShape="0">
              <a:prstClr val="black">
                <a:alpha val="40000"/>
              </a:prstClr>
            </a:outerShdw>
          </a:effectLst>
        </p:grpSpPr>
        <p:sp>
          <p:nvSpPr>
            <p:cNvPr id="4" name="Rectangle: Diagonal Corners Snipped 16">
              <a:extLst>
                <a:ext uri="{FF2B5EF4-FFF2-40B4-BE49-F238E27FC236}">
                  <a16:creationId xmlns:a16="http://schemas.microsoft.com/office/drawing/2014/main" id="{5F665BFD-8EB2-518C-759C-FDB97812ED5D}"/>
                </a:ext>
              </a:extLst>
            </p:cNvPr>
            <p:cNvSpPr/>
            <p:nvPr/>
          </p:nvSpPr>
          <p:spPr>
            <a:xfrm>
              <a:off x="3821710" y="3390901"/>
              <a:ext cx="11414036" cy="815547"/>
            </a:xfrm>
            <a:prstGeom prst="snip2DiagRect">
              <a:avLst>
                <a:gd name="adj1" fmla="val 0"/>
                <a:gd name="adj2" fmla="val 40960"/>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2867365-0EB0-AC66-0AAA-DBBE55BC55F5}"/>
                </a:ext>
              </a:extLst>
            </p:cNvPr>
            <p:cNvSpPr txBox="1"/>
            <p:nvPr/>
          </p:nvSpPr>
          <p:spPr>
            <a:xfrm>
              <a:off x="4035070" y="3368248"/>
              <a:ext cx="11021284" cy="769501"/>
            </a:xfrm>
            <a:prstGeom prst="snip1Rect">
              <a:avLst/>
            </a:prstGeom>
            <a:noFill/>
          </p:spPr>
          <p:txBody>
            <a:bodyPr wrap="square" rtlCol="0">
              <a:spAutoFit/>
            </a:bodyPr>
            <a:lstStyle/>
            <a:p>
              <a:pPr algn="ct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NGĂN CHẶN SƠ SUẤT TRƯỚC KHI XẢY RA</a:t>
              </a:r>
            </a:p>
          </p:txBody>
        </p:sp>
      </p:grpSp>
      <p:grpSp>
        <p:nvGrpSpPr>
          <p:cNvPr id="8" name="Group 7">
            <a:extLst>
              <a:ext uri="{FF2B5EF4-FFF2-40B4-BE49-F238E27FC236}">
                <a16:creationId xmlns:a16="http://schemas.microsoft.com/office/drawing/2014/main" id="{485DEEB2-B73A-A574-EEFE-F0B77DA8EBE9}"/>
              </a:ext>
            </a:extLst>
          </p:cNvPr>
          <p:cNvGrpSpPr/>
          <p:nvPr/>
        </p:nvGrpSpPr>
        <p:grpSpPr>
          <a:xfrm>
            <a:off x="2100630" y="4492189"/>
            <a:ext cx="14083158" cy="838200"/>
            <a:chOff x="3821710" y="3368248"/>
            <a:chExt cx="11414036" cy="838200"/>
          </a:xfrm>
          <a:effectLst>
            <a:outerShdw blurRad="50800" dist="38100" dir="2700000" algn="tl" rotWithShape="0">
              <a:prstClr val="black">
                <a:alpha val="40000"/>
              </a:prstClr>
            </a:outerShdw>
          </a:effectLst>
        </p:grpSpPr>
        <p:sp>
          <p:nvSpPr>
            <p:cNvPr id="9" name="Rectangle: Diagonal Corners Snipped 16">
              <a:extLst>
                <a:ext uri="{FF2B5EF4-FFF2-40B4-BE49-F238E27FC236}">
                  <a16:creationId xmlns:a16="http://schemas.microsoft.com/office/drawing/2014/main" id="{04D9EC53-6805-DCF1-097B-D14D1844ED68}"/>
                </a:ext>
              </a:extLst>
            </p:cNvPr>
            <p:cNvSpPr/>
            <p:nvPr/>
          </p:nvSpPr>
          <p:spPr>
            <a:xfrm>
              <a:off x="3821710" y="3390901"/>
              <a:ext cx="11414036" cy="815547"/>
            </a:xfrm>
            <a:prstGeom prst="snip2DiagRect">
              <a:avLst>
                <a:gd name="adj1" fmla="val 0"/>
                <a:gd name="adj2" fmla="val 40960"/>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68D7461D-218D-ACBA-8AA8-99BADF31A15F}"/>
                </a:ext>
              </a:extLst>
            </p:cNvPr>
            <p:cNvSpPr txBox="1"/>
            <p:nvPr/>
          </p:nvSpPr>
          <p:spPr>
            <a:xfrm>
              <a:off x="4035070" y="3368248"/>
              <a:ext cx="11021284" cy="769501"/>
            </a:xfrm>
            <a:prstGeom prst="snip1Rect">
              <a:avLst/>
            </a:prstGeom>
            <a:noFill/>
          </p:spPr>
          <p:txBody>
            <a:bodyPr wrap="square" rtlCol="0">
              <a:spAutoFit/>
            </a:bodyPr>
            <a:lstStyle/>
            <a:p>
              <a:pPr algn="ct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PHÁT HIỆN / SỬA LỖI TRƯỚC KHI XẢY RA</a:t>
              </a:r>
            </a:p>
          </p:txBody>
        </p:sp>
      </p:grpSp>
    </p:spTree>
    <p:extLst>
      <p:ext uri="{BB962C8B-B14F-4D97-AF65-F5344CB8AC3E}">
        <p14:creationId xmlns:p14="http://schemas.microsoft.com/office/powerpoint/2010/main" val="14793775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2A86C6F0-C9E3-B1ED-49E9-BB99D8CD3AAA}"/>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F1FBA2A3-72D9-EB25-2413-73F26241DAEB}"/>
              </a:ext>
            </a:extLst>
          </p:cNvPr>
          <p:cNvPicPr>
            <a:picLocks noGrp="1" noRot="1" noChangeAspect="1" noMove="1" noResize="1" noEditPoints="1" noAdjustHandles="1" noChangeArrowheads="1" noChangeShapeType="1" noCrop="1"/>
          </p:cNvPicPr>
          <p:nvPr/>
        </p:nvPicPr>
        <p:blipFill>
          <a:blip r:embed="rId2" cstate="print">
            <a:alphaModFix amt="5000"/>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8" name="Freeform 8">
            <a:extLst>
              <a:ext uri="{FF2B5EF4-FFF2-40B4-BE49-F238E27FC236}">
                <a16:creationId xmlns:a16="http://schemas.microsoft.com/office/drawing/2014/main" id="{E53B1139-0FE6-42B3-86EC-DCD01E9B5E69}"/>
              </a:ext>
            </a:extLst>
          </p:cNvPr>
          <p:cNvSpPr/>
          <p:nvPr/>
        </p:nvSpPr>
        <p:spPr>
          <a:xfrm rot="-10800000">
            <a:off x="11658600" y="-1333500"/>
            <a:ext cx="9344187" cy="5221064"/>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4">
              <a:alphaModFix amt="69000"/>
            </a:blip>
            <a:stretch>
              <a:fillRect/>
            </a:stretch>
          </a:blipFill>
        </p:spPr>
        <p:txBody>
          <a:bodyPr/>
          <a:lstStyle/>
          <a:p>
            <a:endParaRPr lang="en-US"/>
          </a:p>
        </p:txBody>
      </p:sp>
      <p:sp>
        <p:nvSpPr>
          <p:cNvPr id="10" name="Freeform 10">
            <a:extLst>
              <a:ext uri="{FF2B5EF4-FFF2-40B4-BE49-F238E27FC236}">
                <a16:creationId xmlns:a16="http://schemas.microsoft.com/office/drawing/2014/main" id="{A1273CCA-E48D-FCB5-F251-8E0D6923B4B0}"/>
              </a:ext>
            </a:extLst>
          </p:cNvPr>
          <p:cNvSpPr/>
          <p:nvPr/>
        </p:nvSpPr>
        <p:spPr>
          <a:xfrm rot="-10800000" flipH="1" flipV="1">
            <a:off x="-2667000" y="6362700"/>
            <a:ext cx="9344187" cy="5221064"/>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4">
              <a:alphaModFix amt="69000"/>
            </a:blip>
            <a:stretch>
              <a:fillRect/>
            </a:stretch>
          </a:blipFill>
        </p:spPr>
        <p:txBody>
          <a:bodyPr/>
          <a:lstStyle/>
          <a:p>
            <a:endParaRPr lang="en-US"/>
          </a:p>
        </p:txBody>
      </p:sp>
      <p:pic>
        <p:nvPicPr>
          <p:cNvPr id="4" name="Picture 3" descr="A blue logo with a black background&#10;&#10;AI-generated content may be incorrect.">
            <a:extLst>
              <a:ext uri="{FF2B5EF4-FFF2-40B4-BE49-F238E27FC236}">
                <a16:creationId xmlns:a16="http://schemas.microsoft.com/office/drawing/2014/main" id="{D08B32C3-4EBF-2B70-D3A6-43FE9FE01E8A}"/>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685800" y="571500"/>
            <a:ext cx="1403126" cy="1133024"/>
          </a:xfrm>
          <a:prstGeom prst="rect">
            <a:avLst/>
          </a:prstGeom>
        </p:spPr>
      </p:pic>
      <p:sp>
        <p:nvSpPr>
          <p:cNvPr id="5" name="Freeform 13">
            <a:extLst>
              <a:ext uri="{FF2B5EF4-FFF2-40B4-BE49-F238E27FC236}">
                <a16:creationId xmlns:a16="http://schemas.microsoft.com/office/drawing/2014/main" id="{3B305F90-1755-9428-8FF7-0747D043B873}"/>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9" name="Slide Number Placeholder 8">
            <a:extLst>
              <a:ext uri="{FF2B5EF4-FFF2-40B4-BE49-F238E27FC236}">
                <a16:creationId xmlns:a16="http://schemas.microsoft.com/office/drawing/2014/main" id="{08A1D227-E580-3B33-CD4A-B430E509639E}"/>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17</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6" name="TextBox 9">
            <a:extLst>
              <a:ext uri="{FF2B5EF4-FFF2-40B4-BE49-F238E27FC236}">
                <a16:creationId xmlns:a16="http://schemas.microsoft.com/office/drawing/2014/main" id="{A2BB5022-EC4B-7357-FE89-A87AEC8A7179}"/>
              </a:ext>
            </a:extLst>
          </p:cNvPr>
          <p:cNvSpPr txBox="1"/>
          <p:nvPr/>
        </p:nvSpPr>
        <p:spPr>
          <a:xfrm>
            <a:off x="2286000" y="5248134"/>
            <a:ext cx="4190999" cy="2181366"/>
          </a:xfrm>
          <a:prstGeom prst="rect">
            <a:avLst/>
          </a:prstGeom>
        </p:spPr>
        <p:txBody>
          <a:bodyPr wrap="square" lIns="0" tIns="0" rIns="0" bIns="0" rtlCol="0" anchor="ctr">
            <a:spAutoFit/>
          </a:bodyPr>
          <a:lstStyle/>
          <a:p>
            <a:pPr lvl="1" algn="ctr">
              <a:lnSpc>
                <a:spcPts val="11200"/>
              </a:lnSpc>
            </a:pPr>
            <a:r>
              <a:rPr lang="en-US" sz="287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II.</a:t>
            </a:r>
          </a:p>
        </p:txBody>
      </p:sp>
      <p:sp>
        <p:nvSpPr>
          <p:cNvPr id="11" name="TextBox 9">
            <a:extLst>
              <a:ext uri="{FF2B5EF4-FFF2-40B4-BE49-F238E27FC236}">
                <a16:creationId xmlns:a16="http://schemas.microsoft.com/office/drawing/2014/main" id="{7E54D4FF-7192-FA40-419F-B85E52AA4BA4}"/>
              </a:ext>
            </a:extLst>
          </p:cNvPr>
          <p:cNvSpPr txBox="1"/>
          <p:nvPr/>
        </p:nvSpPr>
        <p:spPr>
          <a:xfrm>
            <a:off x="6324600" y="3576578"/>
            <a:ext cx="9752876" cy="2862322"/>
          </a:xfrm>
          <a:prstGeom prst="rect">
            <a:avLst/>
          </a:prstGeom>
        </p:spPr>
        <p:txBody>
          <a:bodyPr wrap="square" lIns="0" tIns="0" rIns="0" bIns="0" rtlCol="0" anchor="ctr">
            <a:spAutoFit/>
          </a:bodyPr>
          <a:lstStyle/>
          <a:p>
            <a:pPr lvl="1">
              <a:spcAft>
                <a:spcPts val="1200"/>
              </a:spcAft>
            </a:pPr>
            <a:r>
              <a:rPr lang="en-US" sz="88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SAI LẦM</a:t>
            </a:r>
          </a:p>
          <a:p>
            <a:pPr lvl="1">
              <a:spcAft>
                <a:spcPts val="1200"/>
              </a:spcAft>
            </a:pPr>
            <a:r>
              <a:rPr lang="en-US" sz="88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(MISTAKES)</a:t>
            </a:r>
          </a:p>
        </p:txBody>
      </p:sp>
    </p:spTree>
    <p:extLst>
      <p:ext uri="{BB962C8B-B14F-4D97-AF65-F5344CB8AC3E}">
        <p14:creationId xmlns:p14="http://schemas.microsoft.com/office/powerpoint/2010/main" val="1266780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FF97BE5A-F7D8-5101-F1E0-D2B5309B28EF}"/>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D1EA6C2A-0E5D-C2EC-C763-22DCE1C1C3E9}"/>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9D78ACA1-D21A-086F-DD46-7BFF12DC4791}"/>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60FB0E03-DBD7-6A67-557D-C56E4BD5FA5D}"/>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29F8B627-A39D-8D3F-722B-08627C737B2B}"/>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F244E378-A730-18FD-9E2E-9F3697651016}"/>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II</a:t>
            </a:r>
          </a:p>
        </p:txBody>
      </p:sp>
      <p:sp>
        <p:nvSpPr>
          <p:cNvPr id="27" name="TextBox 26">
            <a:extLst>
              <a:ext uri="{FF2B5EF4-FFF2-40B4-BE49-F238E27FC236}">
                <a16:creationId xmlns:a16="http://schemas.microsoft.com/office/drawing/2014/main" id="{E6BB7F41-4F5E-0191-5FEB-4C4D8F2E6D6D}"/>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SAI LẦM</a:t>
            </a:r>
          </a:p>
        </p:txBody>
      </p:sp>
      <p:pic>
        <p:nvPicPr>
          <p:cNvPr id="28" name="Picture 27" descr="A blue logo with a black background&#10;&#10;AI-generated content may be incorrect.">
            <a:extLst>
              <a:ext uri="{FF2B5EF4-FFF2-40B4-BE49-F238E27FC236}">
                <a16:creationId xmlns:a16="http://schemas.microsoft.com/office/drawing/2014/main" id="{4A7A16BD-D908-2CF8-EEB0-B1F6AF751AF4}"/>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31F3AB1E-CFE3-509C-DD3D-1FEF936ACF2E}"/>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31249F1D-4BC3-AFCA-8DDA-06F32F79DDAC}"/>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18</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3" name="TextBox 2">
            <a:extLst>
              <a:ext uri="{FF2B5EF4-FFF2-40B4-BE49-F238E27FC236}">
                <a16:creationId xmlns:a16="http://schemas.microsoft.com/office/drawing/2014/main" id="{44FC0270-D0E9-4AA2-8521-06A49AC2022F}"/>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Định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nghĩa</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4" name="TextBox 5">
            <a:extLst>
              <a:ext uri="{FF2B5EF4-FFF2-40B4-BE49-F238E27FC236}">
                <a16:creationId xmlns:a16="http://schemas.microsoft.com/office/drawing/2014/main" id="{B6F47714-F5FD-0FB7-0B78-2E738383FF58}"/>
              </a:ext>
            </a:extLst>
          </p:cNvPr>
          <p:cNvSpPr txBox="1"/>
          <p:nvPr/>
        </p:nvSpPr>
        <p:spPr>
          <a:xfrm>
            <a:off x="1600924" y="3568139"/>
            <a:ext cx="8381276" cy="4308872"/>
          </a:xfrm>
          <a:prstGeom prst="rect">
            <a:avLst/>
          </a:prstGeom>
        </p:spPr>
        <p:txBody>
          <a:bodyPr wrap="square" lIns="0" tIns="0" rIns="0" bIns="0" rtlCol="0" anchor="ctr">
            <a:spAutoFit/>
          </a:bodyPr>
          <a:lstStyle/>
          <a:p>
            <a:pPr algn="just"/>
            <a:r>
              <a:rPr lang="vi-VN" sz="40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Phát sinh từ sự </a:t>
            </a:r>
            <a:r>
              <a:rPr lang="vi-VN" sz="40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cân nhắc có ý thức</a:t>
            </a:r>
            <a:r>
              <a:rPr lang="vi-VN" sz="40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khi một người </a:t>
            </a:r>
            <a:r>
              <a:rPr lang="vi-VN" sz="40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hình thành mục tiêu sai lầm. </a:t>
            </a:r>
            <a:endParaRPr lang="en-US" sz="40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a:p>
            <a:pPr algn="just"/>
            <a:endParaRPr lang="en-US" sz="40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a:p>
            <a:pPr algn="just"/>
            <a:r>
              <a:rPr lang="en-US" sz="40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Nó</a:t>
            </a:r>
            <a:r>
              <a:rPr lang="vi-VN" sz="40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có thể là các sự kiện lớn và khó phát hiện hơn, bởi vì hành động được thực hiện là phù hợp với mục tiêu sai đó.</a:t>
            </a:r>
            <a:endParaRPr lang="en-US" sz="54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pic>
        <p:nvPicPr>
          <p:cNvPr id="11" name="image5.gif">
            <a:extLst>
              <a:ext uri="{FF2B5EF4-FFF2-40B4-BE49-F238E27FC236}">
                <a16:creationId xmlns:a16="http://schemas.microsoft.com/office/drawing/2014/main" id="{F5D55221-50DB-CBA8-E70F-BC0796AD8DDF}"/>
              </a:ext>
            </a:extLst>
          </p:cNvPr>
          <p:cNvPicPr/>
          <p:nvPr/>
        </p:nvPicPr>
        <p:blipFill>
          <a:blip r:embed="rId5"/>
          <a:srcRect l="12295" r="15753"/>
          <a:stretch/>
        </p:blipFill>
        <p:spPr>
          <a:xfrm>
            <a:off x="10895876" y="3133725"/>
            <a:ext cx="5791200" cy="4829175"/>
          </a:xfrm>
          <a:prstGeom prst="rect">
            <a:avLst/>
          </a:prstGeom>
          <a:ln/>
        </p:spPr>
      </p:pic>
      <p:sp>
        <p:nvSpPr>
          <p:cNvPr id="14" name="TextBox 5">
            <a:extLst>
              <a:ext uri="{FF2B5EF4-FFF2-40B4-BE49-F238E27FC236}">
                <a16:creationId xmlns:a16="http://schemas.microsoft.com/office/drawing/2014/main" id="{807EF355-2632-02E5-E382-70AA15703A3C}"/>
              </a:ext>
            </a:extLst>
          </p:cNvPr>
          <p:cNvSpPr txBox="1"/>
          <p:nvPr/>
        </p:nvSpPr>
        <p:spPr>
          <a:xfrm>
            <a:off x="1600924" y="2628900"/>
            <a:ext cx="5159074" cy="677108"/>
          </a:xfrm>
          <a:prstGeom prst="rect">
            <a:avLst/>
          </a:prstGeom>
        </p:spPr>
        <p:txBody>
          <a:bodyPr wrap="square" lIns="0" tIns="0" rIns="0" bIns="0" rtlCol="0" anchor="ctr">
            <a:spAutoFit/>
          </a:bodyPr>
          <a:lstStyle/>
          <a:p>
            <a:r>
              <a:rPr lang="en-US" sz="4400" b="1" dirty="0">
                <a:solidFill>
                  <a:srgbClr val="002060"/>
                </a:solidFill>
                <a:latin typeface="Source Sans Pro" panose="020B0503030403020204" pitchFamily="34" charset="0"/>
                <a:ea typeface="Source Sans Pro" panose="020B0503030403020204" pitchFamily="34" charset="0"/>
              </a:rPr>
              <a:t>Sai </a:t>
            </a:r>
            <a:r>
              <a:rPr lang="en-US" sz="4400" b="1" dirty="0" err="1">
                <a:solidFill>
                  <a:srgbClr val="002060"/>
                </a:solidFill>
                <a:latin typeface="Source Sans Pro" panose="020B0503030403020204" pitchFamily="34" charset="0"/>
                <a:ea typeface="Source Sans Pro" panose="020B0503030403020204" pitchFamily="34" charset="0"/>
              </a:rPr>
              <a:t>lầm</a:t>
            </a:r>
            <a:r>
              <a:rPr lang="en-US" sz="4400" b="1" dirty="0">
                <a:solidFill>
                  <a:srgbClr val="002060"/>
                </a:solidFill>
                <a:latin typeface="Source Sans Pro" panose="020B0503030403020204" pitchFamily="34" charset="0"/>
                <a:ea typeface="Source Sans Pro" panose="020B0503030403020204" pitchFamily="34" charset="0"/>
              </a:rPr>
              <a:t> </a:t>
            </a:r>
            <a:r>
              <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(Mistakes)</a:t>
            </a:r>
            <a:endParaRPr lang="en-US" sz="60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Tree>
    <p:extLst>
      <p:ext uri="{BB962C8B-B14F-4D97-AF65-F5344CB8AC3E}">
        <p14:creationId xmlns:p14="http://schemas.microsoft.com/office/powerpoint/2010/main" val="399218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163EF745-3664-8EAD-B7AF-304E89B6CFA0}"/>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A9F85AA8-6161-B3C9-F58A-3163944A485A}"/>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45229990-AF90-8127-E0AF-04150412D9C2}"/>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E1DED8ED-2565-D3C9-A784-35C6C84260BA}"/>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07432181-D78B-0120-0140-9B8395DF87C6}"/>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C40E0B64-7241-271F-1286-2164CE75018E}"/>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II</a:t>
            </a:r>
          </a:p>
        </p:txBody>
      </p:sp>
      <p:sp>
        <p:nvSpPr>
          <p:cNvPr id="27" name="TextBox 26">
            <a:extLst>
              <a:ext uri="{FF2B5EF4-FFF2-40B4-BE49-F238E27FC236}">
                <a16:creationId xmlns:a16="http://schemas.microsoft.com/office/drawing/2014/main" id="{8CEE74A6-777F-4C5E-69A7-DDA879B668A9}"/>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SAI LẦM</a:t>
            </a:r>
          </a:p>
        </p:txBody>
      </p:sp>
      <p:pic>
        <p:nvPicPr>
          <p:cNvPr id="28" name="Picture 27" descr="A blue logo with a black background&#10;&#10;AI-generated content may be incorrect.">
            <a:extLst>
              <a:ext uri="{FF2B5EF4-FFF2-40B4-BE49-F238E27FC236}">
                <a16:creationId xmlns:a16="http://schemas.microsoft.com/office/drawing/2014/main" id="{B3A092D9-1577-F6BD-90AD-65AB68477344}"/>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1A99F9DC-1245-5F06-7472-0A71E7A8E3BA}"/>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3" name="TextBox 2">
            <a:extLst>
              <a:ext uri="{FF2B5EF4-FFF2-40B4-BE49-F238E27FC236}">
                <a16:creationId xmlns:a16="http://schemas.microsoft.com/office/drawing/2014/main" id="{DCD3A99D-7196-A0A0-14A4-891AEF93D8F4}"/>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Phân</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biệt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giữa</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sơ</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suất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và</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sai</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lầm</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8" name="TextBox 5">
            <a:extLst>
              <a:ext uri="{FF2B5EF4-FFF2-40B4-BE49-F238E27FC236}">
                <a16:creationId xmlns:a16="http://schemas.microsoft.com/office/drawing/2014/main" id="{51280178-B34C-6705-657D-3BBB072F2739}"/>
              </a:ext>
            </a:extLst>
          </p:cNvPr>
          <p:cNvSpPr txBox="1"/>
          <p:nvPr/>
        </p:nvSpPr>
        <p:spPr>
          <a:xfrm>
            <a:off x="2879837" y="2567343"/>
            <a:ext cx="3810000" cy="1477328"/>
          </a:xfrm>
          <a:prstGeom prst="rect">
            <a:avLst/>
          </a:prstGeom>
        </p:spPr>
        <p:txBody>
          <a:bodyPr wrap="square" lIns="0" tIns="0" rIns="0" bIns="0" rtlCol="0" anchor="ctr">
            <a:spAutoFit/>
          </a:bodyPr>
          <a:lstStyle/>
          <a:p>
            <a:pPr algn="ctr"/>
            <a:r>
              <a:rPr lang="en-US" sz="4800" b="1" i="0" u="none" strike="noStrike" dirty="0" err="1">
                <a:solidFill>
                  <a:srgbClr val="002060"/>
                </a:solidFill>
                <a:effectLst/>
                <a:latin typeface="Source Sans Pro" panose="020B0503030403020204" pitchFamily="34" charset="0"/>
                <a:ea typeface="Source Sans Pro" panose="020B0503030403020204" pitchFamily="34" charset="0"/>
              </a:rPr>
              <a:t>Sơ</a:t>
            </a:r>
            <a:r>
              <a:rPr lang="en-US" sz="48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4800" b="1" i="0" u="none" strike="noStrike" dirty="0" err="1">
                <a:solidFill>
                  <a:srgbClr val="002060"/>
                </a:solidFill>
                <a:effectLst/>
                <a:latin typeface="Source Sans Pro" panose="020B0503030403020204" pitchFamily="34" charset="0"/>
                <a:ea typeface="Source Sans Pro" panose="020B0503030403020204" pitchFamily="34" charset="0"/>
              </a:rPr>
              <a:t>suất</a:t>
            </a:r>
            <a:endParaRPr lang="en-US" sz="4800" b="1" dirty="0">
              <a:solidFill>
                <a:srgbClr val="002060"/>
              </a:solidFill>
              <a:latin typeface="Source Sans Pro" panose="020B0503030403020204" pitchFamily="34" charset="0"/>
              <a:ea typeface="Source Sans Pro" panose="020B0503030403020204" pitchFamily="34" charset="0"/>
            </a:endParaRPr>
          </a:p>
          <a:p>
            <a:pPr algn="ctr"/>
            <a:r>
              <a:rPr lang="en-US" sz="48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(Slips)</a:t>
            </a:r>
            <a:endParaRPr lang="en-US" sz="66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9" name="TextBox 5">
            <a:extLst>
              <a:ext uri="{FF2B5EF4-FFF2-40B4-BE49-F238E27FC236}">
                <a16:creationId xmlns:a16="http://schemas.microsoft.com/office/drawing/2014/main" id="{BC9619E0-7914-50D1-A5DA-DBC63B685ACB}"/>
              </a:ext>
            </a:extLst>
          </p:cNvPr>
          <p:cNvSpPr txBox="1"/>
          <p:nvPr/>
        </p:nvSpPr>
        <p:spPr>
          <a:xfrm>
            <a:off x="11506200" y="2628899"/>
            <a:ext cx="3810000" cy="1354217"/>
          </a:xfrm>
          <a:prstGeom prst="rect">
            <a:avLst/>
          </a:prstGeom>
        </p:spPr>
        <p:txBody>
          <a:bodyPr wrap="square" lIns="0" tIns="0" rIns="0" bIns="0" rtlCol="0" anchor="ctr">
            <a:spAutoFit/>
          </a:bodyPr>
          <a:lstStyle/>
          <a:p>
            <a:pPr algn="ctr"/>
            <a:r>
              <a:rPr lang="en-US" sz="4400" b="1" i="0" u="none" strike="noStrike" dirty="0">
                <a:solidFill>
                  <a:srgbClr val="002060"/>
                </a:solidFill>
                <a:effectLst/>
                <a:latin typeface="Source Sans Pro" panose="020B0503030403020204" pitchFamily="34" charset="0"/>
                <a:ea typeface="Source Sans Pro" panose="020B0503030403020204" pitchFamily="34" charset="0"/>
              </a:rPr>
              <a:t>Sai </a:t>
            </a:r>
            <a:r>
              <a:rPr lang="en-US" sz="4400" b="1" i="0" u="none" strike="noStrike" dirty="0" err="1">
                <a:solidFill>
                  <a:srgbClr val="002060"/>
                </a:solidFill>
                <a:effectLst/>
                <a:latin typeface="Source Sans Pro" panose="020B0503030403020204" pitchFamily="34" charset="0"/>
                <a:ea typeface="Source Sans Pro" panose="020B0503030403020204" pitchFamily="34" charset="0"/>
              </a:rPr>
              <a:t>lầm</a:t>
            </a:r>
            <a:endParaRPr lang="en-US" sz="4400" b="1" dirty="0">
              <a:solidFill>
                <a:srgbClr val="002060"/>
              </a:solidFill>
              <a:latin typeface="Source Sans Pro" panose="020B0503030403020204" pitchFamily="34" charset="0"/>
              <a:ea typeface="Source Sans Pro" panose="020B0503030403020204" pitchFamily="34" charset="0"/>
            </a:endParaRPr>
          </a:p>
          <a:p>
            <a:pPr algn="ctr"/>
            <a:r>
              <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(Mistakes)</a:t>
            </a:r>
            <a:endParaRPr lang="en-US" sz="60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10" name="TextBox 5">
            <a:extLst>
              <a:ext uri="{FF2B5EF4-FFF2-40B4-BE49-F238E27FC236}">
                <a16:creationId xmlns:a16="http://schemas.microsoft.com/office/drawing/2014/main" id="{8251D011-3FB1-F937-6899-8E1944457A8B}"/>
              </a:ext>
            </a:extLst>
          </p:cNvPr>
          <p:cNvSpPr txBox="1"/>
          <p:nvPr/>
        </p:nvSpPr>
        <p:spPr>
          <a:xfrm>
            <a:off x="1306286" y="4558694"/>
            <a:ext cx="7326058" cy="2708434"/>
          </a:xfrm>
          <a:prstGeom prst="rect">
            <a:avLst/>
          </a:prstGeom>
        </p:spPr>
        <p:txBody>
          <a:bodyPr wrap="square" lIns="0" tIns="0" rIns="0" bIns="0" rtlCol="0" anchor="ctr">
            <a:spAutoFit/>
          </a:bodyPr>
          <a:lstStyle/>
          <a:p>
            <a:pPr algn="just"/>
            <a:r>
              <a:rPr lang="vi-VN" sz="4400" i="0" u="none" strike="noStrike" dirty="0">
                <a:solidFill>
                  <a:srgbClr val="002060"/>
                </a:solidFill>
                <a:effectLst/>
                <a:latin typeface="Source Sans Pro" panose="020B0503030403020204" pitchFamily="34" charset="0"/>
                <a:ea typeface="Source Sans Pro" panose="020B0503030403020204" pitchFamily="34" charset="0"/>
              </a:rPr>
              <a:t>Phát sinh từ </a:t>
            </a:r>
            <a:r>
              <a:rPr lang="vi-VN" sz="4400" b="1" i="0" u="none" strike="noStrike" dirty="0">
                <a:solidFill>
                  <a:srgbClr val="002060"/>
                </a:solidFill>
                <a:effectLst/>
                <a:latin typeface="Source Sans Pro" panose="020B0503030403020204" pitchFamily="34" charset="0"/>
                <a:ea typeface="Source Sans Pro" panose="020B0503030403020204" pitchFamily="34" charset="0"/>
              </a:rPr>
              <a:t>hành vi tự động </a:t>
            </a:r>
            <a:r>
              <a:rPr lang="vi-VN" sz="4400" i="0" u="none" strike="noStrike" dirty="0">
                <a:solidFill>
                  <a:srgbClr val="002060"/>
                </a:solidFill>
                <a:effectLst/>
                <a:latin typeface="Source Sans Pro" panose="020B0503030403020204" pitchFamily="34" charset="0"/>
                <a:ea typeface="Source Sans Pro" panose="020B0503030403020204" pitchFamily="34" charset="0"/>
              </a:rPr>
              <a:t>khi các hành động tiềm thức đi chệch hướng, mặc dù </a:t>
            </a:r>
            <a:r>
              <a:rPr lang="vi-VN" sz="4400" b="1" i="0" u="none" strike="noStrike" dirty="0">
                <a:solidFill>
                  <a:srgbClr val="002060"/>
                </a:solidFill>
                <a:effectLst/>
                <a:latin typeface="Source Sans Pro" panose="020B0503030403020204" pitchFamily="34" charset="0"/>
                <a:ea typeface="Source Sans Pro" panose="020B0503030403020204" pitchFamily="34" charset="0"/>
              </a:rPr>
              <a:t>mục tiêu ban đầu là phù hợp</a:t>
            </a:r>
            <a:r>
              <a:rPr lang="vi-VN" sz="4400" i="0" u="none" strike="noStrike" dirty="0">
                <a:solidFill>
                  <a:srgbClr val="002060"/>
                </a:solidFill>
                <a:effectLst/>
                <a:latin typeface="Source Sans Pro" panose="020B0503030403020204" pitchFamily="34" charset="0"/>
                <a:ea typeface="Source Sans Pro" panose="020B0503030403020204" pitchFamily="34" charset="0"/>
              </a:rPr>
              <a:t>.</a:t>
            </a:r>
            <a:endParaRPr lang="en-US" sz="60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cxnSp>
        <p:nvCxnSpPr>
          <p:cNvPr id="11" name="Straight Connector 10">
            <a:extLst>
              <a:ext uri="{FF2B5EF4-FFF2-40B4-BE49-F238E27FC236}">
                <a16:creationId xmlns:a16="http://schemas.microsoft.com/office/drawing/2014/main" id="{78046A9B-C5A3-0D5C-427A-B8870BD918D5}"/>
              </a:ext>
            </a:extLst>
          </p:cNvPr>
          <p:cNvCxnSpPr>
            <a:cxnSpLocks/>
          </p:cNvCxnSpPr>
          <p:nvPr/>
        </p:nvCxnSpPr>
        <p:spPr>
          <a:xfrm>
            <a:off x="9144000" y="2628899"/>
            <a:ext cx="0" cy="5922244"/>
          </a:xfrm>
          <a:prstGeom prst="line">
            <a:avLst/>
          </a:prstGeom>
          <a:ln w="762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TextBox 5">
            <a:extLst>
              <a:ext uri="{FF2B5EF4-FFF2-40B4-BE49-F238E27FC236}">
                <a16:creationId xmlns:a16="http://schemas.microsoft.com/office/drawing/2014/main" id="{65F5B448-E0F0-D6F9-14D1-418D421DADFC}"/>
              </a:ext>
            </a:extLst>
          </p:cNvPr>
          <p:cNvSpPr txBox="1"/>
          <p:nvPr/>
        </p:nvSpPr>
        <p:spPr>
          <a:xfrm>
            <a:off x="9840134" y="4897248"/>
            <a:ext cx="7326058" cy="2031325"/>
          </a:xfrm>
          <a:prstGeom prst="rect">
            <a:avLst/>
          </a:prstGeom>
        </p:spPr>
        <p:txBody>
          <a:bodyPr wrap="square" lIns="0" tIns="0" rIns="0" bIns="0" rtlCol="0" anchor="ctr">
            <a:spAutoFit/>
          </a:bodyPr>
          <a:lstStyle/>
          <a:p>
            <a:pPr algn="just"/>
            <a:r>
              <a:rPr lang="vi-VN" sz="4400" i="0" u="none" strike="noStrike" dirty="0">
                <a:solidFill>
                  <a:srgbClr val="002060"/>
                </a:solidFill>
                <a:effectLst/>
                <a:latin typeface="Source Sans Pro" panose="020B0503030403020204" pitchFamily="34" charset="0"/>
                <a:ea typeface="Source Sans Pro" panose="020B0503030403020204" pitchFamily="34" charset="0"/>
              </a:rPr>
              <a:t>Phát sinh từ sự </a:t>
            </a:r>
            <a:r>
              <a:rPr lang="vi-VN" sz="4400" b="1" i="0" u="none" strike="noStrike" dirty="0">
                <a:solidFill>
                  <a:srgbClr val="002060"/>
                </a:solidFill>
                <a:effectLst/>
                <a:latin typeface="Source Sans Pro" panose="020B0503030403020204" pitchFamily="34" charset="0"/>
                <a:ea typeface="Source Sans Pro" panose="020B0503030403020204" pitchFamily="34" charset="0"/>
              </a:rPr>
              <a:t>cân nhắc có ý thức</a:t>
            </a:r>
            <a:r>
              <a:rPr lang="vi-VN" sz="4400" i="0" u="none" strike="noStrike" dirty="0">
                <a:solidFill>
                  <a:srgbClr val="002060"/>
                </a:solidFill>
                <a:effectLst/>
                <a:latin typeface="Source Sans Pro" panose="020B0503030403020204" pitchFamily="34" charset="0"/>
                <a:ea typeface="Source Sans Pro" panose="020B0503030403020204" pitchFamily="34" charset="0"/>
              </a:rPr>
              <a:t>, khi một người hình thành </a:t>
            </a:r>
            <a:r>
              <a:rPr lang="vi-VN" sz="4400" b="1" i="0" u="none" strike="noStrike" dirty="0">
                <a:solidFill>
                  <a:srgbClr val="002060"/>
                </a:solidFill>
                <a:effectLst/>
                <a:latin typeface="Source Sans Pro" panose="020B0503030403020204" pitchFamily="34" charset="0"/>
                <a:ea typeface="Source Sans Pro" panose="020B0503030403020204" pitchFamily="34" charset="0"/>
              </a:rPr>
              <a:t>mục tiêu sai lầm</a:t>
            </a:r>
            <a:r>
              <a:rPr lang="vi-VN" sz="4400" i="0" u="none" strike="noStrike" dirty="0">
                <a:solidFill>
                  <a:srgbClr val="002060"/>
                </a:solidFill>
                <a:effectLst/>
                <a:latin typeface="Source Sans Pro" panose="020B0503030403020204" pitchFamily="34" charset="0"/>
                <a:ea typeface="Source Sans Pro" panose="020B0503030403020204" pitchFamily="34" charset="0"/>
              </a:rPr>
              <a:t>. </a:t>
            </a:r>
            <a:endParaRPr lang="en-US" sz="60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17" name="TextBox 5">
            <a:extLst>
              <a:ext uri="{FF2B5EF4-FFF2-40B4-BE49-F238E27FC236}">
                <a16:creationId xmlns:a16="http://schemas.microsoft.com/office/drawing/2014/main" id="{B217A994-CD2A-9F7E-7251-690E61EE2B21}"/>
              </a:ext>
            </a:extLst>
          </p:cNvPr>
          <p:cNvSpPr txBox="1"/>
          <p:nvPr/>
        </p:nvSpPr>
        <p:spPr>
          <a:xfrm>
            <a:off x="1817914" y="7874035"/>
            <a:ext cx="7326058" cy="677108"/>
          </a:xfrm>
          <a:prstGeom prst="rect">
            <a:avLst/>
          </a:prstGeom>
        </p:spPr>
        <p:txBody>
          <a:bodyPr wrap="square" lIns="0" tIns="0" rIns="0" bIns="0" rtlCol="0" anchor="ctr">
            <a:spAutoFit/>
          </a:bodyPr>
          <a:lstStyle/>
          <a:p>
            <a:pPr algn="ctr"/>
            <a:r>
              <a:rPr lang="en-US" sz="44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Đúng</a:t>
            </a:r>
            <a:r>
              <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công</a:t>
            </a:r>
            <a:r>
              <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thức</a:t>
            </a:r>
            <a:r>
              <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Sai </a:t>
            </a:r>
            <a:r>
              <a:rPr lang="en-US" sz="44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đáp</a:t>
            </a:r>
            <a:r>
              <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án</a:t>
            </a:r>
            <a:endPar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18" name="Arrow: Right 17">
            <a:extLst>
              <a:ext uri="{FF2B5EF4-FFF2-40B4-BE49-F238E27FC236}">
                <a16:creationId xmlns:a16="http://schemas.microsoft.com/office/drawing/2014/main" id="{16B519B7-F69E-A014-9D49-2774C53F0837}"/>
              </a:ext>
            </a:extLst>
          </p:cNvPr>
          <p:cNvSpPr/>
          <p:nvPr/>
        </p:nvSpPr>
        <p:spPr>
          <a:xfrm>
            <a:off x="1295400" y="7950235"/>
            <a:ext cx="706992" cy="562749"/>
          </a:xfrm>
          <a:prstGeom prst="rightArrow">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5">
            <a:extLst>
              <a:ext uri="{FF2B5EF4-FFF2-40B4-BE49-F238E27FC236}">
                <a16:creationId xmlns:a16="http://schemas.microsoft.com/office/drawing/2014/main" id="{50B68721-E4CE-94F6-3684-36D70091633E}"/>
              </a:ext>
            </a:extLst>
          </p:cNvPr>
          <p:cNvSpPr txBox="1"/>
          <p:nvPr/>
        </p:nvSpPr>
        <p:spPr>
          <a:xfrm>
            <a:off x="10189000" y="7823485"/>
            <a:ext cx="7326058" cy="677108"/>
          </a:xfrm>
          <a:prstGeom prst="rect">
            <a:avLst/>
          </a:prstGeom>
        </p:spPr>
        <p:txBody>
          <a:bodyPr wrap="square" lIns="0" tIns="0" rIns="0" bIns="0" rtlCol="0" anchor="ctr">
            <a:spAutoFit/>
          </a:bodyPr>
          <a:lstStyle/>
          <a:p>
            <a:pPr algn="ctr"/>
            <a:r>
              <a:rPr lang="en-US" sz="44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Đã</a:t>
            </a:r>
            <a:r>
              <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sai</a:t>
            </a:r>
            <a:r>
              <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từ</a:t>
            </a:r>
            <a:r>
              <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phút</a:t>
            </a:r>
            <a:r>
              <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ban </a:t>
            </a:r>
            <a:r>
              <a:rPr lang="en-US" sz="44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đầu</a:t>
            </a:r>
            <a:endPar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22" name="Arrow: Right 21">
            <a:extLst>
              <a:ext uri="{FF2B5EF4-FFF2-40B4-BE49-F238E27FC236}">
                <a16:creationId xmlns:a16="http://schemas.microsoft.com/office/drawing/2014/main" id="{4AC63B1C-23BF-A1D0-1F87-6A866B86C069}"/>
              </a:ext>
            </a:extLst>
          </p:cNvPr>
          <p:cNvSpPr/>
          <p:nvPr/>
        </p:nvSpPr>
        <p:spPr>
          <a:xfrm>
            <a:off x="9666486" y="7899685"/>
            <a:ext cx="706992" cy="562749"/>
          </a:xfrm>
          <a:prstGeom prst="rightArrow">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8">
            <a:extLst>
              <a:ext uri="{FF2B5EF4-FFF2-40B4-BE49-F238E27FC236}">
                <a16:creationId xmlns:a16="http://schemas.microsoft.com/office/drawing/2014/main" id="{2BDD3863-7816-41FC-1C3D-8A28D539894C}"/>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19</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Tree>
    <p:extLst>
      <p:ext uri="{BB962C8B-B14F-4D97-AF65-F5344CB8AC3E}">
        <p14:creationId xmlns:p14="http://schemas.microsoft.com/office/powerpoint/2010/main" val="230882054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2BCA5458-B94C-7282-B486-909666B98FC0}"/>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80793275-58BF-3D27-66C2-4D3E9553B3C3}"/>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cxnSp>
        <p:nvCxnSpPr>
          <p:cNvPr id="40" name="Straight Arrow Connector 39">
            <a:extLst>
              <a:ext uri="{FF2B5EF4-FFF2-40B4-BE49-F238E27FC236}">
                <a16:creationId xmlns:a16="http://schemas.microsoft.com/office/drawing/2014/main" id="{6E25B4AA-70BF-A1B6-AFE8-38512E05D603}"/>
              </a:ext>
            </a:extLst>
          </p:cNvPr>
          <p:cNvCxnSpPr>
            <a:stCxn id="11" idx="1"/>
            <a:endCxn id="17" idx="3"/>
          </p:cNvCxnSpPr>
          <p:nvPr/>
        </p:nvCxnSpPr>
        <p:spPr>
          <a:xfrm flipH="1">
            <a:off x="4876800" y="3135175"/>
            <a:ext cx="4114800" cy="1258111"/>
          </a:xfrm>
          <a:prstGeom prst="straightConnector1">
            <a:avLst/>
          </a:prstGeom>
          <a:ln w="76200">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A27EB3C7-3A3F-8A1D-25C3-5BA6C0CA60AE}"/>
              </a:ext>
            </a:extLst>
          </p:cNvPr>
          <p:cNvCxnSpPr>
            <a:cxnSpLocks/>
            <a:stCxn id="11" idx="1"/>
            <a:endCxn id="21" idx="3"/>
          </p:cNvCxnSpPr>
          <p:nvPr/>
        </p:nvCxnSpPr>
        <p:spPr>
          <a:xfrm>
            <a:off x="8991600" y="3135175"/>
            <a:ext cx="4114800" cy="1235458"/>
          </a:xfrm>
          <a:prstGeom prst="straightConnector1">
            <a:avLst/>
          </a:prstGeom>
          <a:ln w="76200">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026E97D7-9FE8-997C-FBB1-53D7F584C7E8}"/>
              </a:ext>
            </a:extLst>
          </p:cNvPr>
          <p:cNvCxnSpPr>
            <a:cxnSpLocks/>
            <a:stCxn id="17" idx="1"/>
            <a:endCxn id="22" idx="1"/>
          </p:cNvCxnSpPr>
          <p:nvPr/>
        </p:nvCxnSpPr>
        <p:spPr>
          <a:xfrm flipH="1">
            <a:off x="2794909" y="5208833"/>
            <a:ext cx="2081891" cy="1302901"/>
          </a:xfrm>
          <a:prstGeom prst="straightConnector1">
            <a:avLst/>
          </a:prstGeom>
          <a:ln w="76200">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B5837590-FAB9-90DC-7B7D-B007AC1D6ABD}"/>
              </a:ext>
            </a:extLst>
          </p:cNvPr>
          <p:cNvCxnSpPr>
            <a:cxnSpLocks/>
            <a:stCxn id="17" idx="1"/>
            <a:endCxn id="31" idx="1"/>
          </p:cNvCxnSpPr>
          <p:nvPr/>
        </p:nvCxnSpPr>
        <p:spPr>
          <a:xfrm>
            <a:off x="4876800" y="5208833"/>
            <a:ext cx="1996310" cy="1302899"/>
          </a:xfrm>
          <a:prstGeom prst="straightConnector1">
            <a:avLst/>
          </a:prstGeom>
          <a:ln w="76200">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1958505A-C010-DA4D-0A18-05B5F64E74A4}"/>
              </a:ext>
            </a:extLst>
          </p:cNvPr>
          <p:cNvCxnSpPr>
            <a:cxnSpLocks/>
            <a:stCxn id="20" idx="1"/>
            <a:endCxn id="34" idx="1"/>
          </p:cNvCxnSpPr>
          <p:nvPr/>
        </p:nvCxnSpPr>
        <p:spPr>
          <a:xfrm flipH="1">
            <a:off x="11043277" y="5208833"/>
            <a:ext cx="2063123" cy="1306266"/>
          </a:xfrm>
          <a:prstGeom prst="straightConnector1">
            <a:avLst/>
          </a:prstGeom>
          <a:ln w="76200">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4633A838-C333-3E0A-5E55-0684DF5ACCDE}"/>
              </a:ext>
            </a:extLst>
          </p:cNvPr>
          <p:cNvCxnSpPr>
            <a:cxnSpLocks/>
            <a:stCxn id="20" idx="1"/>
            <a:endCxn id="37" idx="1"/>
          </p:cNvCxnSpPr>
          <p:nvPr/>
        </p:nvCxnSpPr>
        <p:spPr>
          <a:xfrm>
            <a:off x="13106400" y="5208833"/>
            <a:ext cx="2015078" cy="1306264"/>
          </a:xfrm>
          <a:prstGeom prst="straightConnector1">
            <a:avLst/>
          </a:prstGeom>
          <a:ln w="76200">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25" name="Freeform 13">
            <a:extLst>
              <a:ext uri="{FF2B5EF4-FFF2-40B4-BE49-F238E27FC236}">
                <a16:creationId xmlns:a16="http://schemas.microsoft.com/office/drawing/2014/main" id="{E8C1E263-CC74-B140-5BA2-23988E7E1FBD}"/>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B5515826-A50F-BDDE-344F-BEDD18EEBD4A}"/>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38857B67-DFE5-3F01-7A6F-6C1A883109BE}"/>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2620D207-CEE9-CD20-1F2D-1E55DAB4BD71}"/>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II</a:t>
            </a:r>
          </a:p>
        </p:txBody>
      </p:sp>
      <p:sp>
        <p:nvSpPr>
          <p:cNvPr id="27" name="TextBox 26">
            <a:extLst>
              <a:ext uri="{FF2B5EF4-FFF2-40B4-BE49-F238E27FC236}">
                <a16:creationId xmlns:a16="http://schemas.microsoft.com/office/drawing/2014/main" id="{2404C63F-CAA3-5F7B-384E-6C3669FAF8B3}"/>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SAI LẦM</a:t>
            </a:r>
          </a:p>
        </p:txBody>
      </p:sp>
      <p:pic>
        <p:nvPicPr>
          <p:cNvPr id="28" name="Picture 27" descr="A blue logo with a black background&#10;&#10;AI-generated content may be incorrect.">
            <a:extLst>
              <a:ext uri="{FF2B5EF4-FFF2-40B4-BE49-F238E27FC236}">
                <a16:creationId xmlns:a16="http://schemas.microsoft.com/office/drawing/2014/main" id="{69653C07-6641-4DA9-5379-02DF07C48152}"/>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CE6B8144-4BC6-94BB-8332-E980466A1BE1}"/>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0C143390-C6AC-88AE-6142-8493DA14A162}"/>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20</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3" name="TextBox 2">
            <a:extLst>
              <a:ext uri="{FF2B5EF4-FFF2-40B4-BE49-F238E27FC236}">
                <a16:creationId xmlns:a16="http://schemas.microsoft.com/office/drawing/2014/main" id="{084E7D1E-7D03-27B3-E918-8E602E027501}"/>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Một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số</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mô</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hình</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tư</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duy</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của</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con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người</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grpSp>
        <p:nvGrpSpPr>
          <p:cNvPr id="4" name="Group 3">
            <a:extLst>
              <a:ext uri="{FF2B5EF4-FFF2-40B4-BE49-F238E27FC236}">
                <a16:creationId xmlns:a16="http://schemas.microsoft.com/office/drawing/2014/main" id="{0F95E124-4BE7-7E10-5A75-BFD3D4E8324C}"/>
              </a:ext>
            </a:extLst>
          </p:cNvPr>
          <p:cNvGrpSpPr/>
          <p:nvPr/>
        </p:nvGrpSpPr>
        <p:grpSpPr>
          <a:xfrm>
            <a:off x="4716518" y="2296975"/>
            <a:ext cx="8550164" cy="838200"/>
            <a:chOff x="5997190" y="3368248"/>
            <a:chExt cx="6929687" cy="838200"/>
          </a:xfrm>
          <a:effectLst>
            <a:outerShdw blurRad="50800" dist="38100" dir="2700000" algn="tl" rotWithShape="0">
              <a:prstClr val="black">
                <a:alpha val="40000"/>
              </a:prstClr>
            </a:outerShdw>
          </a:effectLst>
        </p:grpSpPr>
        <p:sp>
          <p:nvSpPr>
            <p:cNvPr id="11" name="Rectangle: Diagonal Corners Snipped 16">
              <a:extLst>
                <a:ext uri="{FF2B5EF4-FFF2-40B4-BE49-F238E27FC236}">
                  <a16:creationId xmlns:a16="http://schemas.microsoft.com/office/drawing/2014/main" id="{0A28A818-B501-AAD0-8633-7AAACC8F1F7E}"/>
                </a:ext>
              </a:extLst>
            </p:cNvPr>
            <p:cNvSpPr/>
            <p:nvPr/>
          </p:nvSpPr>
          <p:spPr>
            <a:xfrm>
              <a:off x="5997190" y="3390901"/>
              <a:ext cx="6929687" cy="815547"/>
            </a:xfrm>
            <a:prstGeom prst="snip2DiagRect">
              <a:avLst>
                <a:gd name="adj1" fmla="val 0"/>
                <a:gd name="adj2" fmla="val 40960"/>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A03115AD-FDB3-40CF-4B9B-7C7D6F04B4F5}"/>
                </a:ext>
              </a:extLst>
            </p:cNvPr>
            <p:cNvSpPr txBox="1"/>
            <p:nvPr/>
          </p:nvSpPr>
          <p:spPr>
            <a:xfrm>
              <a:off x="5997190" y="3368248"/>
              <a:ext cx="6929687" cy="769501"/>
            </a:xfrm>
            <a:prstGeom prst="snip1Rect">
              <a:avLst/>
            </a:prstGeom>
            <a:noFill/>
          </p:spPr>
          <p:txBody>
            <a:bodyPr wrap="square" rtlCol="0">
              <a:spAutoFit/>
            </a:bodyPr>
            <a:lstStyle/>
            <a:p>
              <a:pPr algn="ct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 HÌNH TƯ DUY CỦA CON NGƯỜI</a:t>
              </a:r>
            </a:p>
          </p:txBody>
        </p:sp>
      </p:grpSp>
      <p:grpSp>
        <p:nvGrpSpPr>
          <p:cNvPr id="16" name="Group 15">
            <a:extLst>
              <a:ext uri="{FF2B5EF4-FFF2-40B4-BE49-F238E27FC236}">
                <a16:creationId xmlns:a16="http://schemas.microsoft.com/office/drawing/2014/main" id="{97271B17-31AA-058A-471F-202F9D8AA841}"/>
              </a:ext>
            </a:extLst>
          </p:cNvPr>
          <p:cNvGrpSpPr/>
          <p:nvPr/>
        </p:nvGrpSpPr>
        <p:grpSpPr>
          <a:xfrm>
            <a:off x="1295400" y="4370633"/>
            <a:ext cx="7162800" cy="838200"/>
            <a:chOff x="5997190" y="3368248"/>
            <a:chExt cx="6929687" cy="838200"/>
          </a:xfrm>
          <a:effectLst>
            <a:outerShdw blurRad="50800" dist="38100" dir="2700000" algn="tl" rotWithShape="0">
              <a:prstClr val="black">
                <a:alpha val="40000"/>
              </a:prstClr>
            </a:outerShdw>
          </a:effectLst>
        </p:grpSpPr>
        <p:sp>
          <p:nvSpPr>
            <p:cNvPr id="17" name="Rectangle: Diagonal Corners Snipped 16">
              <a:extLst>
                <a:ext uri="{FF2B5EF4-FFF2-40B4-BE49-F238E27FC236}">
                  <a16:creationId xmlns:a16="http://schemas.microsoft.com/office/drawing/2014/main" id="{42BC8035-9776-9525-216E-97C0571A1426}"/>
                </a:ext>
              </a:extLst>
            </p:cNvPr>
            <p:cNvSpPr/>
            <p:nvPr/>
          </p:nvSpPr>
          <p:spPr>
            <a:xfrm>
              <a:off x="5997190" y="3390901"/>
              <a:ext cx="6929687" cy="815547"/>
            </a:xfrm>
            <a:prstGeom prst="snip2DiagRect">
              <a:avLst>
                <a:gd name="adj1" fmla="val 0"/>
                <a:gd name="adj2" fmla="val 40960"/>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56CB1F97-6D6D-AA1A-F672-C0AA44AFE897}"/>
                </a:ext>
              </a:extLst>
            </p:cNvPr>
            <p:cNvSpPr txBox="1"/>
            <p:nvPr/>
          </p:nvSpPr>
          <p:spPr>
            <a:xfrm>
              <a:off x="5997190" y="3368248"/>
              <a:ext cx="6929687" cy="769501"/>
            </a:xfrm>
            <a:prstGeom prst="snip1Rect">
              <a:avLst/>
            </a:prstGeom>
            <a:noFill/>
          </p:spPr>
          <p:txBody>
            <a:bodyPr wrap="square" rtlCol="0">
              <a:spAutoFit/>
            </a:bodyPr>
            <a:lstStyle/>
            <a:p>
              <a:pPr algn="ct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Nhóm</a:t>
              </a: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a:t>
              </a: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hình</a:t>
              </a: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tư</a:t>
              </a: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duy</a:t>
              </a: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lỗi</a:t>
              </a: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thời</a:t>
              </a:r>
              <a:endPar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p:txBody>
        </p:sp>
      </p:grpSp>
      <p:grpSp>
        <p:nvGrpSpPr>
          <p:cNvPr id="19" name="Group 18">
            <a:extLst>
              <a:ext uri="{FF2B5EF4-FFF2-40B4-BE49-F238E27FC236}">
                <a16:creationId xmlns:a16="http://schemas.microsoft.com/office/drawing/2014/main" id="{9D293C09-F823-E59C-F9B9-2EDFA28E93E7}"/>
              </a:ext>
            </a:extLst>
          </p:cNvPr>
          <p:cNvGrpSpPr/>
          <p:nvPr/>
        </p:nvGrpSpPr>
        <p:grpSpPr>
          <a:xfrm>
            <a:off x="9525000" y="4370633"/>
            <a:ext cx="7162800" cy="838200"/>
            <a:chOff x="5997190" y="3368248"/>
            <a:chExt cx="6929687" cy="838200"/>
          </a:xfrm>
          <a:effectLst>
            <a:outerShdw blurRad="50800" dist="38100" dir="2700000" algn="tl" rotWithShape="0">
              <a:prstClr val="black">
                <a:alpha val="40000"/>
              </a:prstClr>
            </a:outerShdw>
          </a:effectLst>
        </p:grpSpPr>
        <p:sp>
          <p:nvSpPr>
            <p:cNvPr id="20" name="Rectangle: Diagonal Corners Snipped 19">
              <a:extLst>
                <a:ext uri="{FF2B5EF4-FFF2-40B4-BE49-F238E27FC236}">
                  <a16:creationId xmlns:a16="http://schemas.microsoft.com/office/drawing/2014/main" id="{22E04481-E10C-5BD0-76B9-5F64CCD3370D}"/>
                </a:ext>
              </a:extLst>
            </p:cNvPr>
            <p:cNvSpPr/>
            <p:nvPr/>
          </p:nvSpPr>
          <p:spPr>
            <a:xfrm>
              <a:off x="5997190" y="3390901"/>
              <a:ext cx="6929687" cy="815547"/>
            </a:xfrm>
            <a:prstGeom prst="snip2DiagRect">
              <a:avLst>
                <a:gd name="adj1" fmla="val 0"/>
                <a:gd name="adj2" fmla="val 40960"/>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8FFB6623-4A5D-BD89-4A9A-1B4884F01084}"/>
                </a:ext>
              </a:extLst>
            </p:cNvPr>
            <p:cNvSpPr txBox="1"/>
            <p:nvPr/>
          </p:nvSpPr>
          <p:spPr>
            <a:xfrm>
              <a:off x="5997190" y="3368248"/>
              <a:ext cx="6929687" cy="769501"/>
            </a:xfrm>
            <a:prstGeom prst="snip1Rect">
              <a:avLst/>
            </a:prstGeom>
            <a:noFill/>
          </p:spPr>
          <p:txBody>
            <a:bodyPr wrap="square" rtlCol="0">
              <a:spAutoFit/>
            </a:bodyPr>
            <a:lstStyle/>
            <a:p>
              <a:pPr algn="ct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Nhóm</a:t>
              </a: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a:t>
              </a: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hình</a:t>
              </a: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tư</a:t>
              </a: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duy</a:t>
              </a: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thực</a:t>
              </a:r>
              <a:r>
                <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40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tế</a:t>
              </a:r>
              <a:endParaRPr lang="en-US" sz="40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p:txBody>
        </p:sp>
      </p:grpSp>
      <p:grpSp>
        <p:nvGrpSpPr>
          <p:cNvPr id="26" name="Group 25">
            <a:extLst>
              <a:ext uri="{FF2B5EF4-FFF2-40B4-BE49-F238E27FC236}">
                <a16:creationId xmlns:a16="http://schemas.microsoft.com/office/drawing/2014/main" id="{3C9BB07C-28AF-5C2F-7CE5-B58A44F89865}"/>
              </a:ext>
            </a:extLst>
          </p:cNvPr>
          <p:cNvGrpSpPr/>
          <p:nvPr/>
        </p:nvGrpSpPr>
        <p:grpSpPr>
          <a:xfrm>
            <a:off x="1322615" y="6511734"/>
            <a:ext cx="2944586" cy="1600201"/>
            <a:chOff x="1447800" y="5981698"/>
            <a:chExt cx="3657601" cy="1600201"/>
          </a:xfrm>
        </p:grpSpPr>
        <p:sp>
          <p:nvSpPr>
            <p:cNvPr id="22" name="Rectangle: Diagonal Corners Snipped 21">
              <a:extLst>
                <a:ext uri="{FF2B5EF4-FFF2-40B4-BE49-F238E27FC236}">
                  <a16:creationId xmlns:a16="http://schemas.microsoft.com/office/drawing/2014/main" id="{1B03A976-6D47-777A-E81F-755B30ACFC37}"/>
                </a:ext>
              </a:extLst>
            </p:cNvPr>
            <p:cNvSpPr/>
            <p:nvPr/>
          </p:nvSpPr>
          <p:spPr>
            <a:xfrm flipV="1">
              <a:off x="1447801" y="5981698"/>
              <a:ext cx="3657600" cy="1600201"/>
            </a:xfrm>
            <a:prstGeom prst="snip2DiagRect">
              <a:avLst>
                <a:gd name="adj1" fmla="val 11385"/>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A34D73EF-8103-71F5-503F-EF9372C8A709}"/>
                </a:ext>
              </a:extLst>
            </p:cNvPr>
            <p:cNvSpPr txBox="1"/>
            <p:nvPr/>
          </p:nvSpPr>
          <p:spPr>
            <a:xfrm>
              <a:off x="1447800" y="6181633"/>
              <a:ext cx="3657600" cy="1200329"/>
            </a:xfrm>
            <a:prstGeom prst="rect">
              <a:avLst/>
            </a:prstGeom>
            <a:noFill/>
          </p:spPr>
          <p:txBody>
            <a:bodyPr wrap="square" rtlCol="0">
              <a:spAutoFit/>
            </a:bodyPr>
            <a:lstStyle/>
            <a:p>
              <a:pPr algn="ct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hình</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p>
            <a:p>
              <a:pPr algn="ct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lý</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6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tính</a:t>
              </a:r>
              <a:r>
                <a:rPr lang="en-US" sz="36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 logic</a:t>
              </a:r>
            </a:p>
          </p:txBody>
        </p:sp>
      </p:grpSp>
      <p:grpSp>
        <p:nvGrpSpPr>
          <p:cNvPr id="30" name="Group 29">
            <a:extLst>
              <a:ext uri="{FF2B5EF4-FFF2-40B4-BE49-F238E27FC236}">
                <a16:creationId xmlns:a16="http://schemas.microsoft.com/office/drawing/2014/main" id="{67B609B9-5C2C-B10E-5D50-92AAB082FA39}"/>
              </a:ext>
            </a:extLst>
          </p:cNvPr>
          <p:cNvGrpSpPr/>
          <p:nvPr/>
        </p:nvGrpSpPr>
        <p:grpSpPr>
          <a:xfrm>
            <a:off x="5334000" y="6511732"/>
            <a:ext cx="3078219" cy="1603568"/>
            <a:chOff x="1447800" y="5981698"/>
            <a:chExt cx="3657601" cy="1603568"/>
          </a:xfrm>
        </p:grpSpPr>
        <p:sp>
          <p:nvSpPr>
            <p:cNvPr id="31" name="Rectangle: Diagonal Corners Snipped 30">
              <a:extLst>
                <a:ext uri="{FF2B5EF4-FFF2-40B4-BE49-F238E27FC236}">
                  <a16:creationId xmlns:a16="http://schemas.microsoft.com/office/drawing/2014/main" id="{BF1D22EF-95D7-2DBD-FBF6-BB9AB6D2463A}"/>
                </a:ext>
              </a:extLst>
            </p:cNvPr>
            <p:cNvSpPr/>
            <p:nvPr/>
          </p:nvSpPr>
          <p:spPr>
            <a:xfrm flipV="1">
              <a:off x="1447801" y="5981698"/>
              <a:ext cx="3657600" cy="1600201"/>
            </a:xfrm>
            <a:prstGeom prst="snip2DiagRect">
              <a:avLst>
                <a:gd name="adj1" fmla="val 11385"/>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A2500E1C-8837-B758-5077-CD8BCB7A1453}"/>
                </a:ext>
              </a:extLst>
            </p:cNvPr>
            <p:cNvSpPr txBox="1"/>
            <p:nvPr/>
          </p:nvSpPr>
          <p:spPr>
            <a:xfrm>
              <a:off x="1447800" y="6015606"/>
              <a:ext cx="3657600" cy="1569660"/>
            </a:xfrm>
            <a:prstGeom prst="rect">
              <a:avLst/>
            </a:prstGeom>
            <a:noFill/>
          </p:spPr>
          <p:txBody>
            <a:bodyPr wrap="square" rtlCol="0">
              <a:spAutoFit/>
            </a:bodyPr>
            <a:lstStyle/>
            <a:p>
              <a:pPr algn="ct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hình</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p>
            <a:p>
              <a:pPr algn="ct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“Album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ảnh</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a:t>
              </a:r>
            </a:p>
            <a:p>
              <a:pPr algn="ct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của</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trí</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nhớ</a:t>
              </a:r>
              <a:endPar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p:txBody>
        </p:sp>
      </p:grpSp>
      <p:grpSp>
        <p:nvGrpSpPr>
          <p:cNvPr id="33" name="Group 32">
            <a:extLst>
              <a:ext uri="{FF2B5EF4-FFF2-40B4-BE49-F238E27FC236}">
                <a16:creationId xmlns:a16="http://schemas.microsoft.com/office/drawing/2014/main" id="{2A817444-DD2E-E615-7293-3EFC187C0916}"/>
              </a:ext>
            </a:extLst>
          </p:cNvPr>
          <p:cNvGrpSpPr/>
          <p:nvPr/>
        </p:nvGrpSpPr>
        <p:grpSpPr>
          <a:xfrm>
            <a:off x="9570983" y="6515099"/>
            <a:ext cx="2944586" cy="1600201"/>
            <a:chOff x="1447800" y="5981698"/>
            <a:chExt cx="3657601" cy="1600201"/>
          </a:xfrm>
        </p:grpSpPr>
        <p:sp>
          <p:nvSpPr>
            <p:cNvPr id="34" name="Rectangle: Diagonal Corners Snipped 33">
              <a:extLst>
                <a:ext uri="{FF2B5EF4-FFF2-40B4-BE49-F238E27FC236}">
                  <a16:creationId xmlns:a16="http://schemas.microsoft.com/office/drawing/2014/main" id="{12644C1B-94CD-7157-434E-7F366D54ED73}"/>
                </a:ext>
              </a:extLst>
            </p:cNvPr>
            <p:cNvSpPr/>
            <p:nvPr/>
          </p:nvSpPr>
          <p:spPr>
            <a:xfrm flipV="1">
              <a:off x="1447801" y="5981698"/>
              <a:ext cx="3657600" cy="1600201"/>
            </a:xfrm>
            <a:prstGeom prst="snip2DiagRect">
              <a:avLst>
                <a:gd name="adj1" fmla="val 11385"/>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A5E0980E-2423-E6B4-6364-8EDA7A273329}"/>
                </a:ext>
              </a:extLst>
            </p:cNvPr>
            <p:cNvSpPr txBox="1"/>
            <p:nvPr/>
          </p:nvSpPr>
          <p:spPr>
            <a:xfrm>
              <a:off x="1447800" y="5985114"/>
              <a:ext cx="3657600" cy="1569660"/>
            </a:xfrm>
            <a:prstGeom prst="rect">
              <a:avLst/>
            </a:prstGeom>
            <a:noFill/>
          </p:spPr>
          <p:txBody>
            <a:bodyPr wrap="square" rtlCol="0">
              <a:spAutoFit/>
            </a:bodyPr>
            <a:lstStyle/>
            <a:p>
              <a:pPr algn="ct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Dựa</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trên</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kinh</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nghiệm</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và</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sáng</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tạo</a:t>
              </a:r>
              <a:endPar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p:txBody>
        </p:sp>
      </p:grpSp>
      <p:grpSp>
        <p:nvGrpSpPr>
          <p:cNvPr id="36" name="Group 35">
            <a:extLst>
              <a:ext uri="{FF2B5EF4-FFF2-40B4-BE49-F238E27FC236}">
                <a16:creationId xmlns:a16="http://schemas.microsoft.com/office/drawing/2014/main" id="{56682C45-A743-D392-10FD-F14673390944}"/>
              </a:ext>
            </a:extLst>
          </p:cNvPr>
          <p:cNvGrpSpPr/>
          <p:nvPr/>
        </p:nvGrpSpPr>
        <p:grpSpPr>
          <a:xfrm>
            <a:off x="13582368" y="6515097"/>
            <a:ext cx="3078219" cy="1600201"/>
            <a:chOff x="1447800" y="5981698"/>
            <a:chExt cx="3657601" cy="1600201"/>
          </a:xfrm>
        </p:grpSpPr>
        <p:sp>
          <p:nvSpPr>
            <p:cNvPr id="37" name="Rectangle: Diagonal Corners Snipped 36">
              <a:extLst>
                <a:ext uri="{FF2B5EF4-FFF2-40B4-BE49-F238E27FC236}">
                  <a16:creationId xmlns:a16="http://schemas.microsoft.com/office/drawing/2014/main" id="{AFA3E3EB-3B93-FE7F-C3C9-D0A1627635C2}"/>
                </a:ext>
              </a:extLst>
            </p:cNvPr>
            <p:cNvSpPr/>
            <p:nvPr/>
          </p:nvSpPr>
          <p:spPr>
            <a:xfrm flipV="1">
              <a:off x="1447801" y="5981698"/>
              <a:ext cx="3657600" cy="1600201"/>
            </a:xfrm>
            <a:prstGeom prst="snip2DiagRect">
              <a:avLst>
                <a:gd name="adj1" fmla="val 11385"/>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7ECFCC27-4B6E-C2F8-08AF-63F2A3D39BF4}"/>
                </a:ext>
              </a:extLst>
            </p:cNvPr>
            <p:cNvSpPr txBox="1"/>
            <p:nvPr/>
          </p:nvSpPr>
          <p:spPr>
            <a:xfrm>
              <a:off x="1447800" y="6248958"/>
              <a:ext cx="3657600" cy="1077218"/>
            </a:xfrm>
            <a:prstGeom prst="rect">
              <a:avLst/>
            </a:prstGeom>
            <a:noFill/>
          </p:spPr>
          <p:txBody>
            <a:bodyPr wrap="square" rtlCol="0">
              <a:spAutoFit/>
            </a:bodyPr>
            <a:lstStyle/>
            <a:p>
              <a:pPr algn="ct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hình</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p>
            <a:p>
              <a:pPr algn="ctr"/>
              <a:r>
                <a:rPr lang="en-US" sz="3200" b="1" spc="-2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a:t>
              </a:r>
              <a:r>
                <a:rPr lang="en-US" sz="3200" b="1" spc="-2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Tủ</a:t>
              </a:r>
              <a:r>
                <a:rPr lang="en-US" sz="3200" b="1" spc="-2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spc="-2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hồ</a:t>
              </a:r>
              <a:r>
                <a:rPr lang="en-US" sz="3200" b="1" spc="-2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spc="-2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sơ</a:t>
              </a:r>
              <a:r>
                <a:rPr lang="en-US" sz="3200" b="1" spc="-2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spc="-2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liên</a:t>
              </a:r>
              <a:r>
                <a:rPr lang="en-US" sz="3200" b="1" spc="-2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spc="-200"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kết</a:t>
              </a:r>
              <a:r>
                <a:rPr lang="en-US" sz="3200" b="1" spc="-200"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a:t>
              </a:r>
            </a:p>
          </p:txBody>
        </p:sp>
      </p:grpSp>
    </p:spTree>
    <p:extLst>
      <p:ext uri="{BB962C8B-B14F-4D97-AF65-F5344CB8AC3E}">
        <p14:creationId xmlns:p14="http://schemas.microsoft.com/office/powerpoint/2010/main" val="23972793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up)">
                                      <p:cBhvr>
                                        <p:cTn id="12" dur="500"/>
                                        <p:tgtEl>
                                          <p:spTgt spid="40"/>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up)">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up)">
                                      <p:cBhvr>
                                        <p:cTn id="21" dur="500"/>
                                        <p:tgtEl>
                                          <p:spTgt spid="41"/>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up)">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wipe(up)">
                                      <p:cBhvr>
                                        <p:cTn id="30" dur="500"/>
                                        <p:tgtEl>
                                          <p:spTgt spid="44"/>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up)">
                                      <p:cBhvr>
                                        <p:cTn id="34" dur="500"/>
                                        <p:tgtEl>
                                          <p:spTgt spid="26"/>
                                        </p:tgtEl>
                                      </p:cBhvr>
                                    </p:animEffect>
                                  </p:childTnLst>
                                </p:cTn>
                              </p:par>
                            </p:childTnLst>
                          </p:cTn>
                        </p:par>
                        <p:par>
                          <p:cTn id="35" fill="hold">
                            <p:stCondLst>
                              <p:cond delay="1000"/>
                            </p:stCondLst>
                            <p:childTnLst>
                              <p:par>
                                <p:cTn id="36" presetID="22" presetClass="entr" presetSubtype="1" fill="hold" nodeType="after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wipe(up)">
                                      <p:cBhvr>
                                        <p:cTn id="38" dur="500"/>
                                        <p:tgtEl>
                                          <p:spTgt spid="45"/>
                                        </p:tgtEl>
                                      </p:cBhvr>
                                    </p:animEffect>
                                  </p:childTnLst>
                                </p:cTn>
                              </p:par>
                            </p:childTnLst>
                          </p:cTn>
                        </p:par>
                        <p:par>
                          <p:cTn id="39" fill="hold">
                            <p:stCondLst>
                              <p:cond delay="1500"/>
                            </p:stCondLst>
                            <p:childTnLst>
                              <p:par>
                                <p:cTn id="40" presetID="22" presetClass="entr" presetSubtype="1" fill="hold" nodeType="after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wipe(up)">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wipe(up)">
                                      <p:cBhvr>
                                        <p:cTn id="47" dur="500"/>
                                        <p:tgtEl>
                                          <p:spTgt spid="50"/>
                                        </p:tgtEl>
                                      </p:cBhvr>
                                    </p:animEffect>
                                  </p:childTnLst>
                                </p:cTn>
                              </p:par>
                            </p:childTnLst>
                          </p:cTn>
                        </p:par>
                        <p:par>
                          <p:cTn id="48" fill="hold">
                            <p:stCondLst>
                              <p:cond delay="500"/>
                            </p:stCondLst>
                            <p:childTnLst>
                              <p:par>
                                <p:cTn id="49" presetID="22" presetClass="entr" presetSubtype="1" fill="hold" nodeType="after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wipe(up)">
                                      <p:cBhvr>
                                        <p:cTn id="51" dur="500"/>
                                        <p:tgtEl>
                                          <p:spTgt spid="33"/>
                                        </p:tgtEl>
                                      </p:cBhvr>
                                    </p:animEffect>
                                  </p:childTnLst>
                                </p:cTn>
                              </p:par>
                            </p:childTnLst>
                          </p:cTn>
                        </p:par>
                        <p:par>
                          <p:cTn id="52" fill="hold">
                            <p:stCondLst>
                              <p:cond delay="1000"/>
                            </p:stCondLst>
                            <p:childTnLst>
                              <p:par>
                                <p:cTn id="53" presetID="22" presetClass="entr" presetSubtype="1" fill="hold" nodeType="after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wipe(up)">
                                      <p:cBhvr>
                                        <p:cTn id="55" dur="500"/>
                                        <p:tgtEl>
                                          <p:spTgt spid="51"/>
                                        </p:tgtEl>
                                      </p:cBhvr>
                                    </p:animEffect>
                                  </p:childTnLst>
                                </p:cTn>
                              </p:par>
                            </p:childTnLst>
                          </p:cTn>
                        </p:par>
                        <p:par>
                          <p:cTn id="56" fill="hold">
                            <p:stCondLst>
                              <p:cond delay="1500"/>
                            </p:stCondLst>
                            <p:childTnLst>
                              <p:par>
                                <p:cTn id="57" presetID="22" presetClass="entr" presetSubtype="1" fill="hold" nodeType="after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wipe(up)">
                                      <p:cBhvr>
                                        <p:cTn id="5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FFE9C0D9-93F5-FA6C-AB64-C1FC478D2EC9}"/>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009F16B7-0502-BA34-77AA-C6FD260816EF}"/>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03C3A74C-1A5F-2C3C-C15A-3B0BD1B9B44B}"/>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03D96224-649F-A3A9-2905-0FDCF3BF61D6}"/>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1C117A8B-EA9F-3F38-53AC-F5C8146A7A8D}"/>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5BF91A8B-BB9D-D444-D618-53DDF89CF516}"/>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II</a:t>
            </a:r>
          </a:p>
        </p:txBody>
      </p:sp>
      <p:sp>
        <p:nvSpPr>
          <p:cNvPr id="27" name="TextBox 26">
            <a:extLst>
              <a:ext uri="{FF2B5EF4-FFF2-40B4-BE49-F238E27FC236}">
                <a16:creationId xmlns:a16="http://schemas.microsoft.com/office/drawing/2014/main" id="{E12BFCFC-1F99-A9AC-DDDB-72F16559097D}"/>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SAI LẦM</a:t>
            </a:r>
          </a:p>
        </p:txBody>
      </p:sp>
      <p:pic>
        <p:nvPicPr>
          <p:cNvPr id="28" name="Picture 27" descr="A blue logo with a black background&#10;&#10;AI-generated content may be incorrect.">
            <a:extLst>
              <a:ext uri="{FF2B5EF4-FFF2-40B4-BE49-F238E27FC236}">
                <a16:creationId xmlns:a16="http://schemas.microsoft.com/office/drawing/2014/main" id="{88F59571-D925-0782-0B64-F781ED08008A}"/>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69D8BF78-EC05-F257-0618-C85F9C2CD921}"/>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5D7D52B6-A58D-E10E-CDF6-D959F4D95F51}"/>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21</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3" name="TextBox 2">
            <a:extLst>
              <a:ext uri="{FF2B5EF4-FFF2-40B4-BE49-F238E27FC236}">
                <a16:creationId xmlns:a16="http://schemas.microsoft.com/office/drawing/2014/main" id="{38439F53-9191-D340-0BB9-74B56A7B29EE}"/>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Một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số</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mô</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hình</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tư</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duy</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của</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con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người</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grpSp>
        <p:nvGrpSpPr>
          <p:cNvPr id="19" name="Group 18">
            <a:extLst>
              <a:ext uri="{FF2B5EF4-FFF2-40B4-BE49-F238E27FC236}">
                <a16:creationId xmlns:a16="http://schemas.microsoft.com/office/drawing/2014/main" id="{0C23635B-9A0A-550B-86D3-01BAC0ADA3EE}"/>
              </a:ext>
            </a:extLst>
          </p:cNvPr>
          <p:cNvGrpSpPr/>
          <p:nvPr/>
        </p:nvGrpSpPr>
        <p:grpSpPr>
          <a:xfrm>
            <a:off x="1328058" y="1620703"/>
            <a:ext cx="15631884" cy="658330"/>
            <a:chOff x="1328058" y="1593774"/>
            <a:chExt cx="15631884" cy="658330"/>
          </a:xfrm>
        </p:grpSpPr>
        <p:grpSp>
          <p:nvGrpSpPr>
            <p:cNvPr id="16" name="Group 15">
              <a:extLst>
                <a:ext uri="{FF2B5EF4-FFF2-40B4-BE49-F238E27FC236}">
                  <a16:creationId xmlns:a16="http://schemas.microsoft.com/office/drawing/2014/main" id="{37B659EC-D40B-F6A2-A07D-2018741E9797}"/>
                </a:ext>
              </a:extLst>
            </p:cNvPr>
            <p:cNvGrpSpPr/>
            <p:nvPr/>
          </p:nvGrpSpPr>
          <p:grpSpPr>
            <a:xfrm>
              <a:off x="1328058" y="1638302"/>
              <a:ext cx="15631884" cy="613802"/>
              <a:chOff x="1552950" y="5219888"/>
              <a:chExt cx="13163695" cy="676305"/>
            </a:xfrm>
          </p:grpSpPr>
          <p:sp>
            <p:nvSpPr>
              <p:cNvPr id="17" name="Rectangle: Diagonal Corners Snipped 16">
                <a:extLst>
                  <a:ext uri="{FF2B5EF4-FFF2-40B4-BE49-F238E27FC236}">
                    <a16:creationId xmlns:a16="http://schemas.microsoft.com/office/drawing/2014/main" id="{3FC95B9E-C2DC-B94A-0B35-261416391100}"/>
                  </a:ext>
                </a:extLst>
              </p:cNvPr>
              <p:cNvSpPr/>
              <p:nvPr/>
            </p:nvSpPr>
            <p:spPr>
              <a:xfrm flipV="1">
                <a:off x="1552950" y="5219888"/>
                <a:ext cx="13163695" cy="676305"/>
              </a:xfrm>
              <a:prstGeom prst="snip2DiagRect">
                <a:avLst>
                  <a:gd name="adj1" fmla="val 40647"/>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73653B4A-6430-6598-BACD-4B9EFEA46CC5}"/>
                  </a:ext>
                </a:extLst>
              </p:cNvPr>
              <p:cNvSpPr txBox="1"/>
              <p:nvPr/>
            </p:nvSpPr>
            <p:spPr>
              <a:xfrm>
                <a:off x="8519808" y="5265652"/>
                <a:ext cx="3657600" cy="584775"/>
              </a:xfrm>
              <a:prstGeom prst="rect">
                <a:avLst/>
              </a:prstGeom>
              <a:noFill/>
            </p:spPr>
            <p:txBody>
              <a:bodyPr wrap="square" rtlCol="0">
                <a:spAutoFit/>
              </a:bodyPr>
              <a:lstStyle/>
              <a:p>
                <a:pPr algn="ct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hình</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lý</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tính</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 logic</a:t>
                </a:r>
              </a:p>
            </p:txBody>
          </p:sp>
        </p:grpSp>
        <p:grpSp>
          <p:nvGrpSpPr>
            <p:cNvPr id="4" name="Group 3">
              <a:extLst>
                <a:ext uri="{FF2B5EF4-FFF2-40B4-BE49-F238E27FC236}">
                  <a16:creationId xmlns:a16="http://schemas.microsoft.com/office/drawing/2014/main" id="{65DDD1F4-4C98-4D3B-5D93-7D124A0E1143}"/>
                </a:ext>
              </a:extLst>
            </p:cNvPr>
            <p:cNvGrpSpPr/>
            <p:nvPr/>
          </p:nvGrpSpPr>
          <p:grpSpPr>
            <a:xfrm>
              <a:off x="1328058" y="1593774"/>
              <a:ext cx="5687784" cy="658330"/>
              <a:chOff x="5997190" y="3368248"/>
              <a:chExt cx="5502675" cy="658330"/>
            </a:xfrm>
            <a:effectLst>
              <a:outerShdw blurRad="50800" dist="38100" dir="2700000" algn="tl" rotWithShape="0">
                <a:prstClr val="black">
                  <a:alpha val="40000"/>
                </a:prstClr>
              </a:outerShdw>
            </a:effectLst>
          </p:grpSpPr>
          <p:sp>
            <p:nvSpPr>
              <p:cNvPr id="11" name="Rectangle: Diagonal Corners Snipped 10">
                <a:extLst>
                  <a:ext uri="{FF2B5EF4-FFF2-40B4-BE49-F238E27FC236}">
                    <a16:creationId xmlns:a16="http://schemas.microsoft.com/office/drawing/2014/main" id="{EF7DE379-B765-9DE4-1C8C-C4F167C9ED5A}"/>
                  </a:ext>
                </a:extLst>
              </p:cNvPr>
              <p:cNvSpPr/>
              <p:nvPr/>
            </p:nvSpPr>
            <p:spPr>
              <a:xfrm>
                <a:off x="5997190" y="3390902"/>
                <a:ext cx="5502675" cy="635676"/>
              </a:xfrm>
              <a:prstGeom prst="snip2DiagRect">
                <a:avLst>
                  <a:gd name="adj1" fmla="val 0"/>
                  <a:gd name="adj2" fmla="val 40960"/>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9CAECBB4-04A8-8482-D74F-C7DB1C3C965C}"/>
                  </a:ext>
                </a:extLst>
              </p:cNvPr>
              <p:cNvSpPr txBox="1"/>
              <p:nvPr/>
            </p:nvSpPr>
            <p:spPr>
              <a:xfrm>
                <a:off x="5997190" y="3368248"/>
                <a:ext cx="5502675" cy="635675"/>
              </a:xfrm>
              <a:prstGeom prst="snip1Rect">
                <a:avLst/>
              </a:prstGeom>
              <a:noFill/>
            </p:spPr>
            <p:txBody>
              <a:bodyPr wrap="square" rtlCol="0">
                <a:spAutoFit/>
              </a:bodyPr>
              <a:lstStyle/>
              <a:p>
                <a:pPr algn="ct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Nhóm</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hình</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tư</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duy</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lỗi</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thời</a:t>
                </a:r>
                <a:endPar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p:txBody>
          </p:sp>
        </p:grpSp>
      </p:grpSp>
      <p:sp>
        <p:nvSpPr>
          <p:cNvPr id="5" name="TextBox 5">
            <a:extLst>
              <a:ext uri="{FF2B5EF4-FFF2-40B4-BE49-F238E27FC236}">
                <a16:creationId xmlns:a16="http://schemas.microsoft.com/office/drawing/2014/main" id="{9305668E-5729-0545-14B3-36B8C4DFB6B6}"/>
              </a:ext>
            </a:extLst>
          </p:cNvPr>
          <p:cNvSpPr txBox="1"/>
          <p:nvPr/>
        </p:nvSpPr>
        <p:spPr>
          <a:xfrm>
            <a:off x="1295400" y="2552700"/>
            <a:ext cx="15664541" cy="1107996"/>
          </a:xfrm>
          <a:prstGeom prst="rect">
            <a:avLst/>
          </a:prstGeom>
        </p:spPr>
        <p:txBody>
          <a:bodyPr wrap="square" lIns="0" tIns="0" rIns="0" bIns="0" rtlCol="0" anchor="ctr">
            <a:spAutoFit/>
          </a:bodyPr>
          <a:lstStyle/>
          <a:p>
            <a:pPr algn="just"/>
            <a:r>
              <a:rPr lang="vi-VN" sz="3600" i="0" u="none" strike="noStrike" dirty="0">
                <a:solidFill>
                  <a:srgbClr val="002060"/>
                </a:solidFill>
                <a:effectLst/>
                <a:latin typeface="Source Sans Pro" panose="020B0503030403020204" pitchFamily="34" charset="0"/>
                <a:ea typeface="Source Sans Pro" panose="020B0503030403020204" pitchFamily="34" charset="0"/>
              </a:rPr>
              <a:t>Mô hình này </a:t>
            </a:r>
            <a:r>
              <a:rPr lang="vi-VN" sz="3600" b="1" i="0" u="none" strike="noStrike" dirty="0">
                <a:solidFill>
                  <a:srgbClr val="002060"/>
                </a:solidFill>
                <a:effectLst/>
                <a:latin typeface="Source Sans Pro" panose="020B0503030403020204" pitchFamily="34" charset="0"/>
                <a:ea typeface="Source Sans Pro" panose="020B0503030403020204" pitchFamily="34" charset="0"/>
              </a:rPr>
              <a:t>giả định con người suy nghĩ hợp lý,</a:t>
            </a:r>
            <a:r>
              <a:rPr lang="vi-VN" sz="3600" i="0" u="none" strike="noStrike" dirty="0">
                <a:solidFill>
                  <a:srgbClr val="002060"/>
                </a:solidFill>
                <a:effectLst/>
                <a:latin typeface="Source Sans Pro" panose="020B0503030403020204" pitchFamily="34" charset="0"/>
                <a:ea typeface="Source Sans Pro" panose="020B0503030403020204" pitchFamily="34" charset="0"/>
              </a:rPr>
              <a:t> tuần tự và nhất quán theo quy tắc logic, </a:t>
            </a:r>
            <a:r>
              <a:rPr lang="vi-VN" sz="3600" b="1" i="0" u="none" strike="noStrike" dirty="0">
                <a:solidFill>
                  <a:srgbClr val="002060"/>
                </a:solidFill>
                <a:effectLst/>
                <a:latin typeface="Source Sans Pro" panose="020B0503030403020204" pitchFamily="34" charset="0"/>
                <a:ea typeface="Source Sans Pro" panose="020B0503030403020204" pitchFamily="34" charset="0"/>
              </a:rPr>
              <a:t>luôn hướng tới phương án tối ưu</a:t>
            </a:r>
            <a:r>
              <a:rPr lang="vi-VN" sz="3600" i="0" u="none" strike="noStrike" dirty="0">
                <a:solidFill>
                  <a:srgbClr val="002060"/>
                </a:solidFill>
                <a:effectLst/>
                <a:latin typeface="Source Sans Pro" panose="020B0503030403020204" pitchFamily="34" charset="0"/>
                <a:ea typeface="Source Sans Pro" panose="020B0503030403020204" pitchFamily="34" charset="0"/>
              </a:rPr>
              <a:t> lợi ích/tiện ích.</a:t>
            </a:r>
          </a:p>
        </p:txBody>
      </p:sp>
      <p:sp>
        <p:nvSpPr>
          <p:cNvPr id="37" name="Freeform 2">
            <a:extLst>
              <a:ext uri="{FF2B5EF4-FFF2-40B4-BE49-F238E27FC236}">
                <a16:creationId xmlns:a16="http://schemas.microsoft.com/office/drawing/2014/main" id="{99851C24-E4E9-FCA9-3002-47A59591435A}"/>
              </a:ext>
            </a:extLst>
          </p:cNvPr>
          <p:cNvSpPr/>
          <p:nvPr/>
        </p:nvSpPr>
        <p:spPr>
          <a:xfrm>
            <a:off x="6043773" y="4633027"/>
            <a:ext cx="2338226" cy="2338226"/>
          </a:xfrm>
          <a:custGeom>
            <a:avLst/>
            <a:gdLst/>
            <a:ahLst/>
            <a:cxnLst/>
            <a:rect l="l" t="t" r="r" b="b"/>
            <a:pathLst>
              <a:path w="3304786" h="3304786">
                <a:moveTo>
                  <a:pt x="0" y="0"/>
                </a:moveTo>
                <a:lnTo>
                  <a:pt x="3304786" y="0"/>
                </a:lnTo>
                <a:lnTo>
                  <a:pt x="3304786" y="3304786"/>
                </a:lnTo>
                <a:lnTo>
                  <a:pt x="0" y="330478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38" name="Freeform 3">
            <a:extLst>
              <a:ext uri="{FF2B5EF4-FFF2-40B4-BE49-F238E27FC236}">
                <a16:creationId xmlns:a16="http://schemas.microsoft.com/office/drawing/2014/main" id="{B5872928-623D-C60D-1BBF-20DAFD3AA0DE}"/>
              </a:ext>
            </a:extLst>
          </p:cNvPr>
          <p:cNvSpPr/>
          <p:nvPr/>
        </p:nvSpPr>
        <p:spPr>
          <a:xfrm>
            <a:off x="10234773" y="4638873"/>
            <a:ext cx="2338226" cy="2332380"/>
          </a:xfrm>
          <a:custGeom>
            <a:avLst/>
            <a:gdLst/>
            <a:ahLst/>
            <a:cxnLst/>
            <a:rect l="l" t="t" r="r" b="b"/>
            <a:pathLst>
              <a:path w="3313069" h="3304786">
                <a:moveTo>
                  <a:pt x="0" y="0"/>
                </a:moveTo>
                <a:lnTo>
                  <a:pt x="3313069" y="0"/>
                </a:lnTo>
                <a:lnTo>
                  <a:pt x="3313069" y="3304786"/>
                </a:lnTo>
                <a:lnTo>
                  <a:pt x="0" y="330478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9" name="Freeform 4">
            <a:extLst>
              <a:ext uri="{FF2B5EF4-FFF2-40B4-BE49-F238E27FC236}">
                <a16:creationId xmlns:a16="http://schemas.microsoft.com/office/drawing/2014/main" id="{85D46593-70A6-6BEE-3198-91F2E93201AF}"/>
              </a:ext>
            </a:extLst>
          </p:cNvPr>
          <p:cNvSpPr/>
          <p:nvPr/>
        </p:nvSpPr>
        <p:spPr>
          <a:xfrm>
            <a:off x="14401799" y="4633027"/>
            <a:ext cx="2486373" cy="2338226"/>
          </a:xfrm>
          <a:custGeom>
            <a:avLst/>
            <a:gdLst/>
            <a:ahLst/>
            <a:cxnLst/>
            <a:rect l="l" t="t" r="r" b="b"/>
            <a:pathLst>
              <a:path w="3514173" h="3304786">
                <a:moveTo>
                  <a:pt x="0" y="0"/>
                </a:moveTo>
                <a:lnTo>
                  <a:pt x="3514173" y="0"/>
                </a:lnTo>
                <a:lnTo>
                  <a:pt x="3514173" y="3304786"/>
                </a:lnTo>
                <a:lnTo>
                  <a:pt x="0" y="330478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40" name="Freeform 5">
            <a:extLst>
              <a:ext uri="{FF2B5EF4-FFF2-40B4-BE49-F238E27FC236}">
                <a16:creationId xmlns:a16="http://schemas.microsoft.com/office/drawing/2014/main" id="{1F058C36-2881-015B-B823-B6BC7F916BD8}"/>
              </a:ext>
            </a:extLst>
          </p:cNvPr>
          <p:cNvSpPr/>
          <p:nvPr/>
        </p:nvSpPr>
        <p:spPr>
          <a:xfrm>
            <a:off x="1676400" y="4633027"/>
            <a:ext cx="2541550" cy="2338226"/>
          </a:xfrm>
          <a:custGeom>
            <a:avLst/>
            <a:gdLst/>
            <a:ahLst/>
            <a:cxnLst/>
            <a:rect l="l" t="t" r="r" b="b"/>
            <a:pathLst>
              <a:path w="3592159" h="3304786">
                <a:moveTo>
                  <a:pt x="0" y="0"/>
                </a:moveTo>
                <a:lnTo>
                  <a:pt x="3592159" y="0"/>
                </a:lnTo>
                <a:lnTo>
                  <a:pt x="3592159" y="3304786"/>
                </a:lnTo>
                <a:lnTo>
                  <a:pt x="0" y="330478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dirty="0"/>
          </a:p>
        </p:txBody>
      </p:sp>
      <p:sp>
        <p:nvSpPr>
          <p:cNvPr id="41" name="Freeform 6">
            <a:extLst>
              <a:ext uri="{FF2B5EF4-FFF2-40B4-BE49-F238E27FC236}">
                <a16:creationId xmlns:a16="http://schemas.microsoft.com/office/drawing/2014/main" id="{9093C8EF-AC55-2977-E06D-CEFECC4F63EC}"/>
              </a:ext>
            </a:extLst>
          </p:cNvPr>
          <p:cNvSpPr/>
          <p:nvPr/>
        </p:nvSpPr>
        <p:spPr>
          <a:xfrm>
            <a:off x="4518072" y="5411862"/>
            <a:ext cx="1295527" cy="780555"/>
          </a:xfrm>
          <a:custGeom>
            <a:avLst/>
            <a:gdLst/>
            <a:ahLst/>
            <a:cxnLst/>
            <a:rect l="l" t="t" r="r" b="b"/>
            <a:pathLst>
              <a:path w="1295527" h="780555">
                <a:moveTo>
                  <a:pt x="0" y="0"/>
                </a:moveTo>
                <a:lnTo>
                  <a:pt x="1295527" y="0"/>
                </a:lnTo>
                <a:lnTo>
                  <a:pt x="1295527" y="780554"/>
                </a:lnTo>
                <a:lnTo>
                  <a:pt x="0" y="780554"/>
                </a:lnTo>
                <a:lnTo>
                  <a:pt x="0" y="0"/>
                </a:lnTo>
                <a:close/>
              </a:path>
            </a:pathLst>
          </a:custGeom>
          <a:blipFill>
            <a:blip r:embed="rId13"/>
            <a:stretch>
              <a:fillRect/>
            </a:stretch>
          </a:blipFill>
        </p:spPr>
        <p:txBody>
          <a:bodyPr/>
          <a:lstStyle/>
          <a:p>
            <a:endParaRPr lang="en-US"/>
          </a:p>
        </p:txBody>
      </p:sp>
      <p:sp>
        <p:nvSpPr>
          <p:cNvPr id="42" name="Freeform 6">
            <a:extLst>
              <a:ext uri="{FF2B5EF4-FFF2-40B4-BE49-F238E27FC236}">
                <a16:creationId xmlns:a16="http://schemas.microsoft.com/office/drawing/2014/main" id="{CE8FBCA4-5A18-9EEA-37F6-656F8D307299}"/>
              </a:ext>
            </a:extLst>
          </p:cNvPr>
          <p:cNvSpPr/>
          <p:nvPr/>
        </p:nvSpPr>
        <p:spPr>
          <a:xfrm>
            <a:off x="8610599" y="5431398"/>
            <a:ext cx="1295527" cy="780555"/>
          </a:xfrm>
          <a:custGeom>
            <a:avLst/>
            <a:gdLst/>
            <a:ahLst/>
            <a:cxnLst/>
            <a:rect l="l" t="t" r="r" b="b"/>
            <a:pathLst>
              <a:path w="1295527" h="780555">
                <a:moveTo>
                  <a:pt x="0" y="0"/>
                </a:moveTo>
                <a:lnTo>
                  <a:pt x="1295527" y="0"/>
                </a:lnTo>
                <a:lnTo>
                  <a:pt x="1295527" y="780554"/>
                </a:lnTo>
                <a:lnTo>
                  <a:pt x="0" y="780554"/>
                </a:lnTo>
                <a:lnTo>
                  <a:pt x="0" y="0"/>
                </a:lnTo>
                <a:close/>
              </a:path>
            </a:pathLst>
          </a:custGeom>
          <a:blipFill>
            <a:blip r:embed="rId13"/>
            <a:stretch>
              <a:fillRect/>
            </a:stretch>
          </a:blipFill>
        </p:spPr>
        <p:txBody>
          <a:bodyPr/>
          <a:lstStyle/>
          <a:p>
            <a:endParaRPr lang="en-US"/>
          </a:p>
        </p:txBody>
      </p:sp>
      <p:sp>
        <p:nvSpPr>
          <p:cNvPr id="43" name="Freeform 6">
            <a:extLst>
              <a:ext uri="{FF2B5EF4-FFF2-40B4-BE49-F238E27FC236}">
                <a16:creationId xmlns:a16="http://schemas.microsoft.com/office/drawing/2014/main" id="{111C163F-C15D-78DC-7B89-106BEF8997A8}"/>
              </a:ext>
            </a:extLst>
          </p:cNvPr>
          <p:cNvSpPr/>
          <p:nvPr/>
        </p:nvSpPr>
        <p:spPr>
          <a:xfrm>
            <a:off x="12877672" y="5489043"/>
            <a:ext cx="1295527" cy="780555"/>
          </a:xfrm>
          <a:custGeom>
            <a:avLst/>
            <a:gdLst/>
            <a:ahLst/>
            <a:cxnLst/>
            <a:rect l="l" t="t" r="r" b="b"/>
            <a:pathLst>
              <a:path w="1295527" h="780555">
                <a:moveTo>
                  <a:pt x="0" y="0"/>
                </a:moveTo>
                <a:lnTo>
                  <a:pt x="1295527" y="0"/>
                </a:lnTo>
                <a:lnTo>
                  <a:pt x="1295527" y="780554"/>
                </a:lnTo>
                <a:lnTo>
                  <a:pt x="0" y="780554"/>
                </a:lnTo>
                <a:lnTo>
                  <a:pt x="0" y="0"/>
                </a:lnTo>
                <a:close/>
              </a:path>
            </a:pathLst>
          </a:custGeom>
          <a:blipFill>
            <a:blip r:embed="rId13"/>
            <a:stretch>
              <a:fillRect/>
            </a:stretch>
          </a:blipFill>
        </p:spPr>
        <p:txBody>
          <a:bodyPr/>
          <a:lstStyle/>
          <a:p>
            <a:endParaRPr lang="en-US"/>
          </a:p>
        </p:txBody>
      </p:sp>
      <p:sp>
        <p:nvSpPr>
          <p:cNvPr id="44" name="TextBox 5">
            <a:extLst>
              <a:ext uri="{FF2B5EF4-FFF2-40B4-BE49-F238E27FC236}">
                <a16:creationId xmlns:a16="http://schemas.microsoft.com/office/drawing/2014/main" id="{DB20C121-C7E2-A16B-1B0F-1CD97C048546}"/>
              </a:ext>
            </a:extLst>
          </p:cNvPr>
          <p:cNvSpPr txBox="1"/>
          <p:nvPr/>
        </p:nvSpPr>
        <p:spPr>
          <a:xfrm>
            <a:off x="1328058" y="3926629"/>
            <a:ext cx="15664541" cy="553998"/>
          </a:xfrm>
          <a:prstGeom prst="rect">
            <a:avLst/>
          </a:prstGeom>
        </p:spPr>
        <p:txBody>
          <a:bodyPr wrap="square" lIns="0" tIns="0" rIns="0" bIns="0" rtlCol="0" anchor="ctr">
            <a:spAutoFit/>
          </a:bodyPr>
          <a:lstStyle/>
          <a:p>
            <a:pPr algn="just"/>
            <a:r>
              <a:rPr lang="en-US" sz="3600" i="0" u="none" strike="noStrike" dirty="0">
                <a:solidFill>
                  <a:srgbClr val="002060"/>
                </a:solidFill>
                <a:effectLst/>
                <a:latin typeface="Source Sans Pro" panose="020B0503030403020204" pitchFamily="34" charset="0"/>
                <a:ea typeface="Source Sans Pro" panose="020B0503030403020204" pitchFamily="34" charset="0"/>
              </a:rPr>
              <a:t>Con </a:t>
            </a:r>
            <a:r>
              <a:rPr lang="en-US" sz="3600" i="0" u="none" strike="noStrike" dirty="0" err="1">
                <a:solidFill>
                  <a:srgbClr val="002060"/>
                </a:solidFill>
                <a:effectLst/>
                <a:latin typeface="Source Sans Pro" panose="020B0503030403020204" pitchFamily="34" charset="0"/>
                <a:ea typeface="Source Sans Pro" panose="020B0503030403020204" pitchFamily="34" charset="0"/>
              </a:rPr>
              <a:t>người</a:t>
            </a:r>
            <a:r>
              <a:rPr lang="en-US" sz="3600"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i="0" u="none" strike="noStrike" dirty="0" err="1">
                <a:solidFill>
                  <a:srgbClr val="002060"/>
                </a:solidFill>
                <a:effectLst/>
                <a:latin typeface="Source Sans Pro" panose="020B0503030403020204" pitchFamily="34" charset="0"/>
                <a:ea typeface="Source Sans Pro" panose="020B0503030403020204" pitchFamily="34" charset="0"/>
              </a:rPr>
              <a:t>quyết</a:t>
            </a:r>
            <a:r>
              <a:rPr lang="en-US" sz="3600"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i="0" u="none" strike="noStrike" dirty="0" err="1">
                <a:solidFill>
                  <a:srgbClr val="002060"/>
                </a:solidFill>
                <a:effectLst/>
                <a:latin typeface="Source Sans Pro" panose="020B0503030403020204" pitchFamily="34" charset="0"/>
                <a:ea typeface="Source Sans Pro" panose="020B0503030403020204" pitchFamily="34" charset="0"/>
              </a:rPr>
              <a:t>định</a:t>
            </a:r>
            <a:r>
              <a:rPr lang="en-US" sz="3600"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i="0" u="none" strike="noStrike" dirty="0" err="1">
                <a:solidFill>
                  <a:srgbClr val="002060"/>
                </a:solidFill>
                <a:effectLst/>
                <a:latin typeface="Source Sans Pro" panose="020B0503030403020204" pitchFamily="34" charset="0"/>
                <a:ea typeface="Source Sans Pro" panose="020B0503030403020204" pitchFamily="34" charset="0"/>
              </a:rPr>
              <a:t>giống</a:t>
            </a:r>
            <a:r>
              <a:rPr lang="en-US" sz="3600"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i="0" u="none" strike="noStrike" dirty="0" err="1">
                <a:solidFill>
                  <a:srgbClr val="002060"/>
                </a:solidFill>
                <a:effectLst/>
                <a:latin typeface="Source Sans Pro" panose="020B0503030403020204" pitchFamily="34" charset="0"/>
                <a:ea typeface="Source Sans Pro" panose="020B0503030403020204" pitchFamily="34" charset="0"/>
              </a:rPr>
              <a:t>như</a:t>
            </a:r>
            <a:r>
              <a:rPr lang="en-US" sz="3600"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i="0" u="none" strike="noStrike" dirty="0" err="1">
                <a:solidFill>
                  <a:srgbClr val="002060"/>
                </a:solidFill>
                <a:effectLst/>
                <a:latin typeface="Source Sans Pro" panose="020B0503030403020204" pitchFamily="34" charset="0"/>
                <a:ea typeface="Source Sans Pro" panose="020B0503030403020204" pitchFamily="34" charset="0"/>
              </a:rPr>
              <a:t>máy</a:t>
            </a:r>
            <a:r>
              <a:rPr lang="en-US" sz="3600"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i="0" u="none" strike="noStrike" dirty="0" err="1">
                <a:solidFill>
                  <a:srgbClr val="002060"/>
                </a:solidFill>
                <a:effectLst/>
                <a:latin typeface="Source Sans Pro" panose="020B0503030403020204" pitchFamily="34" charset="0"/>
                <a:ea typeface="Source Sans Pro" panose="020B0503030403020204" pitchFamily="34" charset="0"/>
              </a:rPr>
              <a:t>suy</a:t>
            </a:r>
            <a:r>
              <a:rPr lang="en-US" sz="3600"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i="0" u="none" strike="noStrike" dirty="0" err="1">
                <a:solidFill>
                  <a:srgbClr val="002060"/>
                </a:solidFill>
                <a:effectLst/>
                <a:latin typeface="Source Sans Pro" panose="020B0503030403020204" pitchFamily="34" charset="0"/>
                <a:ea typeface="Source Sans Pro" panose="020B0503030403020204" pitchFamily="34" charset="0"/>
              </a:rPr>
              <a:t>luận</a:t>
            </a:r>
            <a:r>
              <a:rPr lang="en-US" sz="3600" i="0" u="none" strike="noStrike" dirty="0">
                <a:solidFill>
                  <a:srgbClr val="002060"/>
                </a:solidFill>
                <a:effectLst/>
                <a:latin typeface="Source Sans Pro" panose="020B0503030403020204" pitchFamily="34" charset="0"/>
                <a:ea typeface="Source Sans Pro" panose="020B0503030403020204" pitchFamily="34" charset="0"/>
              </a:rPr>
              <a:t>”:</a:t>
            </a:r>
            <a:endParaRPr lang="vi-VN" sz="3600" i="0" u="none" strike="noStrike" dirty="0">
              <a:solidFill>
                <a:srgbClr val="002060"/>
              </a:solidFill>
              <a:effectLst/>
              <a:latin typeface="Source Sans Pro" panose="020B0503030403020204" pitchFamily="34" charset="0"/>
              <a:ea typeface="Source Sans Pro" panose="020B0503030403020204" pitchFamily="34" charset="0"/>
            </a:endParaRPr>
          </a:p>
        </p:txBody>
      </p:sp>
      <p:sp>
        <p:nvSpPr>
          <p:cNvPr id="45" name="TextBox 5">
            <a:extLst>
              <a:ext uri="{FF2B5EF4-FFF2-40B4-BE49-F238E27FC236}">
                <a16:creationId xmlns:a16="http://schemas.microsoft.com/office/drawing/2014/main" id="{882C30A3-CD7B-D342-6DE1-F872D1F723CE}"/>
              </a:ext>
            </a:extLst>
          </p:cNvPr>
          <p:cNvSpPr txBox="1"/>
          <p:nvPr/>
        </p:nvSpPr>
        <p:spPr>
          <a:xfrm>
            <a:off x="1328059" y="7456765"/>
            <a:ext cx="1872342" cy="553998"/>
          </a:xfrm>
          <a:prstGeom prst="rect">
            <a:avLst/>
          </a:prstGeom>
        </p:spPr>
        <p:txBody>
          <a:bodyPr wrap="square" lIns="0" tIns="0" rIns="0" bIns="0" rtlCol="0" anchor="ctr">
            <a:spAutoFit/>
          </a:bodyPr>
          <a:lstStyle/>
          <a:p>
            <a:pPr algn="just"/>
            <a:r>
              <a:rPr lang="en-US" sz="3600" b="1" u="sng" strike="noStrike" dirty="0" err="1">
                <a:solidFill>
                  <a:srgbClr val="002060"/>
                </a:solidFill>
                <a:effectLst/>
                <a:latin typeface="Source Sans Pro" panose="020B0503030403020204" pitchFamily="34" charset="0"/>
                <a:ea typeface="Source Sans Pro" panose="020B0503030403020204" pitchFamily="34" charset="0"/>
              </a:rPr>
              <a:t>Hạn</a:t>
            </a:r>
            <a:r>
              <a:rPr lang="en-US" sz="3600" b="1" u="sng" strike="noStrike" dirty="0">
                <a:solidFill>
                  <a:srgbClr val="002060"/>
                </a:solidFill>
                <a:effectLst/>
                <a:latin typeface="Source Sans Pro" panose="020B0503030403020204" pitchFamily="34" charset="0"/>
                <a:ea typeface="Source Sans Pro" panose="020B0503030403020204" pitchFamily="34" charset="0"/>
              </a:rPr>
              <a:t> </a:t>
            </a:r>
            <a:r>
              <a:rPr lang="en-US" sz="3600" b="1" u="sng" strike="noStrike" dirty="0" err="1">
                <a:solidFill>
                  <a:srgbClr val="002060"/>
                </a:solidFill>
                <a:effectLst/>
                <a:latin typeface="Source Sans Pro" panose="020B0503030403020204" pitchFamily="34" charset="0"/>
                <a:ea typeface="Source Sans Pro" panose="020B0503030403020204" pitchFamily="34" charset="0"/>
              </a:rPr>
              <a:t>chế</a:t>
            </a:r>
            <a:r>
              <a:rPr lang="en-US" sz="3600" b="1" u="sng" strike="noStrike" dirty="0">
                <a:solidFill>
                  <a:srgbClr val="002060"/>
                </a:solidFill>
                <a:effectLst/>
                <a:latin typeface="Source Sans Pro" panose="020B0503030403020204" pitchFamily="34" charset="0"/>
                <a:ea typeface="Source Sans Pro" panose="020B0503030403020204" pitchFamily="34" charset="0"/>
              </a:rPr>
              <a:t>:</a:t>
            </a:r>
            <a:endParaRPr lang="vi-VN" sz="3600" b="1" u="sng" strike="noStrike" dirty="0">
              <a:solidFill>
                <a:srgbClr val="002060"/>
              </a:solidFill>
              <a:effectLst/>
              <a:latin typeface="Source Sans Pro" panose="020B0503030403020204" pitchFamily="34" charset="0"/>
              <a:ea typeface="Source Sans Pro" panose="020B0503030403020204" pitchFamily="34" charset="0"/>
            </a:endParaRPr>
          </a:p>
        </p:txBody>
      </p:sp>
      <p:sp>
        <p:nvSpPr>
          <p:cNvPr id="46" name="TextBox 5">
            <a:extLst>
              <a:ext uri="{FF2B5EF4-FFF2-40B4-BE49-F238E27FC236}">
                <a16:creationId xmlns:a16="http://schemas.microsoft.com/office/drawing/2014/main" id="{B405C789-42BC-99CE-11EB-8569A402DA47}"/>
              </a:ext>
            </a:extLst>
          </p:cNvPr>
          <p:cNvSpPr txBox="1"/>
          <p:nvPr/>
        </p:nvSpPr>
        <p:spPr>
          <a:xfrm>
            <a:off x="3276600" y="8102984"/>
            <a:ext cx="15664541" cy="553998"/>
          </a:xfrm>
          <a:prstGeom prst="rect">
            <a:avLst/>
          </a:prstGeom>
        </p:spPr>
        <p:txBody>
          <a:bodyPr wrap="square" lIns="0" tIns="0" rIns="0" bIns="0" rtlCol="0" anchor="ctr">
            <a:spAutoFit/>
          </a:bodyPr>
          <a:lstStyle/>
          <a:p>
            <a:pPr algn="just"/>
            <a:r>
              <a:rPr lang="en-US" sz="3600" dirty="0">
                <a:solidFill>
                  <a:srgbClr val="002060"/>
                </a:solidFill>
                <a:latin typeface="Source Sans Pro" panose="020B0503030403020204" pitchFamily="34" charset="0"/>
                <a:ea typeface="Source Sans Pro" panose="020B0503030403020204" pitchFamily="34" charset="0"/>
              </a:rPr>
              <a:t>T</a:t>
            </a:r>
            <a:r>
              <a:rPr lang="vi-VN" sz="3600" strike="noStrike" dirty="0">
                <a:solidFill>
                  <a:srgbClr val="002060"/>
                </a:solidFill>
                <a:effectLst/>
                <a:latin typeface="Source Sans Pro" panose="020B0503030403020204" pitchFamily="34" charset="0"/>
                <a:ea typeface="Source Sans Pro" panose="020B0503030403020204" pitchFamily="34" charset="0"/>
              </a:rPr>
              <a:t>hường nhảy cóc giữa các ý và bị bối cảnh chi phối. </a:t>
            </a:r>
          </a:p>
        </p:txBody>
      </p:sp>
      <p:sp>
        <p:nvSpPr>
          <p:cNvPr id="48" name="TextBox 47">
            <a:extLst>
              <a:ext uri="{FF2B5EF4-FFF2-40B4-BE49-F238E27FC236}">
                <a16:creationId xmlns:a16="http://schemas.microsoft.com/office/drawing/2014/main" id="{9D0DD4DC-AE6B-373F-2DFF-C37A6202FFF2}"/>
              </a:ext>
            </a:extLst>
          </p:cNvPr>
          <p:cNvSpPr txBox="1"/>
          <p:nvPr/>
        </p:nvSpPr>
        <p:spPr>
          <a:xfrm>
            <a:off x="1202669" y="8764369"/>
            <a:ext cx="13533120" cy="646331"/>
          </a:xfrm>
          <a:prstGeom prst="rect">
            <a:avLst/>
          </a:prstGeom>
          <a:noFill/>
        </p:spPr>
        <p:txBody>
          <a:bodyPr wrap="square">
            <a:spAutoFit/>
          </a:bodyPr>
          <a:lstStyle/>
          <a:p>
            <a:r>
              <a:rPr lang="en-US" sz="3600" b="1" strike="noStrike" dirty="0">
                <a:solidFill>
                  <a:srgbClr val="002060"/>
                </a:solidFill>
                <a:effectLst/>
                <a:latin typeface="Source Sans Pro" panose="020B0503030403020204" pitchFamily="34" charset="0"/>
                <a:ea typeface="Source Sans Pro" panose="020B0503030403020204" pitchFamily="34" charset="0"/>
                <a:sym typeface="Wingdings" panose="05000000000000000000" pitchFamily="2" charset="2"/>
              </a:rPr>
              <a:t> H</a:t>
            </a:r>
            <a:r>
              <a:rPr lang="vi-VN" sz="3600" b="1" strike="noStrike" dirty="0">
                <a:solidFill>
                  <a:srgbClr val="002060"/>
                </a:solidFill>
                <a:effectLst/>
                <a:latin typeface="Source Sans Pro" panose="020B0503030403020204" pitchFamily="34" charset="0"/>
                <a:ea typeface="Source Sans Pro" panose="020B0503030403020204" pitchFamily="34" charset="0"/>
              </a:rPr>
              <a:t>ành vi thật sự nhiều khi khác với dự đoán của mô hình này.</a:t>
            </a:r>
            <a:endParaRPr lang="en-US" sz="3600" b="1" dirty="0"/>
          </a:p>
        </p:txBody>
      </p:sp>
      <p:sp>
        <p:nvSpPr>
          <p:cNvPr id="50" name="TextBox 49">
            <a:extLst>
              <a:ext uri="{FF2B5EF4-FFF2-40B4-BE49-F238E27FC236}">
                <a16:creationId xmlns:a16="http://schemas.microsoft.com/office/drawing/2014/main" id="{39B6DA42-B368-32BC-8D6F-DA62DE58BBAA}"/>
              </a:ext>
            </a:extLst>
          </p:cNvPr>
          <p:cNvSpPr txBox="1"/>
          <p:nvPr/>
        </p:nvSpPr>
        <p:spPr>
          <a:xfrm>
            <a:off x="3200401" y="7406766"/>
            <a:ext cx="13759540" cy="646331"/>
          </a:xfrm>
          <a:prstGeom prst="rect">
            <a:avLst/>
          </a:prstGeom>
          <a:noFill/>
        </p:spPr>
        <p:txBody>
          <a:bodyPr wrap="square">
            <a:spAutoFit/>
          </a:bodyPr>
          <a:lstStyle/>
          <a:p>
            <a:r>
              <a:rPr lang="en-US" sz="3600" strike="noStrike" dirty="0">
                <a:solidFill>
                  <a:srgbClr val="002060"/>
                </a:solidFill>
                <a:effectLst/>
                <a:latin typeface="Source Sans Pro" panose="020B0503030403020204" pitchFamily="34" charset="0"/>
                <a:ea typeface="Source Sans Pro" panose="020B0503030403020204" pitchFamily="34" charset="0"/>
              </a:rPr>
              <a:t>Suy </a:t>
            </a:r>
            <a:r>
              <a:rPr lang="en-US" sz="3600" strike="noStrike" dirty="0" err="1">
                <a:solidFill>
                  <a:srgbClr val="002060"/>
                </a:solidFill>
                <a:effectLst/>
                <a:latin typeface="Source Sans Pro" panose="020B0503030403020204" pitchFamily="34" charset="0"/>
                <a:ea typeface="Source Sans Pro" panose="020B0503030403020204" pitchFamily="34" charset="0"/>
              </a:rPr>
              <a:t>ngh</a:t>
            </a:r>
            <a:r>
              <a:rPr lang="en-US" sz="3600" dirty="0" err="1">
                <a:solidFill>
                  <a:srgbClr val="002060"/>
                </a:solidFill>
                <a:latin typeface="Source Sans Pro" panose="020B0503030403020204" pitchFamily="34" charset="0"/>
                <a:ea typeface="Source Sans Pro" panose="020B0503030403020204" pitchFamily="34" charset="0"/>
              </a:rPr>
              <a:t>ĩ</a:t>
            </a:r>
            <a:r>
              <a:rPr lang="en-US" sz="3600" dirty="0">
                <a:solidFill>
                  <a:srgbClr val="002060"/>
                </a:solidFill>
                <a:latin typeface="Source Sans Pro" panose="020B0503030403020204" pitchFamily="34" charset="0"/>
                <a:ea typeface="Source Sans Pro" panose="020B0503030403020204" pitchFamily="34" charset="0"/>
              </a:rPr>
              <a:t> </a:t>
            </a:r>
            <a:r>
              <a:rPr lang="en-US" sz="3600" dirty="0" err="1">
                <a:solidFill>
                  <a:srgbClr val="002060"/>
                </a:solidFill>
                <a:latin typeface="Source Sans Pro" panose="020B0503030403020204" pitchFamily="34" charset="0"/>
                <a:ea typeface="Source Sans Pro" panose="020B0503030403020204" pitchFamily="34" charset="0"/>
              </a:rPr>
              <a:t>không</a:t>
            </a:r>
            <a:r>
              <a:rPr lang="en-US" sz="3600" dirty="0">
                <a:solidFill>
                  <a:srgbClr val="002060"/>
                </a:solidFill>
                <a:latin typeface="Source Sans Pro" panose="020B0503030403020204" pitchFamily="34" charset="0"/>
                <a:ea typeface="Source Sans Pro" panose="020B0503030403020204" pitchFamily="34" charset="0"/>
              </a:rPr>
              <a:t> </a:t>
            </a:r>
            <a:r>
              <a:rPr lang="en-US" sz="3600" dirty="0" err="1">
                <a:solidFill>
                  <a:srgbClr val="002060"/>
                </a:solidFill>
                <a:latin typeface="Source Sans Pro" panose="020B0503030403020204" pitchFamily="34" charset="0"/>
                <a:ea typeface="Source Sans Pro" panose="020B0503030403020204" pitchFamily="34" charset="0"/>
              </a:rPr>
              <a:t>đi</a:t>
            </a:r>
            <a:r>
              <a:rPr lang="en-US" sz="3600" dirty="0">
                <a:solidFill>
                  <a:srgbClr val="002060"/>
                </a:solidFill>
                <a:latin typeface="Source Sans Pro" panose="020B0503030403020204" pitchFamily="34" charset="0"/>
                <a:ea typeface="Source Sans Pro" panose="020B0503030403020204" pitchFamily="34" charset="0"/>
              </a:rPr>
              <a:t> một </a:t>
            </a:r>
            <a:r>
              <a:rPr lang="en-US" sz="3600" dirty="0" err="1">
                <a:solidFill>
                  <a:srgbClr val="002060"/>
                </a:solidFill>
                <a:latin typeface="Source Sans Pro" panose="020B0503030403020204" pitchFamily="34" charset="0"/>
                <a:ea typeface="Source Sans Pro" panose="020B0503030403020204" pitchFamily="34" charset="0"/>
              </a:rPr>
              <a:t>mạch</a:t>
            </a:r>
            <a:r>
              <a:rPr lang="en-US" sz="3600" dirty="0">
                <a:solidFill>
                  <a:srgbClr val="002060"/>
                </a:solidFill>
                <a:latin typeface="Source Sans Pro" panose="020B0503030403020204" pitchFamily="34" charset="0"/>
                <a:ea typeface="Source Sans Pro" panose="020B0503030403020204" pitchFamily="34" charset="0"/>
              </a:rPr>
              <a:t>, </a:t>
            </a:r>
            <a:r>
              <a:rPr lang="en-US" sz="3600" dirty="0" err="1">
                <a:solidFill>
                  <a:srgbClr val="002060"/>
                </a:solidFill>
                <a:latin typeface="Source Sans Pro" panose="020B0503030403020204" pitchFamily="34" charset="0"/>
                <a:ea typeface="Source Sans Pro" panose="020B0503030403020204" pitchFamily="34" charset="0"/>
              </a:rPr>
              <a:t>thường</a:t>
            </a:r>
            <a:r>
              <a:rPr lang="en-US" sz="3600" dirty="0">
                <a:solidFill>
                  <a:srgbClr val="002060"/>
                </a:solidFill>
                <a:latin typeface="Source Sans Pro" panose="020B0503030403020204" pitchFamily="34" charset="0"/>
                <a:ea typeface="Source Sans Pro" panose="020B0503030403020204" pitchFamily="34" charset="0"/>
              </a:rPr>
              <a:t> </a:t>
            </a:r>
            <a:r>
              <a:rPr lang="en-US" sz="3600" dirty="0" err="1">
                <a:solidFill>
                  <a:srgbClr val="002060"/>
                </a:solidFill>
                <a:latin typeface="Source Sans Pro" panose="020B0503030403020204" pitchFamily="34" charset="0"/>
                <a:ea typeface="Source Sans Pro" panose="020B0503030403020204" pitchFamily="34" charset="0"/>
              </a:rPr>
              <a:t>dựa</a:t>
            </a:r>
            <a:r>
              <a:rPr lang="en-US" sz="3600" dirty="0">
                <a:solidFill>
                  <a:srgbClr val="002060"/>
                </a:solidFill>
                <a:latin typeface="Source Sans Pro" panose="020B0503030403020204" pitchFamily="34" charset="0"/>
                <a:ea typeface="Source Sans Pro" panose="020B0503030403020204" pitchFamily="34" charset="0"/>
              </a:rPr>
              <a:t> </a:t>
            </a:r>
            <a:r>
              <a:rPr lang="en-US" sz="3600" dirty="0" err="1">
                <a:solidFill>
                  <a:srgbClr val="002060"/>
                </a:solidFill>
                <a:latin typeface="Source Sans Pro" panose="020B0503030403020204" pitchFamily="34" charset="0"/>
                <a:ea typeface="Source Sans Pro" panose="020B0503030403020204" pitchFamily="34" charset="0"/>
              </a:rPr>
              <a:t>vào</a:t>
            </a:r>
            <a:r>
              <a:rPr lang="en-US" sz="3600" dirty="0">
                <a:solidFill>
                  <a:srgbClr val="002060"/>
                </a:solidFill>
                <a:latin typeface="Source Sans Pro" panose="020B0503030403020204" pitchFamily="34" charset="0"/>
                <a:ea typeface="Source Sans Pro" panose="020B0503030403020204" pitchFamily="34" charset="0"/>
              </a:rPr>
              <a:t> </a:t>
            </a:r>
            <a:r>
              <a:rPr lang="en-US" sz="3600" dirty="0" err="1">
                <a:solidFill>
                  <a:srgbClr val="002060"/>
                </a:solidFill>
                <a:latin typeface="Source Sans Pro" panose="020B0503030403020204" pitchFamily="34" charset="0"/>
                <a:ea typeface="Source Sans Pro" panose="020B0503030403020204" pitchFamily="34" charset="0"/>
              </a:rPr>
              <a:t>trải</a:t>
            </a:r>
            <a:r>
              <a:rPr lang="en-US" sz="3600" dirty="0">
                <a:solidFill>
                  <a:srgbClr val="002060"/>
                </a:solidFill>
                <a:latin typeface="Source Sans Pro" panose="020B0503030403020204" pitchFamily="34" charset="0"/>
                <a:ea typeface="Source Sans Pro" panose="020B0503030403020204" pitchFamily="34" charset="0"/>
              </a:rPr>
              <a:t> </a:t>
            </a:r>
            <a:r>
              <a:rPr lang="en-US" sz="3600" dirty="0" err="1">
                <a:solidFill>
                  <a:srgbClr val="002060"/>
                </a:solidFill>
                <a:latin typeface="Source Sans Pro" panose="020B0503030403020204" pitchFamily="34" charset="0"/>
                <a:ea typeface="Source Sans Pro" panose="020B0503030403020204" pitchFamily="34" charset="0"/>
              </a:rPr>
              <a:t>nghiệm</a:t>
            </a:r>
            <a:r>
              <a:rPr lang="en-US" sz="3600" dirty="0">
                <a:solidFill>
                  <a:srgbClr val="002060"/>
                </a:solidFill>
                <a:latin typeface="Source Sans Pro" panose="020B0503030403020204" pitchFamily="34" charset="0"/>
                <a:ea typeface="Source Sans Pro" panose="020B0503030403020204" pitchFamily="34" charset="0"/>
              </a:rPr>
              <a:t> </a:t>
            </a:r>
            <a:r>
              <a:rPr lang="en-US" sz="3600" dirty="0" err="1">
                <a:solidFill>
                  <a:srgbClr val="002060"/>
                </a:solidFill>
                <a:latin typeface="Source Sans Pro" panose="020B0503030403020204" pitchFamily="34" charset="0"/>
                <a:ea typeface="Source Sans Pro" panose="020B0503030403020204" pitchFamily="34" charset="0"/>
              </a:rPr>
              <a:t>và</a:t>
            </a:r>
            <a:r>
              <a:rPr lang="en-US" sz="3600" dirty="0">
                <a:solidFill>
                  <a:srgbClr val="002060"/>
                </a:solidFill>
                <a:latin typeface="Source Sans Pro" panose="020B0503030403020204" pitchFamily="34" charset="0"/>
                <a:ea typeface="Source Sans Pro" panose="020B0503030403020204" pitchFamily="34" charset="0"/>
              </a:rPr>
              <a:t> </a:t>
            </a:r>
            <a:r>
              <a:rPr lang="en-US" sz="3600" dirty="0" err="1">
                <a:solidFill>
                  <a:srgbClr val="002060"/>
                </a:solidFill>
                <a:latin typeface="Source Sans Pro" panose="020B0503030403020204" pitchFamily="34" charset="0"/>
                <a:ea typeface="Source Sans Pro" panose="020B0503030403020204" pitchFamily="34" charset="0"/>
              </a:rPr>
              <a:t>liên</a:t>
            </a:r>
            <a:r>
              <a:rPr lang="en-US" sz="3600" dirty="0">
                <a:solidFill>
                  <a:srgbClr val="002060"/>
                </a:solidFill>
                <a:latin typeface="Source Sans Pro" panose="020B0503030403020204" pitchFamily="34" charset="0"/>
                <a:ea typeface="Source Sans Pro" panose="020B0503030403020204" pitchFamily="34" charset="0"/>
              </a:rPr>
              <a:t> </a:t>
            </a:r>
            <a:r>
              <a:rPr lang="en-US" sz="3600" dirty="0" err="1">
                <a:solidFill>
                  <a:srgbClr val="002060"/>
                </a:solidFill>
                <a:latin typeface="Source Sans Pro" panose="020B0503030403020204" pitchFamily="34" charset="0"/>
                <a:ea typeface="Source Sans Pro" panose="020B0503030403020204" pitchFamily="34" charset="0"/>
              </a:rPr>
              <a:t>tưởng</a:t>
            </a:r>
            <a:r>
              <a:rPr lang="en-US" sz="3600" dirty="0">
                <a:solidFill>
                  <a:srgbClr val="002060"/>
                </a:solidFill>
                <a:latin typeface="Source Sans Pro" panose="020B0503030403020204" pitchFamily="34" charset="0"/>
                <a:ea typeface="Source Sans Pro" panose="020B0503030403020204" pitchFamily="34" charset="0"/>
              </a:rPr>
              <a:t> </a:t>
            </a:r>
            <a:endParaRPr lang="en-US" sz="3600" dirty="0"/>
          </a:p>
        </p:txBody>
      </p:sp>
    </p:spTree>
    <p:extLst>
      <p:ext uri="{BB962C8B-B14F-4D97-AF65-F5344CB8AC3E}">
        <p14:creationId xmlns:p14="http://schemas.microsoft.com/office/powerpoint/2010/main" val="32054411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ipe(left)">
                                      <p:cBhvr>
                                        <p:cTn id="17" dur="5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wipe(left)">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left)">
                                      <p:cBhvr>
                                        <p:cTn id="32" dur="5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wipe(left)">
                                      <p:cBhvr>
                                        <p:cTn id="37" dur="5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wipe(left)">
                                      <p:cBhvr>
                                        <p:cTn id="42" dur="5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wipe(left)">
                                      <p:cBhvr>
                                        <p:cTn id="47" dur="500"/>
                                        <p:tgtEl>
                                          <p:spTgt spid="3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500"/>
                                        <p:tgtEl>
                                          <p:spTgt spid="4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fade">
                                      <p:cBhvr>
                                        <p:cTn id="55" dur="500"/>
                                        <p:tgtEl>
                                          <p:spTgt spid="5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fade">
                                      <p:cBhvr>
                                        <p:cTn id="58" dur="500"/>
                                        <p:tgtEl>
                                          <p:spTgt spid="4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fade">
                                      <p:cBhvr>
                                        <p:cTn id="6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7" grpId="0" animBg="1"/>
      <p:bldP spid="38" grpId="0" animBg="1"/>
      <p:bldP spid="39" grpId="0" animBg="1"/>
      <p:bldP spid="40" grpId="0" animBg="1"/>
      <p:bldP spid="41" grpId="0" animBg="1"/>
      <p:bldP spid="42" grpId="0" animBg="1"/>
      <p:bldP spid="43" grpId="0" animBg="1"/>
      <p:bldP spid="44" grpId="0"/>
      <p:bldP spid="45" grpId="0"/>
      <p:bldP spid="46" grpId="0"/>
      <p:bldP spid="48" grpId="0"/>
      <p:bldP spid="50"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521B10EA-8AC4-9CB2-ED9A-957EB47026BD}"/>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F64BFD73-6809-53AE-BB74-10347E3EB3DA}"/>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43284EC2-A215-5700-B160-A92D26478CED}"/>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D53D88CB-E305-6D81-9D3A-F9E9BF320E98}"/>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2B925E4B-ADAB-A88D-EC95-51248034DE50}"/>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CCA7382F-895D-2BC9-71DD-C626A9B56F3A}"/>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II</a:t>
            </a:r>
          </a:p>
        </p:txBody>
      </p:sp>
      <p:sp>
        <p:nvSpPr>
          <p:cNvPr id="27" name="TextBox 26">
            <a:extLst>
              <a:ext uri="{FF2B5EF4-FFF2-40B4-BE49-F238E27FC236}">
                <a16:creationId xmlns:a16="http://schemas.microsoft.com/office/drawing/2014/main" id="{FF45CCBB-3F66-A28A-DE2E-162382E4DC1F}"/>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SAI LẦM</a:t>
            </a:r>
          </a:p>
        </p:txBody>
      </p:sp>
      <p:pic>
        <p:nvPicPr>
          <p:cNvPr id="28" name="Picture 27" descr="A blue logo with a black background&#10;&#10;AI-generated content may be incorrect.">
            <a:extLst>
              <a:ext uri="{FF2B5EF4-FFF2-40B4-BE49-F238E27FC236}">
                <a16:creationId xmlns:a16="http://schemas.microsoft.com/office/drawing/2014/main" id="{6ADA8986-58E6-F46A-BF0C-3BDD17F4F223}"/>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EBD9092E-A9DA-ADF8-357D-1CD660ACCDAB}"/>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B679DD56-C6D8-825D-61CE-7A24FCE38087}"/>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22</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3" name="TextBox 2">
            <a:extLst>
              <a:ext uri="{FF2B5EF4-FFF2-40B4-BE49-F238E27FC236}">
                <a16:creationId xmlns:a16="http://schemas.microsoft.com/office/drawing/2014/main" id="{A2EA3650-D6A7-2DD7-94E3-C52357561DF9}"/>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Một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số</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mô</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hình</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tư</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duy</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của</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con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người</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grpSp>
        <p:nvGrpSpPr>
          <p:cNvPr id="19" name="Group 18">
            <a:extLst>
              <a:ext uri="{FF2B5EF4-FFF2-40B4-BE49-F238E27FC236}">
                <a16:creationId xmlns:a16="http://schemas.microsoft.com/office/drawing/2014/main" id="{B5807B9D-E8CE-5F53-2DE4-D30E8AFA5F16}"/>
              </a:ext>
            </a:extLst>
          </p:cNvPr>
          <p:cNvGrpSpPr/>
          <p:nvPr/>
        </p:nvGrpSpPr>
        <p:grpSpPr>
          <a:xfrm>
            <a:off x="1328058" y="1620703"/>
            <a:ext cx="15631884" cy="658332"/>
            <a:chOff x="1328058" y="1593774"/>
            <a:chExt cx="15631884" cy="658332"/>
          </a:xfrm>
        </p:grpSpPr>
        <p:grpSp>
          <p:nvGrpSpPr>
            <p:cNvPr id="16" name="Group 15">
              <a:extLst>
                <a:ext uri="{FF2B5EF4-FFF2-40B4-BE49-F238E27FC236}">
                  <a16:creationId xmlns:a16="http://schemas.microsoft.com/office/drawing/2014/main" id="{17D9E08F-7E96-82BF-A293-34CEB0261521}"/>
                </a:ext>
              </a:extLst>
            </p:cNvPr>
            <p:cNvGrpSpPr/>
            <p:nvPr/>
          </p:nvGrpSpPr>
          <p:grpSpPr>
            <a:xfrm>
              <a:off x="1328058" y="1636199"/>
              <a:ext cx="15631884" cy="615907"/>
              <a:chOff x="1552950" y="5217569"/>
              <a:chExt cx="13163695" cy="678624"/>
            </a:xfrm>
          </p:grpSpPr>
          <p:sp>
            <p:nvSpPr>
              <p:cNvPr id="17" name="Rectangle: Diagonal Corners Snipped 16">
                <a:extLst>
                  <a:ext uri="{FF2B5EF4-FFF2-40B4-BE49-F238E27FC236}">
                    <a16:creationId xmlns:a16="http://schemas.microsoft.com/office/drawing/2014/main" id="{E8653E0D-0CB2-C7C7-B08B-F3130CCDFFBB}"/>
                  </a:ext>
                </a:extLst>
              </p:cNvPr>
              <p:cNvSpPr/>
              <p:nvPr/>
            </p:nvSpPr>
            <p:spPr>
              <a:xfrm flipV="1">
                <a:off x="1552950" y="5219888"/>
                <a:ext cx="13163695" cy="676305"/>
              </a:xfrm>
              <a:prstGeom prst="snip2DiagRect">
                <a:avLst>
                  <a:gd name="adj1" fmla="val 40647"/>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37E57465-EE8D-BE6B-9DD9-F74E530B85CE}"/>
                  </a:ext>
                </a:extLst>
              </p:cNvPr>
              <p:cNvSpPr txBox="1"/>
              <p:nvPr/>
            </p:nvSpPr>
            <p:spPr>
              <a:xfrm>
                <a:off x="7749787" y="5217569"/>
                <a:ext cx="5518486" cy="644321"/>
              </a:xfrm>
              <a:prstGeom prst="rect">
                <a:avLst/>
              </a:prstGeom>
              <a:noFill/>
            </p:spPr>
            <p:txBody>
              <a:bodyPr wrap="square" rtlCol="0">
                <a:spAutoFit/>
              </a:bodyPr>
              <a:lstStyle/>
              <a:p>
                <a:pPr algn="ct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hình</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“Album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ảnh</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của</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trí</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nhớ</a:t>
                </a:r>
                <a:endPar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p:txBody>
          </p:sp>
        </p:grpSp>
        <p:grpSp>
          <p:nvGrpSpPr>
            <p:cNvPr id="4" name="Group 3">
              <a:extLst>
                <a:ext uri="{FF2B5EF4-FFF2-40B4-BE49-F238E27FC236}">
                  <a16:creationId xmlns:a16="http://schemas.microsoft.com/office/drawing/2014/main" id="{7F4E7F91-0242-9CA7-CB3B-A01855DD0D3A}"/>
                </a:ext>
              </a:extLst>
            </p:cNvPr>
            <p:cNvGrpSpPr/>
            <p:nvPr/>
          </p:nvGrpSpPr>
          <p:grpSpPr>
            <a:xfrm>
              <a:off x="1328058" y="1593774"/>
              <a:ext cx="5687784" cy="658330"/>
              <a:chOff x="5997190" y="3368248"/>
              <a:chExt cx="5502675" cy="658330"/>
            </a:xfrm>
            <a:effectLst>
              <a:outerShdw blurRad="50800" dist="38100" dir="2700000" algn="tl" rotWithShape="0">
                <a:prstClr val="black">
                  <a:alpha val="40000"/>
                </a:prstClr>
              </a:outerShdw>
            </a:effectLst>
          </p:grpSpPr>
          <p:sp>
            <p:nvSpPr>
              <p:cNvPr id="11" name="Rectangle: Diagonal Corners Snipped 10">
                <a:extLst>
                  <a:ext uri="{FF2B5EF4-FFF2-40B4-BE49-F238E27FC236}">
                    <a16:creationId xmlns:a16="http://schemas.microsoft.com/office/drawing/2014/main" id="{F0B010A2-FB04-4DA6-2AB0-39989BA5D80D}"/>
                  </a:ext>
                </a:extLst>
              </p:cNvPr>
              <p:cNvSpPr/>
              <p:nvPr/>
            </p:nvSpPr>
            <p:spPr>
              <a:xfrm>
                <a:off x="5997190" y="3390902"/>
                <a:ext cx="5502675" cy="635676"/>
              </a:xfrm>
              <a:prstGeom prst="snip2DiagRect">
                <a:avLst>
                  <a:gd name="adj1" fmla="val 0"/>
                  <a:gd name="adj2" fmla="val 40960"/>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B182979F-4ED0-1D9C-1CA6-8E4C85345507}"/>
                  </a:ext>
                </a:extLst>
              </p:cNvPr>
              <p:cNvSpPr txBox="1"/>
              <p:nvPr/>
            </p:nvSpPr>
            <p:spPr>
              <a:xfrm>
                <a:off x="5997190" y="3368248"/>
                <a:ext cx="5502675" cy="635675"/>
              </a:xfrm>
              <a:prstGeom prst="snip1Rect">
                <a:avLst/>
              </a:prstGeom>
              <a:noFill/>
            </p:spPr>
            <p:txBody>
              <a:bodyPr wrap="square" rtlCol="0">
                <a:spAutoFit/>
              </a:bodyPr>
              <a:lstStyle/>
              <a:p>
                <a:pPr algn="ct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Nhóm</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hình</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tư</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duy</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lỗi</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thời</a:t>
                </a:r>
                <a:endPar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p:txBody>
          </p:sp>
        </p:grpSp>
      </p:grpSp>
      <p:sp>
        <p:nvSpPr>
          <p:cNvPr id="5" name="TextBox 5">
            <a:extLst>
              <a:ext uri="{FF2B5EF4-FFF2-40B4-BE49-F238E27FC236}">
                <a16:creationId xmlns:a16="http://schemas.microsoft.com/office/drawing/2014/main" id="{D3A619A8-DC99-B8B8-0090-3BBBD871F8DE}"/>
              </a:ext>
            </a:extLst>
          </p:cNvPr>
          <p:cNvSpPr txBox="1"/>
          <p:nvPr/>
        </p:nvSpPr>
        <p:spPr>
          <a:xfrm>
            <a:off x="1295400" y="2663904"/>
            <a:ext cx="15664541" cy="1107996"/>
          </a:xfrm>
          <a:prstGeom prst="rect">
            <a:avLst/>
          </a:prstGeom>
        </p:spPr>
        <p:txBody>
          <a:bodyPr wrap="square" lIns="0" tIns="0" rIns="0" bIns="0" rtlCol="0" anchor="ctr">
            <a:spAutoFit/>
          </a:bodyPr>
          <a:lstStyle/>
          <a:p>
            <a:pPr algn="just"/>
            <a:r>
              <a:rPr lang="vi-VN" sz="3600" i="0" u="none" strike="noStrike" dirty="0">
                <a:solidFill>
                  <a:srgbClr val="002060"/>
                </a:solidFill>
                <a:effectLst/>
                <a:latin typeface="Source Sans Pro" panose="020B0503030403020204" pitchFamily="34" charset="0"/>
                <a:ea typeface="Source Sans Pro" panose="020B0503030403020204" pitchFamily="34" charset="0"/>
              </a:rPr>
              <a:t>Mô hình này </a:t>
            </a:r>
            <a:r>
              <a:rPr lang="vi-VN" sz="3600" b="1" i="0" u="none" strike="noStrike" dirty="0">
                <a:solidFill>
                  <a:srgbClr val="002060"/>
                </a:solidFill>
                <a:effectLst/>
                <a:latin typeface="Source Sans Pro" panose="020B0503030403020204" pitchFamily="34" charset="0"/>
                <a:ea typeface="Source Sans Pro" panose="020B0503030403020204" pitchFamily="34" charset="0"/>
              </a:rPr>
              <a:t>xem trí nhớ như một album ảnh </a:t>
            </a:r>
            <a:r>
              <a:rPr lang="vi-VN" sz="3600" i="0" u="none" strike="noStrike" dirty="0">
                <a:solidFill>
                  <a:srgbClr val="002060"/>
                </a:solidFill>
                <a:effectLst/>
                <a:latin typeface="Source Sans Pro" panose="020B0503030403020204" pitchFamily="34" charset="0"/>
                <a:ea typeface="Source Sans Pro" panose="020B0503030403020204" pitchFamily="34" charset="0"/>
              </a:rPr>
              <a:t>hoặc băng ghi âm: trải nghiệm được lưu lại nguyên vẹn, sắc nét, có thể mở ra xem lại y hệt lúc ban đầu.</a:t>
            </a:r>
          </a:p>
        </p:txBody>
      </p:sp>
      <p:sp>
        <p:nvSpPr>
          <p:cNvPr id="6" name="TextBox 5">
            <a:extLst>
              <a:ext uri="{FF2B5EF4-FFF2-40B4-BE49-F238E27FC236}">
                <a16:creationId xmlns:a16="http://schemas.microsoft.com/office/drawing/2014/main" id="{653517D9-920B-EE43-5B5F-23A984F5D706}"/>
              </a:ext>
            </a:extLst>
          </p:cNvPr>
          <p:cNvSpPr txBox="1"/>
          <p:nvPr/>
        </p:nvSpPr>
        <p:spPr>
          <a:xfrm>
            <a:off x="1328058" y="4000500"/>
            <a:ext cx="15664541" cy="553998"/>
          </a:xfrm>
          <a:prstGeom prst="rect">
            <a:avLst/>
          </a:prstGeom>
        </p:spPr>
        <p:txBody>
          <a:bodyPr wrap="square" lIns="0" tIns="0" rIns="0" bIns="0" rtlCol="0" anchor="ctr">
            <a:spAutoFit/>
          </a:bodyPr>
          <a:lstStyle/>
          <a:p>
            <a:pPr algn="just"/>
            <a:r>
              <a:rPr lang="en-US" sz="3600" i="1" u="none" strike="noStrike" dirty="0" err="1">
                <a:solidFill>
                  <a:srgbClr val="002060"/>
                </a:solidFill>
                <a:effectLst/>
                <a:latin typeface="Source Sans Pro" panose="020B0503030403020204" pitchFamily="34" charset="0"/>
                <a:ea typeface="Source Sans Pro" panose="020B0503030403020204" pitchFamily="34" charset="0"/>
              </a:rPr>
              <a:t>Cách</a:t>
            </a:r>
            <a:r>
              <a:rPr lang="en-US" sz="3600" i="1" u="none" strike="noStrike" dirty="0">
                <a:solidFill>
                  <a:srgbClr val="002060"/>
                </a:solidFill>
                <a:effectLst/>
                <a:latin typeface="Source Sans Pro" panose="020B0503030403020204" pitchFamily="34" charset="0"/>
                <a:ea typeface="Source Sans Pro" panose="020B0503030403020204" pitchFamily="34" charset="0"/>
              </a:rPr>
              <a:t> </a:t>
            </a:r>
            <a:r>
              <a:rPr lang="en-US" sz="3600" i="1" u="none" strike="noStrike" dirty="0" err="1">
                <a:solidFill>
                  <a:srgbClr val="002060"/>
                </a:solidFill>
                <a:effectLst/>
                <a:latin typeface="Source Sans Pro" panose="020B0503030403020204" pitchFamily="34" charset="0"/>
                <a:ea typeface="Source Sans Pro" panose="020B0503030403020204" pitchFamily="34" charset="0"/>
              </a:rPr>
              <a:t>vận</a:t>
            </a:r>
            <a:r>
              <a:rPr lang="en-US" sz="3600" i="1" u="none" strike="noStrike" dirty="0">
                <a:solidFill>
                  <a:srgbClr val="002060"/>
                </a:solidFill>
                <a:effectLst/>
                <a:latin typeface="Source Sans Pro" panose="020B0503030403020204" pitchFamily="34" charset="0"/>
                <a:ea typeface="Source Sans Pro" panose="020B0503030403020204" pitchFamily="34" charset="0"/>
              </a:rPr>
              <a:t> </a:t>
            </a:r>
            <a:r>
              <a:rPr lang="en-US" sz="3600" i="1" u="none" strike="noStrike" dirty="0" err="1">
                <a:solidFill>
                  <a:srgbClr val="002060"/>
                </a:solidFill>
                <a:effectLst/>
                <a:latin typeface="Source Sans Pro" panose="020B0503030403020204" pitchFamily="34" charset="0"/>
                <a:ea typeface="Source Sans Pro" panose="020B0503030403020204" pitchFamily="34" charset="0"/>
              </a:rPr>
              <a:t>hành</a:t>
            </a:r>
            <a:r>
              <a:rPr lang="en-US" sz="3600" i="1" u="none" strike="noStrike" dirty="0">
                <a:solidFill>
                  <a:srgbClr val="002060"/>
                </a:solidFill>
                <a:effectLst/>
                <a:latin typeface="Source Sans Pro" panose="020B0503030403020204" pitchFamily="34" charset="0"/>
                <a:ea typeface="Source Sans Pro" panose="020B0503030403020204" pitchFamily="34" charset="0"/>
              </a:rPr>
              <a:t>:</a:t>
            </a:r>
            <a:endParaRPr lang="vi-VN" sz="3600" i="1" u="none" strike="noStrike" dirty="0">
              <a:solidFill>
                <a:srgbClr val="002060"/>
              </a:solidFill>
              <a:effectLst/>
              <a:latin typeface="Source Sans Pro" panose="020B0503030403020204" pitchFamily="34" charset="0"/>
              <a:ea typeface="Source Sans Pro" panose="020B0503030403020204" pitchFamily="34" charset="0"/>
            </a:endParaRPr>
          </a:p>
        </p:txBody>
      </p:sp>
      <p:sp>
        <p:nvSpPr>
          <p:cNvPr id="8" name="Freeform 2">
            <a:extLst>
              <a:ext uri="{FF2B5EF4-FFF2-40B4-BE49-F238E27FC236}">
                <a16:creationId xmlns:a16="http://schemas.microsoft.com/office/drawing/2014/main" id="{FE21AEC0-851B-466E-EFFE-702F405F1878}"/>
              </a:ext>
            </a:extLst>
          </p:cNvPr>
          <p:cNvSpPr/>
          <p:nvPr/>
        </p:nvSpPr>
        <p:spPr>
          <a:xfrm>
            <a:off x="1903515" y="4847178"/>
            <a:ext cx="1857142" cy="2488633"/>
          </a:xfrm>
          <a:custGeom>
            <a:avLst/>
            <a:gdLst/>
            <a:ahLst/>
            <a:cxnLst/>
            <a:rect l="l" t="t" r="r" b="b"/>
            <a:pathLst>
              <a:path w="2735011" h="3665007">
                <a:moveTo>
                  <a:pt x="0" y="0"/>
                </a:moveTo>
                <a:lnTo>
                  <a:pt x="2735011" y="0"/>
                </a:lnTo>
                <a:lnTo>
                  <a:pt x="2735011" y="3665007"/>
                </a:lnTo>
                <a:lnTo>
                  <a:pt x="0" y="366500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9" name="Group 8">
            <a:extLst>
              <a:ext uri="{FF2B5EF4-FFF2-40B4-BE49-F238E27FC236}">
                <a16:creationId xmlns:a16="http://schemas.microsoft.com/office/drawing/2014/main" id="{458D9033-6F14-53C7-B401-FBFA31FD895D}"/>
              </a:ext>
            </a:extLst>
          </p:cNvPr>
          <p:cNvGrpSpPr/>
          <p:nvPr/>
        </p:nvGrpSpPr>
        <p:grpSpPr>
          <a:xfrm>
            <a:off x="5159870" y="4818566"/>
            <a:ext cx="3145930" cy="2488633"/>
            <a:chOff x="3806801" y="3535893"/>
            <a:chExt cx="4633008" cy="3665007"/>
          </a:xfrm>
        </p:grpSpPr>
        <p:sp>
          <p:nvSpPr>
            <p:cNvPr id="10" name="Freeform 3">
              <a:extLst>
                <a:ext uri="{FF2B5EF4-FFF2-40B4-BE49-F238E27FC236}">
                  <a16:creationId xmlns:a16="http://schemas.microsoft.com/office/drawing/2014/main" id="{27D445AA-3BF7-8296-7294-95109BAF6ACA}"/>
                </a:ext>
              </a:extLst>
            </p:cNvPr>
            <p:cNvSpPr/>
            <p:nvPr/>
          </p:nvSpPr>
          <p:spPr>
            <a:xfrm>
              <a:off x="3806801" y="3535893"/>
              <a:ext cx="3665007" cy="3665007"/>
            </a:xfrm>
            <a:custGeom>
              <a:avLst/>
              <a:gdLst/>
              <a:ahLst/>
              <a:cxnLst/>
              <a:rect l="l" t="t" r="r" b="b"/>
              <a:pathLst>
                <a:path w="3665007" h="3665007">
                  <a:moveTo>
                    <a:pt x="0" y="0"/>
                  </a:moveTo>
                  <a:lnTo>
                    <a:pt x="3665007" y="0"/>
                  </a:lnTo>
                  <a:lnTo>
                    <a:pt x="3665007" y="3665007"/>
                  </a:lnTo>
                  <a:lnTo>
                    <a:pt x="0" y="366500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3" name="Freeform 4">
              <a:extLst>
                <a:ext uri="{FF2B5EF4-FFF2-40B4-BE49-F238E27FC236}">
                  <a16:creationId xmlns:a16="http://schemas.microsoft.com/office/drawing/2014/main" id="{426DBC3E-3DFC-5085-F4CF-A18DD8A6E762}"/>
                </a:ext>
              </a:extLst>
            </p:cNvPr>
            <p:cNvSpPr/>
            <p:nvPr/>
          </p:nvSpPr>
          <p:spPr>
            <a:xfrm rot="551474">
              <a:off x="5422367" y="3757511"/>
              <a:ext cx="3017442" cy="3017442"/>
            </a:xfrm>
            <a:custGeom>
              <a:avLst/>
              <a:gdLst/>
              <a:ahLst/>
              <a:cxnLst/>
              <a:rect l="l" t="t" r="r" b="b"/>
              <a:pathLst>
                <a:path w="3017442" h="3017442">
                  <a:moveTo>
                    <a:pt x="0" y="0"/>
                  </a:moveTo>
                  <a:lnTo>
                    <a:pt x="3017442" y="0"/>
                  </a:lnTo>
                  <a:lnTo>
                    <a:pt x="3017442" y="3017442"/>
                  </a:lnTo>
                  <a:lnTo>
                    <a:pt x="0" y="3017442"/>
                  </a:lnTo>
                  <a:lnTo>
                    <a:pt x="0" y="0"/>
                  </a:lnTo>
                  <a:close/>
                </a:path>
              </a:pathLst>
            </a:custGeom>
            <a:blipFill>
              <a:blip r:embed="rId9">
                <a:alphaModFix amt="91000"/>
                <a:extLst>
                  <a:ext uri="{96DAC541-7B7A-43D3-8B79-37D633B846F1}">
                    <asvg:svgBlip xmlns:asvg="http://schemas.microsoft.com/office/drawing/2016/SVG/main" r:embed="rId10"/>
                  </a:ext>
                </a:extLst>
              </a:blip>
              <a:stretch>
                <a:fillRect/>
              </a:stretch>
            </a:blipFill>
          </p:spPr>
          <p:txBody>
            <a:bodyPr/>
            <a:lstStyle/>
            <a:p>
              <a:endParaRPr lang="en-US"/>
            </a:p>
          </p:txBody>
        </p:sp>
      </p:grpSp>
      <p:grpSp>
        <p:nvGrpSpPr>
          <p:cNvPr id="20" name="Group 19">
            <a:extLst>
              <a:ext uri="{FF2B5EF4-FFF2-40B4-BE49-F238E27FC236}">
                <a16:creationId xmlns:a16="http://schemas.microsoft.com/office/drawing/2014/main" id="{FA888709-4893-96D6-815A-8751EF15AD30}"/>
              </a:ext>
            </a:extLst>
          </p:cNvPr>
          <p:cNvGrpSpPr/>
          <p:nvPr/>
        </p:nvGrpSpPr>
        <p:grpSpPr>
          <a:xfrm>
            <a:off x="9274670" y="4940867"/>
            <a:ext cx="3145930" cy="2488633"/>
            <a:chOff x="8661427" y="3535893"/>
            <a:chExt cx="4633008" cy="3665007"/>
          </a:xfrm>
        </p:grpSpPr>
        <p:sp>
          <p:nvSpPr>
            <p:cNvPr id="21" name="Freeform 5">
              <a:extLst>
                <a:ext uri="{FF2B5EF4-FFF2-40B4-BE49-F238E27FC236}">
                  <a16:creationId xmlns:a16="http://schemas.microsoft.com/office/drawing/2014/main" id="{DE1D3B37-0C18-558F-BBB0-797C35B287C7}"/>
                </a:ext>
              </a:extLst>
            </p:cNvPr>
            <p:cNvSpPr/>
            <p:nvPr/>
          </p:nvSpPr>
          <p:spPr>
            <a:xfrm>
              <a:off x="8661427" y="3535893"/>
              <a:ext cx="3665007" cy="3665007"/>
            </a:xfrm>
            <a:custGeom>
              <a:avLst/>
              <a:gdLst/>
              <a:ahLst/>
              <a:cxnLst/>
              <a:rect l="l" t="t" r="r" b="b"/>
              <a:pathLst>
                <a:path w="3665007" h="3665007">
                  <a:moveTo>
                    <a:pt x="0" y="0"/>
                  </a:moveTo>
                  <a:lnTo>
                    <a:pt x="3665007" y="0"/>
                  </a:lnTo>
                  <a:lnTo>
                    <a:pt x="3665007" y="3665007"/>
                  </a:lnTo>
                  <a:lnTo>
                    <a:pt x="0" y="366500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2" name="Freeform 6">
              <a:extLst>
                <a:ext uri="{FF2B5EF4-FFF2-40B4-BE49-F238E27FC236}">
                  <a16:creationId xmlns:a16="http://schemas.microsoft.com/office/drawing/2014/main" id="{F1843401-983F-F1CA-3887-2F14ED865901}"/>
                </a:ext>
              </a:extLst>
            </p:cNvPr>
            <p:cNvSpPr/>
            <p:nvPr/>
          </p:nvSpPr>
          <p:spPr>
            <a:xfrm rot="551474">
              <a:off x="10276993" y="3757511"/>
              <a:ext cx="3017442" cy="3017442"/>
            </a:xfrm>
            <a:custGeom>
              <a:avLst/>
              <a:gdLst/>
              <a:ahLst/>
              <a:cxnLst/>
              <a:rect l="l" t="t" r="r" b="b"/>
              <a:pathLst>
                <a:path w="3017442" h="3017442">
                  <a:moveTo>
                    <a:pt x="0" y="0"/>
                  </a:moveTo>
                  <a:lnTo>
                    <a:pt x="3017442" y="0"/>
                  </a:lnTo>
                  <a:lnTo>
                    <a:pt x="3017442" y="3017442"/>
                  </a:lnTo>
                  <a:lnTo>
                    <a:pt x="0" y="3017442"/>
                  </a:lnTo>
                  <a:lnTo>
                    <a:pt x="0" y="0"/>
                  </a:lnTo>
                  <a:close/>
                </a:path>
              </a:pathLst>
            </a:custGeom>
            <a:blipFill>
              <a:blip r:embed="rId9">
                <a:alphaModFix amt="91000"/>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24" name="Freeform 7">
              <a:extLst>
                <a:ext uri="{FF2B5EF4-FFF2-40B4-BE49-F238E27FC236}">
                  <a16:creationId xmlns:a16="http://schemas.microsoft.com/office/drawing/2014/main" id="{404ED99A-20C6-3D9C-3F19-7CE68B0815B0}"/>
                </a:ext>
              </a:extLst>
            </p:cNvPr>
            <p:cNvSpPr/>
            <p:nvPr/>
          </p:nvSpPr>
          <p:spPr>
            <a:xfrm>
              <a:off x="10553317" y="3879113"/>
              <a:ext cx="1657296" cy="1657296"/>
            </a:xfrm>
            <a:custGeom>
              <a:avLst/>
              <a:gdLst/>
              <a:ahLst/>
              <a:cxnLst/>
              <a:rect l="l" t="t" r="r" b="b"/>
              <a:pathLst>
                <a:path w="1657296" h="1657296">
                  <a:moveTo>
                    <a:pt x="0" y="0"/>
                  </a:moveTo>
                  <a:lnTo>
                    <a:pt x="1657297" y="0"/>
                  </a:lnTo>
                  <a:lnTo>
                    <a:pt x="1657297" y="1657297"/>
                  </a:lnTo>
                  <a:lnTo>
                    <a:pt x="0" y="165729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grpSp>
      <p:grpSp>
        <p:nvGrpSpPr>
          <p:cNvPr id="26" name="Group 25">
            <a:extLst>
              <a:ext uri="{FF2B5EF4-FFF2-40B4-BE49-F238E27FC236}">
                <a16:creationId xmlns:a16="http://schemas.microsoft.com/office/drawing/2014/main" id="{003BC629-193B-B36B-D463-BC06E8C6795C}"/>
              </a:ext>
            </a:extLst>
          </p:cNvPr>
          <p:cNvGrpSpPr/>
          <p:nvPr/>
        </p:nvGrpSpPr>
        <p:grpSpPr>
          <a:xfrm>
            <a:off x="13440535" y="4847177"/>
            <a:ext cx="2943950" cy="2488633"/>
            <a:chOff x="13516053" y="3433728"/>
            <a:chExt cx="4335552" cy="3665007"/>
          </a:xfrm>
        </p:grpSpPr>
        <p:sp>
          <p:nvSpPr>
            <p:cNvPr id="30" name="Freeform 8">
              <a:extLst>
                <a:ext uri="{FF2B5EF4-FFF2-40B4-BE49-F238E27FC236}">
                  <a16:creationId xmlns:a16="http://schemas.microsoft.com/office/drawing/2014/main" id="{53B4DD72-4CF4-B4AA-BD16-A4C1B0FE0F53}"/>
                </a:ext>
              </a:extLst>
            </p:cNvPr>
            <p:cNvSpPr/>
            <p:nvPr/>
          </p:nvSpPr>
          <p:spPr>
            <a:xfrm>
              <a:off x="13516053" y="3433728"/>
              <a:ext cx="3665007" cy="3665007"/>
            </a:xfrm>
            <a:custGeom>
              <a:avLst/>
              <a:gdLst/>
              <a:ahLst/>
              <a:cxnLst/>
              <a:rect l="l" t="t" r="r" b="b"/>
              <a:pathLst>
                <a:path w="3665007" h="3665007">
                  <a:moveTo>
                    <a:pt x="0" y="0"/>
                  </a:moveTo>
                  <a:lnTo>
                    <a:pt x="3665007" y="0"/>
                  </a:lnTo>
                  <a:lnTo>
                    <a:pt x="3665007" y="3665007"/>
                  </a:lnTo>
                  <a:lnTo>
                    <a:pt x="0" y="366500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1" name="Freeform 9">
              <a:extLst>
                <a:ext uri="{FF2B5EF4-FFF2-40B4-BE49-F238E27FC236}">
                  <a16:creationId xmlns:a16="http://schemas.microsoft.com/office/drawing/2014/main" id="{245A1A65-80A8-E3BC-61D7-1407B2F8E4A8}"/>
                </a:ext>
              </a:extLst>
            </p:cNvPr>
            <p:cNvSpPr/>
            <p:nvPr/>
          </p:nvSpPr>
          <p:spPr>
            <a:xfrm>
              <a:off x="15140731" y="3849511"/>
              <a:ext cx="2710874" cy="858251"/>
            </a:xfrm>
            <a:custGeom>
              <a:avLst/>
              <a:gdLst/>
              <a:ahLst/>
              <a:cxnLst/>
              <a:rect l="l" t="t" r="r" b="b"/>
              <a:pathLst>
                <a:path w="2710874" h="858251">
                  <a:moveTo>
                    <a:pt x="0" y="0"/>
                  </a:moveTo>
                  <a:lnTo>
                    <a:pt x="2710874" y="0"/>
                  </a:lnTo>
                  <a:lnTo>
                    <a:pt x="2710874" y="858250"/>
                  </a:lnTo>
                  <a:lnTo>
                    <a:pt x="0" y="858250"/>
                  </a:lnTo>
                  <a:lnTo>
                    <a:pt x="0" y="0"/>
                  </a:lnTo>
                  <a:close/>
                </a:path>
              </a:pathLst>
            </a:custGeom>
            <a:blipFill>
              <a:blip r:embed="rId13">
                <a:extLst>
                  <a:ext uri="{96DAC541-7B7A-43D3-8B79-37D633B846F1}">
                    <asvg:svgBlip xmlns:asvg="http://schemas.microsoft.com/office/drawing/2016/SVG/main" r:embed="rId14"/>
                  </a:ext>
                </a:extLst>
              </a:blip>
              <a:stretch>
                <a:fillRect t="-106767" r="-43" b="-109231"/>
              </a:stretch>
            </a:blipFill>
          </p:spPr>
          <p:txBody>
            <a:bodyPr/>
            <a:lstStyle/>
            <a:p>
              <a:endParaRPr lang="en-US"/>
            </a:p>
          </p:txBody>
        </p:sp>
      </p:grpSp>
      <p:sp>
        <p:nvSpPr>
          <p:cNvPr id="32" name="Freeform 6">
            <a:extLst>
              <a:ext uri="{FF2B5EF4-FFF2-40B4-BE49-F238E27FC236}">
                <a16:creationId xmlns:a16="http://schemas.microsoft.com/office/drawing/2014/main" id="{AAF0D8DC-F85C-241D-737B-8E0FB8957766}"/>
              </a:ext>
            </a:extLst>
          </p:cNvPr>
          <p:cNvSpPr/>
          <p:nvPr/>
        </p:nvSpPr>
        <p:spPr>
          <a:xfrm>
            <a:off x="3810000" y="5640462"/>
            <a:ext cx="1295527" cy="780555"/>
          </a:xfrm>
          <a:custGeom>
            <a:avLst/>
            <a:gdLst/>
            <a:ahLst/>
            <a:cxnLst/>
            <a:rect l="l" t="t" r="r" b="b"/>
            <a:pathLst>
              <a:path w="1295527" h="780555">
                <a:moveTo>
                  <a:pt x="0" y="0"/>
                </a:moveTo>
                <a:lnTo>
                  <a:pt x="1295527" y="0"/>
                </a:lnTo>
                <a:lnTo>
                  <a:pt x="1295527" y="780554"/>
                </a:lnTo>
                <a:lnTo>
                  <a:pt x="0" y="780554"/>
                </a:lnTo>
                <a:lnTo>
                  <a:pt x="0" y="0"/>
                </a:lnTo>
                <a:close/>
              </a:path>
            </a:pathLst>
          </a:custGeom>
          <a:blipFill>
            <a:blip r:embed="rId15"/>
            <a:stretch>
              <a:fillRect/>
            </a:stretch>
          </a:blipFill>
        </p:spPr>
        <p:txBody>
          <a:bodyPr/>
          <a:lstStyle/>
          <a:p>
            <a:endParaRPr lang="en-US"/>
          </a:p>
        </p:txBody>
      </p:sp>
      <p:sp>
        <p:nvSpPr>
          <p:cNvPr id="33" name="Freeform 6">
            <a:extLst>
              <a:ext uri="{FF2B5EF4-FFF2-40B4-BE49-F238E27FC236}">
                <a16:creationId xmlns:a16="http://schemas.microsoft.com/office/drawing/2014/main" id="{D421746B-486A-8B76-2386-2FE273F52E81}"/>
              </a:ext>
            </a:extLst>
          </p:cNvPr>
          <p:cNvSpPr/>
          <p:nvPr/>
        </p:nvSpPr>
        <p:spPr>
          <a:xfrm>
            <a:off x="7848473" y="5659998"/>
            <a:ext cx="1295527" cy="780555"/>
          </a:xfrm>
          <a:custGeom>
            <a:avLst/>
            <a:gdLst/>
            <a:ahLst/>
            <a:cxnLst/>
            <a:rect l="l" t="t" r="r" b="b"/>
            <a:pathLst>
              <a:path w="1295527" h="780555">
                <a:moveTo>
                  <a:pt x="0" y="0"/>
                </a:moveTo>
                <a:lnTo>
                  <a:pt x="1295527" y="0"/>
                </a:lnTo>
                <a:lnTo>
                  <a:pt x="1295527" y="780554"/>
                </a:lnTo>
                <a:lnTo>
                  <a:pt x="0" y="780554"/>
                </a:lnTo>
                <a:lnTo>
                  <a:pt x="0" y="0"/>
                </a:lnTo>
                <a:close/>
              </a:path>
            </a:pathLst>
          </a:custGeom>
          <a:blipFill>
            <a:blip r:embed="rId15"/>
            <a:stretch>
              <a:fillRect/>
            </a:stretch>
          </a:blipFill>
        </p:spPr>
        <p:txBody>
          <a:bodyPr/>
          <a:lstStyle/>
          <a:p>
            <a:endParaRPr lang="en-US"/>
          </a:p>
        </p:txBody>
      </p:sp>
      <p:sp>
        <p:nvSpPr>
          <p:cNvPr id="34" name="Freeform 6">
            <a:extLst>
              <a:ext uri="{FF2B5EF4-FFF2-40B4-BE49-F238E27FC236}">
                <a16:creationId xmlns:a16="http://schemas.microsoft.com/office/drawing/2014/main" id="{DA0089AA-BE6E-383D-4473-3D32E1ADFF79}"/>
              </a:ext>
            </a:extLst>
          </p:cNvPr>
          <p:cNvSpPr/>
          <p:nvPr/>
        </p:nvSpPr>
        <p:spPr>
          <a:xfrm>
            <a:off x="12093400" y="5717643"/>
            <a:ext cx="1295527" cy="780555"/>
          </a:xfrm>
          <a:custGeom>
            <a:avLst/>
            <a:gdLst/>
            <a:ahLst/>
            <a:cxnLst/>
            <a:rect l="l" t="t" r="r" b="b"/>
            <a:pathLst>
              <a:path w="1295527" h="780555">
                <a:moveTo>
                  <a:pt x="0" y="0"/>
                </a:moveTo>
                <a:lnTo>
                  <a:pt x="1295527" y="0"/>
                </a:lnTo>
                <a:lnTo>
                  <a:pt x="1295527" y="780554"/>
                </a:lnTo>
                <a:lnTo>
                  <a:pt x="0" y="780554"/>
                </a:lnTo>
                <a:lnTo>
                  <a:pt x="0" y="0"/>
                </a:lnTo>
                <a:close/>
              </a:path>
            </a:pathLst>
          </a:custGeom>
          <a:blipFill>
            <a:blip r:embed="rId15"/>
            <a:stretch>
              <a:fillRect/>
            </a:stretch>
          </a:blipFill>
        </p:spPr>
        <p:txBody>
          <a:bodyPr/>
          <a:lstStyle/>
          <a:p>
            <a:endParaRPr lang="en-US"/>
          </a:p>
        </p:txBody>
      </p:sp>
      <p:sp>
        <p:nvSpPr>
          <p:cNvPr id="35" name="Freeform 2">
            <a:extLst>
              <a:ext uri="{FF2B5EF4-FFF2-40B4-BE49-F238E27FC236}">
                <a16:creationId xmlns:a16="http://schemas.microsoft.com/office/drawing/2014/main" id="{BC5EFD69-E12B-5197-3707-E8066DF5753E}"/>
              </a:ext>
            </a:extLst>
          </p:cNvPr>
          <p:cNvSpPr/>
          <p:nvPr/>
        </p:nvSpPr>
        <p:spPr>
          <a:xfrm>
            <a:off x="4114800" y="7810373"/>
            <a:ext cx="1295527" cy="1295527"/>
          </a:xfrm>
          <a:custGeom>
            <a:avLst/>
            <a:gdLst/>
            <a:ahLst/>
            <a:cxnLst/>
            <a:rect l="l" t="t" r="r" b="b"/>
            <a:pathLst>
              <a:path w="8355465" h="8355465">
                <a:moveTo>
                  <a:pt x="0" y="0"/>
                </a:moveTo>
                <a:lnTo>
                  <a:pt x="8355466" y="0"/>
                </a:lnTo>
                <a:lnTo>
                  <a:pt x="8355466" y="8355465"/>
                </a:lnTo>
                <a:lnTo>
                  <a:pt x="0" y="835546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6" name="TextBox 5">
            <a:extLst>
              <a:ext uri="{FF2B5EF4-FFF2-40B4-BE49-F238E27FC236}">
                <a16:creationId xmlns:a16="http://schemas.microsoft.com/office/drawing/2014/main" id="{4D62D7F2-63AF-5793-3A1E-28630E229DA3}"/>
              </a:ext>
            </a:extLst>
          </p:cNvPr>
          <p:cNvSpPr txBox="1"/>
          <p:nvPr/>
        </p:nvSpPr>
        <p:spPr>
          <a:xfrm>
            <a:off x="5410327" y="8052009"/>
            <a:ext cx="9139289" cy="738664"/>
          </a:xfrm>
          <a:prstGeom prst="rect">
            <a:avLst/>
          </a:prstGeom>
        </p:spPr>
        <p:txBody>
          <a:bodyPr wrap="square" lIns="0" tIns="0" rIns="0" bIns="0" rtlCol="0" anchor="ctr">
            <a:spAutoFit/>
          </a:bodyPr>
          <a:lstStyle/>
          <a:p>
            <a:pPr algn="ctr"/>
            <a:r>
              <a:rPr lang="en-US" sz="4800" b="1" i="0" u="none" strike="noStrike" dirty="0">
                <a:solidFill>
                  <a:srgbClr val="C00000"/>
                </a:solidFill>
                <a:effectLst/>
                <a:latin typeface="Source Sans Pro" panose="020B0503030403020204" pitchFamily="34" charset="0"/>
                <a:ea typeface="Source Sans Pro" panose="020B0503030403020204" pitchFamily="34" charset="0"/>
              </a:rPr>
              <a:t>MÔ HÌNH NÀY KHÔNG THỰC TẾ!</a:t>
            </a:r>
            <a:endParaRPr lang="vi-VN" sz="4800" b="1" i="0" u="none" strike="noStrike" dirty="0">
              <a:solidFill>
                <a:srgbClr val="C00000"/>
              </a:solidFill>
              <a:effectLst/>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6942989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wipe(left)">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left)">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wipe(left)">
                                      <p:cBhvr>
                                        <p:cTn id="52" dur="500"/>
                                        <p:tgtEl>
                                          <p:spTgt spid="35"/>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wipe(left)">
                                      <p:cBhvr>
                                        <p:cTn id="5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P spid="32" grpId="0" animBg="1"/>
      <p:bldP spid="33" grpId="0" animBg="1"/>
      <p:bldP spid="34" grpId="0" animBg="1"/>
      <p:bldP spid="35" grpId="0" animBg="1"/>
      <p:bldP spid="36"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5B498583-B2E5-2DC6-234A-1169FBD266D0}"/>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0AF3B525-EC1B-1E24-CBA0-5D6F6A455C40}"/>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FDE9750F-CDE2-9C5B-4351-70C6AD5A16D5}"/>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18041B96-EEB2-E03E-71D3-606B6F6F84BC}"/>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41EFC0ED-FE1D-41DD-9F89-875EA20FF614}"/>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E0BD92AD-E6E2-0CA6-4670-DE76A7B1CFBA}"/>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II</a:t>
            </a:r>
          </a:p>
        </p:txBody>
      </p:sp>
      <p:sp>
        <p:nvSpPr>
          <p:cNvPr id="27" name="TextBox 26">
            <a:extLst>
              <a:ext uri="{FF2B5EF4-FFF2-40B4-BE49-F238E27FC236}">
                <a16:creationId xmlns:a16="http://schemas.microsoft.com/office/drawing/2014/main" id="{7B8B0DCF-3E5B-BEED-8693-9B8B9A240C3E}"/>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SAI LẦM</a:t>
            </a:r>
          </a:p>
        </p:txBody>
      </p:sp>
      <p:pic>
        <p:nvPicPr>
          <p:cNvPr id="28" name="Picture 27" descr="A blue logo with a black background&#10;&#10;AI-generated content may be incorrect.">
            <a:extLst>
              <a:ext uri="{FF2B5EF4-FFF2-40B4-BE49-F238E27FC236}">
                <a16:creationId xmlns:a16="http://schemas.microsoft.com/office/drawing/2014/main" id="{2FEC62F0-98FB-5147-00A9-B49A3A427E87}"/>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3216BFA6-AB08-44CA-3D35-303249F818C9}"/>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FCCE3A86-83EF-DB91-D128-A153C3A09CBD}"/>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23</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3" name="TextBox 2">
            <a:extLst>
              <a:ext uri="{FF2B5EF4-FFF2-40B4-BE49-F238E27FC236}">
                <a16:creationId xmlns:a16="http://schemas.microsoft.com/office/drawing/2014/main" id="{CD0A1DBD-CC8F-D3FC-838C-5BE4981F90FD}"/>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Một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số</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mô</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hình</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tư</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duy</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của</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con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người</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grpSp>
        <p:nvGrpSpPr>
          <p:cNvPr id="19" name="Group 18">
            <a:extLst>
              <a:ext uri="{FF2B5EF4-FFF2-40B4-BE49-F238E27FC236}">
                <a16:creationId xmlns:a16="http://schemas.microsoft.com/office/drawing/2014/main" id="{1D20496D-0E30-78BC-358A-2AB1B0CB8245}"/>
              </a:ext>
            </a:extLst>
          </p:cNvPr>
          <p:cNvGrpSpPr/>
          <p:nvPr/>
        </p:nvGrpSpPr>
        <p:grpSpPr>
          <a:xfrm>
            <a:off x="1328058" y="1620703"/>
            <a:ext cx="15631884" cy="658332"/>
            <a:chOff x="1328058" y="1593774"/>
            <a:chExt cx="15631884" cy="658332"/>
          </a:xfrm>
        </p:grpSpPr>
        <p:grpSp>
          <p:nvGrpSpPr>
            <p:cNvPr id="16" name="Group 15">
              <a:extLst>
                <a:ext uri="{FF2B5EF4-FFF2-40B4-BE49-F238E27FC236}">
                  <a16:creationId xmlns:a16="http://schemas.microsoft.com/office/drawing/2014/main" id="{76C04C81-C54D-A254-9F4C-6DCE01402001}"/>
                </a:ext>
              </a:extLst>
            </p:cNvPr>
            <p:cNvGrpSpPr/>
            <p:nvPr/>
          </p:nvGrpSpPr>
          <p:grpSpPr>
            <a:xfrm>
              <a:off x="1328058" y="1636199"/>
              <a:ext cx="15631884" cy="615907"/>
              <a:chOff x="1552950" y="5217569"/>
              <a:chExt cx="13163695" cy="678624"/>
            </a:xfrm>
          </p:grpSpPr>
          <p:sp>
            <p:nvSpPr>
              <p:cNvPr id="17" name="Rectangle: Diagonal Corners Snipped 16">
                <a:extLst>
                  <a:ext uri="{FF2B5EF4-FFF2-40B4-BE49-F238E27FC236}">
                    <a16:creationId xmlns:a16="http://schemas.microsoft.com/office/drawing/2014/main" id="{092FAECD-2ED5-D227-48C8-2E0D6C99432A}"/>
                  </a:ext>
                </a:extLst>
              </p:cNvPr>
              <p:cNvSpPr/>
              <p:nvPr/>
            </p:nvSpPr>
            <p:spPr>
              <a:xfrm flipV="1">
                <a:off x="1552950" y="5219888"/>
                <a:ext cx="13163695" cy="676305"/>
              </a:xfrm>
              <a:prstGeom prst="snip2DiagRect">
                <a:avLst>
                  <a:gd name="adj1" fmla="val 40647"/>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4A563165-B916-BF4D-3930-47CD7DDF22E8}"/>
                  </a:ext>
                </a:extLst>
              </p:cNvPr>
              <p:cNvSpPr txBox="1"/>
              <p:nvPr/>
            </p:nvSpPr>
            <p:spPr>
              <a:xfrm>
                <a:off x="7428945" y="5217569"/>
                <a:ext cx="6352675" cy="644322"/>
              </a:xfrm>
              <a:prstGeom prst="rect">
                <a:avLst/>
              </a:prstGeom>
              <a:noFill/>
            </p:spPr>
            <p:txBody>
              <a:bodyPr wrap="square" rtlCol="0">
                <a:spAutoFit/>
              </a:bodyPr>
              <a:lstStyle/>
              <a:p>
                <a:pPr algn="ct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Tư</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duy</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dựa</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trên</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kinh</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nghiệm</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và</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sáng</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tạo</a:t>
                </a:r>
                <a:endPar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p:txBody>
          </p:sp>
        </p:grpSp>
        <p:grpSp>
          <p:nvGrpSpPr>
            <p:cNvPr id="4" name="Group 3">
              <a:extLst>
                <a:ext uri="{FF2B5EF4-FFF2-40B4-BE49-F238E27FC236}">
                  <a16:creationId xmlns:a16="http://schemas.microsoft.com/office/drawing/2014/main" id="{A9AE0D41-A691-1A8D-0EC9-DEB35F8E7D50}"/>
                </a:ext>
              </a:extLst>
            </p:cNvPr>
            <p:cNvGrpSpPr/>
            <p:nvPr/>
          </p:nvGrpSpPr>
          <p:grpSpPr>
            <a:xfrm>
              <a:off x="1328058" y="1593774"/>
              <a:ext cx="5687784" cy="658330"/>
              <a:chOff x="5997190" y="3368248"/>
              <a:chExt cx="5502675" cy="658330"/>
            </a:xfrm>
            <a:effectLst>
              <a:outerShdw blurRad="50800" dist="38100" dir="2700000" algn="tl" rotWithShape="0">
                <a:prstClr val="black">
                  <a:alpha val="40000"/>
                </a:prstClr>
              </a:outerShdw>
            </a:effectLst>
          </p:grpSpPr>
          <p:sp>
            <p:nvSpPr>
              <p:cNvPr id="11" name="Rectangle: Diagonal Corners Snipped 10">
                <a:extLst>
                  <a:ext uri="{FF2B5EF4-FFF2-40B4-BE49-F238E27FC236}">
                    <a16:creationId xmlns:a16="http://schemas.microsoft.com/office/drawing/2014/main" id="{E65F4358-FCB7-7F0D-8893-581F2594F03E}"/>
                  </a:ext>
                </a:extLst>
              </p:cNvPr>
              <p:cNvSpPr/>
              <p:nvPr/>
            </p:nvSpPr>
            <p:spPr>
              <a:xfrm>
                <a:off x="5997190" y="3390902"/>
                <a:ext cx="5502675" cy="635676"/>
              </a:xfrm>
              <a:prstGeom prst="snip2DiagRect">
                <a:avLst>
                  <a:gd name="adj1" fmla="val 0"/>
                  <a:gd name="adj2" fmla="val 40960"/>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466A9D2D-E5EB-0279-354E-5958D93F8327}"/>
                  </a:ext>
                </a:extLst>
              </p:cNvPr>
              <p:cNvSpPr txBox="1"/>
              <p:nvPr/>
            </p:nvSpPr>
            <p:spPr>
              <a:xfrm>
                <a:off x="5997190" y="3368248"/>
                <a:ext cx="5502675" cy="635675"/>
              </a:xfrm>
              <a:prstGeom prst="snip1Rect">
                <a:avLst/>
              </a:prstGeom>
              <a:noFill/>
            </p:spPr>
            <p:txBody>
              <a:bodyPr wrap="square" rtlCol="0">
                <a:spAutoFit/>
              </a:bodyPr>
              <a:lstStyle/>
              <a:p>
                <a:pPr algn="ct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Nhóm</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hình</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tư</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duy</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thực</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tế</a:t>
                </a:r>
                <a:endPar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p:txBody>
          </p:sp>
        </p:grpSp>
      </p:grpSp>
      <p:sp>
        <p:nvSpPr>
          <p:cNvPr id="5" name="TextBox 5">
            <a:extLst>
              <a:ext uri="{FF2B5EF4-FFF2-40B4-BE49-F238E27FC236}">
                <a16:creationId xmlns:a16="http://schemas.microsoft.com/office/drawing/2014/main" id="{33E79566-967C-E550-8AA3-302766637F97}"/>
              </a:ext>
            </a:extLst>
          </p:cNvPr>
          <p:cNvSpPr txBox="1"/>
          <p:nvPr/>
        </p:nvSpPr>
        <p:spPr>
          <a:xfrm>
            <a:off x="1295400" y="2705100"/>
            <a:ext cx="7696199" cy="3447098"/>
          </a:xfrm>
          <a:prstGeom prst="rect">
            <a:avLst/>
          </a:prstGeom>
        </p:spPr>
        <p:txBody>
          <a:bodyPr wrap="square" lIns="0" tIns="0" rIns="0" bIns="0" rtlCol="0" anchor="ctr">
            <a:spAutoFit/>
          </a:bodyPr>
          <a:lstStyle/>
          <a:p>
            <a:pPr algn="just"/>
            <a:r>
              <a:rPr lang="en-US" sz="3200" b="1" i="0" u="none" strike="noStrike" dirty="0" err="1">
                <a:solidFill>
                  <a:srgbClr val="002060"/>
                </a:solidFill>
                <a:effectLst/>
                <a:latin typeface="Source Sans Pro" panose="020B0503030403020204" pitchFamily="34" charset="0"/>
                <a:ea typeface="Source Sans Pro" panose="020B0503030403020204" pitchFamily="34" charset="0"/>
              </a:rPr>
              <a:t>Hành</a:t>
            </a:r>
            <a:r>
              <a:rPr lang="en-US" sz="32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solidFill>
                <a:effectLst/>
                <a:latin typeface="Source Sans Pro" panose="020B0503030403020204" pitchFamily="34" charset="0"/>
                <a:ea typeface="Source Sans Pro" panose="020B0503030403020204" pitchFamily="34" charset="0"/>
              </a:rPr>
              <a:t>động</a:t>
            </a:r>
            <a:r>
              <a:rPr lang="en-US" sz="32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solidFill>
                <a:effectLst/>
                <a:latin typeface="Source Sans Pro" panose="020B0503030403020204" pitchFamily="34" charset="0"/>
                <a:ea typeface="Source Sans Pro" panose="020B0503030403020204" pitchFamily="34" charset="0"/>
              </a:rPr>
              <a:t>vô</a:t>
            </a:r>
            <a:r>
              <a:rPr lang="en-US" sz="32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solidFill>
                <a:effectLst/>
                <a:latin typeface="Source Sans Pro" panose="020B0503030403020204" pitchFamily="34" charset="0"/>
                <a:ea typeface="Source Sans Pro" panose="020B0503030403020204" pitchFamily="34" charset="0"/>
              </a:rPr>
              <a:t>thức</a:t>
            </a:r>
            <a:r>
              <a:rPr lang="en-US" sz="32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solidFill>
                <a:effectLst/>
                <a:latin typeface="Source Sans Pro" panose="020B0503030403020204" pitchFamily="34" charset="0"/>
                <a:ea typeface="Source Sans Pro" panose="020B0503030403020204" pitchFamily="34" charset="0"/>
              </a:rPr>
              <a:t>kinh</a:t>
            </a:r>
            <a:r>
              <a:rPr lang="en-US" sz="32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solidFill>
                <a:effectLst/>
                <a:latin typeface="Source Sans Pro" panose="020B0503030403020204" pitchFamily="34" charset="0"/>
                <a:ea typeface="Source Sans Pro" panose="020B0503030403020204" pitchFamily="34" charset="0"/>
              </a:rPr>
              <a:t>nghiệm</a:t>
            </a:r>
            <a:r>
              <a:rPr lang="en-US" sz="3200" b="1" i="0" u="none" strike="noStrike" dirty="0">
                <a:solidFill>
                  <a:srgbClr val="002060"/>
                </a:solidFill>
                <a:effectLst/>
                <a:latin typeface="Source Sans Pro" panose="020B0503030403020204" pitchFamily="34" charset="0"/>
                <a:ea typeface="Source Sans Pro" panose="020B0503030403020204" pitchFamily="34" charset="0"/>
              </a:rPr>
              <a:t>):</a:t>
            </a:r>
          </a:p>
          <a:p>
            <a:pPr algn="just"/>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Tìm</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ra</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sự</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khớp</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nối</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tốt</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nhất</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của</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kinh</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nghiệm</a:t>
            </a:r>
            <a:r>
              <a:rPr lang="en-US" sz="3200" dirty="0">
                <a:solidFill>
                  <a:srgbClr val="002060"/>
                </a:solidFill>
                <a:latin typeface="Source Sans Pro" panose="020B0503030403020204" pitchFamily="34" charset="0"/>
                <a:ea typeface="Source Sans Pro" panose="020B0503030403020204" pitchFamily="34" charset="0"/>
              </a:rPr>
              <a:t> trong </a:t>
            </a:r>
            <a:r>
              <a:rPr lang="en-US" sz="3200" dirty="0" err="1">
                <a:solidFill>
                  <a:srgbClr val="002060"/>
                </a:solidFill>
                <a:latin typeface="Source Sans Pro" panose="020B0503030403020204" pitchFamily="34" charset="0"/>
                <a:ea typeface="Source Sans Pro" panose="020B0503030403020204" pitchFamily="34" charset="0"/>
              </a:rPr>
              <a:t>quá</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khứ</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với</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tình</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huống</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hiện</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tại</a:t>
            </a:r>
            <a:r>
              <a:rPr lang="en-US" sz="3200" dirty="0">
                <a:solidFill>
                  <a:srgbClr val="002060"/>
                </a:solidFill>
                <a:latin typeface="Source Sans Pro" panose="020B0503030403020204" pitchFamily="34" charset="0"/>
                <a:ea typeface="Source Sans Pro" panose="020B0503030403020204" pitchFamily="34" charset="0"/>
              </a:rPr>
              <a:t>. </a:t>
            </a:r>
          </a:p>
          <a:p>
            <a:pPr algn="just"/>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Đôi</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khi</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xuất</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phát</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từ</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kiến</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thức</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không</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chính</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xác</a:t>
            </a:r>
            <a:r>
              <a:rPr lang="en-US" sz="3200" dirty="0">
                <a:solidFill>
                  <a:srgbClr val="002060"/>
                </a:solidFill>
                <a:latin typeface="Source Sans Pro" panose="020B0503030403020204" pitchFamily="34" charset="0"/>
                <a:ea typeface="Source Sans Pro" panose="020B0503030403020204" pitchFamily="34" charset="0"/>
              </a:rPr>
              <a:t> trong </a:t>
            </a:r>
            <a:r>
              <a:rPr lang="en-US" sz="3200" dirty="0" err="1">
                <a:solidFill>
                  <a:srgbClr val="002060"/>
                </a:solidFill>
                <a:latin typeface="Source Sans Pro" panose="020B0503030403020204" pitchFamily="34" charset="0"/>
                <a:ea typeface="Source Sans Pro" panose="020B0503030403020204" pitchFamily="34" charset="0"/>
              </a:rPr>
              <a:t>đầu</a:t>
            </a:r>
            <a:endParaRPr lang="en-US" sz="3200" dirty="0">
              <a:solidFill>
                <a:srgbClr val="002060"/>
              </a:solidFill>
              <a:latin typeface="Source Sans Pro" panose="020B0503030403020204" pitchFamily="34" charset="0"/>
              <a:ea typeface="Source Sans Pro" panose="020B0503030403020204" pitchFamily="34" charset="0"/>
            </a:endParaRPr>
          </a:p>
          <a:p>
            <a:pPr algn="just"/>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Cấu</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trúc</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nhiệm</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vụ</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hằng</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ngày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khá</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đơn</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giản</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(CT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nông</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hẹp</a:t>
            </a:r>
            <a:r>
              <a:rPr lang="en-US" sz="3200" i="0" u="none" strike="noStrike" dirty="0">
                <a:solidFill>
                  <a:srgbClr val="002060"/>
                </a:solidFill>
                <a:effectLst/>
                <a:latin typeface="Source Sans Pro" panose="020B0503030403020204" pitchFamily="34" charset="0"/>
                <a:ea typeface="Source Sans Pro" panose="020B0503030403020204" pitchFamily="34" charset="0"/>
              </a:rPr>
              <a:t>)</a:t>
            </a:r>
            <a:endParaRPr lang="vi-VN" sz="3200" i="0" u="none" strike="noStrike" dirty="0">
              <a:solidFill>
                <a:srgbClr val="002060"/>
              </a:solidFill>
              <a:effectLst/>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E4921AE5-C401-D519-F902-16586E9CF769}"/>
              </a:ext>
            </a:extLst>
          </p:cNvPr>
          <p:cNvSpPr txBox="1"/>
          <p:nvPr/>
        </p:nvSpPr>
        <p:spPr>
          <a:xfrm>
            <a:off x="9360648" y="2628900"/>
            <a:ext cx="7696199" cy="3447098"/>
          </a:xfrm>
          <a:prstGeom prst="rect">
            <a:avLst/>
          </a:prstGeom>
        </p:spPr>
        <p:txBody>
          <a:bodyPr wrap="square" lIns="0" tIns="0" rIns="0" bIns="0" rtlCol="0" anchor="ctr">
            <a:spAutoFit/>
          </a:bodyPr>
          <a:lstStyle/>
          <a:p>
            <a:pPr algn="just"/>
            <a:r>
              <a:rPr lang="en-US" sz="3200" b="1" i="0" u="none" strike="noStrike" dirty="0" err="1">
                <a:solidFill>
                  <a:srgbClr val="002060"/>
                </a:solidFill>
                <a:effectLst/>
                <a:latin typeface="Source Sans Pro" panose="020B0503030403020204" pitchFamily="34" charset="0"/>
                <a:ea typeface="Source Sans Pro" panose="020B0503030403020204" pitchFamily="34" charset="0"/>
              </a:rPr>
              <a:t>Hành</a:t>
            </a:r>
            <a:r>
              <a:rPr lang="en-US" sz="32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solidFill>
                <a:effectLst/>
                <a:latin typeface="Source Sans Pro" panose="020B0503030403020204" pitchFamily="34" charset="0"/>
                <a:ea typeface="Source Sans Pro" panose="020B0503030403020204" pitchFamily="34" charset="0"/>
              </a:rPr>
              <a:t>động</a:t>
            </a:r>
            <a:r>
              <a:rPr lang="en-US" sz="32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solidFill>
                <a:effectLst/>
                <a:latin typeface="Source Sans Pro" panose="020B0503030403020204" pitchFamily="34" charset="0"/>
                <a:ea typeface="Source Sans Pro" panose="020B0503030403020204" pitchFamily="34" charset="0"/>
              </a:rPr>
              <a:t>có</a:t>
            </a:r>
            <a:r>
              <a:rPr lang="en-US" sz="3200" b="1" i="0" u="none" strike="noStrike" dirty="0">
                <a:solidFill>
                  <a:srgbClr val="002060"/>
                </a:solidFill>
                <a:effectLst/>
                <a:latin typeface="Source Sans Pro" panose="020B0503030403020204" pitchFamily="34" charset="0"/>
                <a:ea typeface="Source Sans Pro" panose="020B0503030403020204" pitchFamily="34" charset="0"/>
              </a:rPr>
              <a:t> ý </a:t>
            </a:r>
            <a:r>
              <a:rPr lang="en-US" sz="3200" b="1" i="0" u="none" strike="noStrike" dirty="0" err="1">
                <a:solidFill>
                  <a:srgbClr val="002060"/>
                </a:solidFill>
                <a:effectLst/>
                <a:latin typeface="Source Sans Pro" panose="020B0503030403020204" pitchFamily="34" charset="0"/>
                <a:ea typeface="Source Sans Pro" panose="020B0503030403020204" pitchFamily="34" charset="0"/>
              </a:rPr>
              <a:t>thức</a:t>
            </a:r>
            <a:r>
              <a:rPr lang="en-US" sz="32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solidFill>
                <a:effectLst/>
                <a:latin typeface="Source Sans Pro" panose="020B0503030403020204" pitchFamily="34" charset="0"/>
                <a:ea typeface="Source Sans Pro" panose="020B0503030403020204" pitchFamily="34" charset="0"/>
              </a:rPr>
              <a:t>sáng</a:t>
            </a:r>
            <a:r>
              <a:rPr lang="en-US" sz="32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b="1" i="0" u="none" strike="noStrike" dirty="0" err="1">
                <a:solidFill>
                  <a:srgbClr val="002060"/>
                </a:solidFill>
                <a:effectLst/>
                <a:latin typeface="Source Sans Pro" panose="020B0503030403020204" pitchFamily="34" charset="0"/>
                <a:ea typeface="Source Sans Pro" panose="020B0503030403020204" pitchFamily="34" charset="0"/>
              </a:rPr>
              <a:t>tạo</a:t>
            </a:r>
            <a:r>
              <a:rPr lang="en-US" sz="3200" b="1" i="0" u="none" strike="noStrike" dirty="0">
                <a:solidFill>
                  <a:srgbClr val="002060"/>
                </a:solidFill>
                <a:effectLst/>
                <a:latin typeface="Source Sans Pro" panose="020B0503030403020204" pitchFamily="34" charset="0"/>
                <a:ea typeface="Source Sans Pro" panose="020B0503030403020204" pitchFamily="34" charset="0"/>
              </a:rPr>
              <a:t>):</a:t>
            </a:r>
          </a:p>
          <a:p>
            <a:pPr algn="just"/>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Phân</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tích</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vấn</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đề</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để</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hiểu</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những</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gì</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đã</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quan</a:t>
            </a:r>
            <a:r>
              <a:rPr lang="en-US" sz="3200" dirty="0">
                <a:solidFill>
                  <a:srgbClr val="002060"/>
                </a:solidFill>
                <a:latin typeface="Source Sans Pro" panose="020B0503030403020204" pitchFamily="34" charset="0"/>
                <a:ea typeface="Source Sans Pro" panose="020B0503030403020204" pitchFamily="34" charset="0"/>
              </a:rPr>
              <a:t> </a:t>
            </a:r>
            <a:r>
              <a:rPr lang="en-US" sz="3200" dirty="0" err="1">
                <a:solidFill>
                  <a:srgbClr val="002060"/>
                </a:solidFill>
                <a:latin typeface="Source Sans Pro" panose="020B0503030403020204" pitchFamily="34" charset="0"/>
                <a:ea typeface="Source Sans Pro" panose="020B0503030403020204" pitchFamily="34" charset="0"/>
              </a:rPr>
              <a:t>sát</a:t>
            </a:r>
            <a:r>
              <a:rPr lang="en-US" sz="3200" dirty="0">
                <a:solidFill>
                  <a:srgbClr val="002060"/>
                </a:solidFill>
                <a:latin typeface="Source Sans Pro" panose="020B0503030403020204" pitchFamily="34" charset="0"/>
                <a:ea typeface="Source Sans Pro" panose="020B0503030403020204" pitchFamily="34" charset="0"/>
              </a:rPr>
              <a:t>. </a:t>
            </a:r>
          </a:p>
          <a:p>
            <a:pPr algn="just"/>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Cơ</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chế</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khám</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phá</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khuyến</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khích</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con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người</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thử</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nghiệm</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để</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tìm</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hiểu</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tính</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năng</a:t>
            </a:r>
            <a:r>
              <a:rPr lang="en-US" sz="3200" i="0" u="none" strike="noStrike" dirty="0">
                <a:solidFill>
                  <a:srgbClr val="002060"/>
                </a:solidFill>
                <a:effectLst/>
                <a:latin typeface="Source Sans Pro" panose="020B0503030403020204" pitchFamily="34" charset="0"/>
                <a:ea typeface="Source Sans Pro" panose="020B0503030403020204" pitchFamily="34" charset="0"/>
              </a:rPr>
              <a:t>.</a:t>
            </a:r>
            <a:endParaRPr lang="en-US" sz="3200" dirty="0">
              <a:solidFill>
                <a:srgbClr val="002060"/>
              </a:solidFill>
              <a:latin typeface="Source Sans Pro" panose="020B0503030403020204" pitchFamily="34" charset="0"/>
              <a:ea typeface="Source Sans Pro" panose="020B0503030403020204" pitchFamily="34" charset="0"/>
            </a:endParaRPr>
          </a:p>
          <a:p>
            <a:pPr algn="just"/>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Khả</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năng</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tổ</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chức</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thông</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tin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thành</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cấu</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trúc</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có</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nghĩa</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mặc</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dù</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bộ</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nhớ</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con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người</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ngắn</a:t>
            </a:r>
            <a:r>
              <a:rPr lang="en-US" sz="3200" i="0" u="none" strike="noStrike" dirty="0">
                <a:solidFill>
                  <a:srgbClr val="002060"/>
                </a:solidFill>
                <a:effectLst/>
                <a:latin typeface="Source Sans Pro" panose="020B0503030403020204" pitchFamily="34" charset="0"/>
                <a:ea typeface="Source Sans Pro" panose="020B0503030403020204" pitchFamily="34" charset="0"/>
              </a:rPr>
              <a:t> </a:t>
            </a:r>
            <a:r>
              <a:rPr lang="en-US" sz="3200" i="0" u="none" strike="noStrike" dirty="0" err="1">
                <a:solidFill>
                  <a:srgbClr val="002060"/>
                </a:solidFill>
                <a:effectLst/>
                <a:latin typeface="Source Sans Pro" panose="020B0503030403020204" pitchFamily="34" charset="0"/>
                <a:ea typeface="Source Sans Pro" panose="020B0503030403020204" pitchFamily="34" charset="0"/>
              </a:rPr>
              <a:t>hạn</a:t>
            </a:r>
            <a:r>
              <a:rPr lang="en-US" sz="3200" i="0" u="none" strike="noStrike" dirty="0">
                <a:solidFill>
                  <a:srgbClr val="002060"/>
                </a:solidFill>
                <a:effectLst/>
                <a:latin typeface="Source Sans Pro" panose="020B0503030403020204" pitchFamily="34" charset="0"/>
                <a:ea typeface="Source Sans Pro" panose="020B0503030403020204" pitchFamily="34" charset="0"/>
              </a:rPr>
              <a:t>.</a:t>
            </a:r>
            <a:endParaRPr lang="vi-VN" sz="3200" i="0" u="none" strike="noStrike" dirty="0">
              <a:solidFill>
                <a:srgbClr val="002060"/>
              </a:solidFill>
              <a:effectLst/>
              <a:latin typeface="Source Sans Pro" panose="020B0503030403020204" pitchFamily="34" charset="0"/>
              <a:ea typeface="Source Sans Pro" panose="020B0503030403020204" pitchFamily="34" charset="0"/>
            </a:endParaRPr>
          </a:p>
        </p:txBody>
      </p:sp>
      <p:grpSp>
        <p:nvGrpSpPr>
          <p:cNvPr id="13" name="Group 12">
            <a:extLst>
              <a:ext uri="{FF2B5EF4-FFF2-40B4-BE49-F238E27FC236}">
                <a16:creationId xmlns:a16="http://schemas.microsoft.com/office/drawing/2014/main" id="{C8DEB108-8587-AC53-21F5-747A9AE94D54}"/>
              </a:ext>
            </a:extLst>
          </p:cNvPr>
          <p:cNvGrpSpPr/>
          <p:nvPr/>
        </p:nvGrpSpPr>
        <p:grpSpPr>
          <a:xfrm>
            <a:off x="1203192" y="6543608"/>
            <a:ext cx="15631884" cy="2891823"/>
            <a:chOff x="1552950" y="5219888"/>
            <a:chExt cx="13163695" cy="676305"/>
          </a:xfrm>
        </p:grpSpPr>
        <p:sp>
          <p:nvSpPr>
            <p:cNvPr id="24" name="Rectangle: Diagonal Corners Snipped 23">
              <a:extLst>
                <a:ext uri="{FF2B5EF4-FFF2-40B4-BE49-F238E27FC236}">
                  <a16:creationId xmlns:a16="http://schemas.microsoft.com/office/drawing/2014/main" id="{695B43A8-9A70-EFBC-4928-E4AC344E04AC}"/>
                </a:ext>
              </a:extLst>
            </p:cNvPr>
            <p:cNvSpPr/>
            <p:nvPr/>
          </p:nvSpPr>
          <p:spPr>
            <a:xfrm flipV="1">
              <a:off x="1552950" y="5219888"/>
              <a:ext cx="13163695" cy="676305"/>
            </a:xfrm>
            <a:prstGeom prst="snip2DiagRect">
              <a:avLst>
                <a:gd name="adj1" fmla="val 18972"/>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069CBE98-CD12-605A-C0E4-B8A75B236A12}"/>
                </a:ext>
              </a:extLst>
            </p:cNvPr>
            <p:cNvSpPr txBox="1"/>
            <p:nvPr/>
          </p:nvSpPr>
          <p:spPr>
            <a:xfrm>
              <a:off x="1887273" y="5265506"/>
              <a:ext cx="12425337" cy="597426"/>
            </a:xfrm>
            <a:prstGeom prst="rect">
              <a:avLst/>
            </a:prstGeom>
            <a:noFill/>
          </p:spPr>
          <p:txBody>
            <a:bodyPr wrap="square" rtlCol="0">
              <a:spAutoFit/>
            </a:bodyPr>
            <a:lstStyle/>
            <a:p>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Tối</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ưu</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hoá</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tác</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vụ</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hằng</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ngày,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không</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mất</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nhiều</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thời</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gian</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suy</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nghĩ</a:t>
              </a:r>
              <a:endPar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a:p>
              <a:pPr algn="just"/>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Sự</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kết</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hợp</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giữa</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kinh</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nghiệm</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và</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sáng</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tạo</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giúp</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con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người</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học</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hỏi</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nhanh</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chóng</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nhưng</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vẫn</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giúp</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giảm</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gánh</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nặng</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bộ</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nhớ</a:t>
              </a:r>
              <a:endPar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a:p>
              <a:pPr algn="just"/>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hình</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thừa</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nhận</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việc</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con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người</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luôn</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có</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sơ</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sót</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và</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mắc</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sai</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lầm</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Điều</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này</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giúp</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con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người</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có</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thể</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phát</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hiện</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và</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khắc</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phục</a:t>
              </a:r>
              <a:r>
                <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lỗi</a:t>
              </a:r>
              <a:endParaRPr lang="en-US" sz="32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p:txBody>
        </p:sp>
      </p:grpSp>
    </p:spTree>
    <p:extLst>
      <p:ext uri="{BB962C8B-B14F-4D97-AF65-F5344CB8AC3E}">
        <p14:creationId xmlns:p14="http://schemas.microsoft.com/office/powerpoint/2010/main" val="31215305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inVertical)">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604FB9F0-F910-6DE9-B4CE-642736874DA3}"/>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234172F3-2772-9E36-59B2-957DA723BFDC}"/>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cxnSp>
        <p:nvCxnSpPr>
          <p:cNvPr id="46" name="Straight Arrow Connector 45">
            <a:extLst>
              <a:ext uri="{FF2B5EF4-FFF2-40B4-BE49-F238E27FC236}">
                <a16:creationId xmlns:a16="http://schemas.microsoft.com/office/drawing/2014/main" id="{D1142E0C-42D4-D911-4655-E2F889B6AF88}"/>
              </a:ext>
            </a:extLst>
          </p:cNvPr>
          <p:cNvCxnSpPr>
            <a:cxnSpLocks/>
          </p:cNvCxnSpPr>
          <p:nvPr/>
        </p:nvCxnSpPr>
        <p:spPr>
          <a:xfrm>
            <a:off x="6265209" y="4610100"/>
            <a:ext cx="0" cy="4800600"/>
          </a:xfrm>
          <a:prstGeom prst="straightConnector1">
            <a:avLst/>
          </a:prstGeom>
          <a:ln w="136525">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25" name="Freeform 13">
            <a:extLst>
              <a:ext uri="{FF2B5EF4-FFF2-40B4-BE49-F238E27FC236}">
                <a16:creationId xmlns:a16="http://schemas.microsoft.com/office/drawing/2014/main" id="{57206024-8497-2701-03D2-78CA748B466F}"/>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DABDAE9F-A466-8CA6-1AB5-30A7B9BF3EA5}"/>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FB207427-8D4E-912C-E8FE-417B07FB785A}"/>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33DDCE4B-C300-2FDD-DF70-2E38E6273E3E}"/>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II</a:t>
            </a:r>
          </a:p>
        </p:txBody>
      </p:sp>
      <p:sp>
        <p:nvSpPr>
          <p:cNvPr id="27" name="TextBox 26">
            <a:extLst>
              <a:ext uri="{FF2B5EF4-FFF2-40B4-BE49-F238E27FC236}">
                <a16:creationId xmlns:a16="http://schemas.microsoft.com/office/drawing/2014/main" id="{30A073E0-0C20-B9DC-E287-0189C40856FA}"/>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SAI LẦM</a:t>
            </a:r>
          </a:p>
        </p:txBody>
      </p:sp>
      <p:pic>
        <p:nvPicPr>
          <p:cNvPr id="28" name="Picture 27" descr="A blue logo with a black background&#10;&#10;AI-generated content may be incorrect.">
            <a:extLst>
              <a:ext uri="{FF2B5EF4-FFF2-40B4-BE49-F238E27FC236}">
                <a16:creationId xmlns:a16="http://schemas.microsoft.com/office/drawing/2014/main" id="{AD903E8F-5228-2060-F7CB-AD59F8712374}"/>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064462AA-73D3-87BA-AD85-3458067F5AD6}"/>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6BE9B29A-D743-501F-F537-38C6E65CE86B}"/>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24</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3" name="TextBox 2">
            <a:extLst>
              <a:ext uri="{FF2B5EF4-FFF2-40B4-BE49-F238E27FC236}">
                <a16:creationId xmlns:a16="http://schemas.microsoft.com/office/drawing/2014/main" id="{A6026F46-6572-19F1-88E8-78F41EA9E93F}"/>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Một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số</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mô</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hình</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tư</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duy</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của</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con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người</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grpSp>
        <p:nvGrpSpPr>
          <p:cNvPr id="19" name="Group 18">
            <a:extLst>
              <a:ext uri="{FF2B5EF4-FFF2-40B4-BE49-F238E27FC236}">
                <a16:creationId xmlns:a16="http://schemas.microsoft.com/office/drawing/2014/main" id="{C172D04C-57E2-817B-FECA-C7524FBA4BAD}"/>
              </a:ext>
            </a:extLst>
          </p:cNvPr>
          <p:cNvGrpSpPr/>
          <p:nvPr/>
        </p:nvGrpSpPr>
        <p:grpSpPr>
          <a:xfrm>
            <a:off x="1328058" y="1620703"/>
            <a:ext cx="15631884" cy="658332"/>
            <a:chOff x="1328058" y="1593774"/>
            <a:chExt cx="15631884" cy="658332"/>
          </a:xfrm>
        </p:grpSpPr>
        <p:grpSp>
          <p:nvGrpSpPr>
            <p:cNvPr id="16" name="Group 15">
              <a:extLst>
                <a:ext uri="{FF2B5EF4-FFF2-40B4-BE49-F238E27FC236}">
                  <a16:creationId xmlns:a16="http://schemas.microsoft.com/office/drawing/2014/main" id="{F07113AF-B387-4504-028A-362EDEDAC0A3}"/>
                </a:ext>
              </a:extLst>
            </p:cNvPr>
            <p:cNvGrpSpPr/>
            <p:nvPr/>
          </p:nvGrpSpPr>
          <p:grpSpPr>
            <a:xfrm>
              <a:off x="1328058" y="1636199"/>
              <a:ext cx="15631884" cy="615907"/>
              <a:chOff x="1552950" y="5217569"/>
              <a:chExt cx="13163695" cy="678624"/>
            </a:xfrm>
          </p:grpSpPr>
          <p:sp>
            <p:nvSpPr>
              <p:cNvPr id="17" name="Rectangle: Diagonal Corners Snipped 16">
                <a:extLst>
                  <a:ext uri="{FF2B5EF4-FFF2-40B4-BE49-F238E27FC236}">
                    <a16:creationId xmlns:a16="http://schemas.microsoft.com/office/drawing/2014/main" id="{B85188D6-AB82-98CA-04F2-5A91354A74C8}"/>
                  </a:ext>
                </a:extLst>
              </p:cNvPr>
              <p:cNvSpPr/>
              <p:nvPr/>
            </p:nvSpPr>
            <p:spPr>
              <a:xfrm flipV="1">
                <a:off x="1552950" y="5219888"/>
                <a:ext cx="13163695" cy="676305"/>
              </a:xfrm>
              <a:prstGeom prst="snip2DiagRect">
                <a:avLst>
                  <a:gd name="adj1" fmla="val 40647"/>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BC5BE6DA-76F1-3D69-6EC7-60CCBC55AA38}"/>
                  </a:ext>
                </a:extLst>
              </p:cNvPr>
              <p:cNvSpPr txBox="1"/>
              <p:nvPr/>
            </p:nvSpPr>
            <p:spPr>
              <a:xfrm>
                <a:off x="7428945" y="5217569"/>
                <a:ext cx="6352675" cy="644322"/>
              </a:xfrm>
              <a:prstGeom prst="rect">
                <a:avLst/>
              </a:prstGeom>
              <a:noFill/>
            </p:spPr>
            <p:txBody>
              <a:bodyPr wrap="square" rtlCol="0">
                <a:spAutoFit/>
              </a:bodyPr>
              <a:lstStyle/>
              <a:p>
                <a:pPr algn="ct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hình</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Tủ</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hồ</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sơ</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liên</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kết</a:t>
                </a:r>
                <a:r>
                  <a:rPr lang="en-US" sz="32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a:t>
                </a:r>
              </a:p>
            </p:txBody>
          </p:sp>
        </p:grpSp>
        <p:grpSp>
          <p:nvGrpSpPr>
            <p:cNvPr id="4" name="Group 3">
              <a:extLst>
                <a:ext uri="{FF2B5EF4-FFF2-40B4-BE49-F238E27FC236}">
                  <a16:creationId xmlns:a16="http://schemas.microsoft.com/office/drawing/2014/main" id="{4129BA5F-58CF-BEA1-2A07-593C98382086}"/>
                </a:ext>
              </a:extLst>
            </p:cNvPr>
            <p:cNvGrpSpPr/>
            <p:nvPr/>
          </p:nvGrpSpPr>
          <p:grpSpPr>
            <a:xfrm>
              <a:off x="1328058" y="1593774"/>
              <a:ext cx="5687784" cy="658330"/>
              <a:chOff x="5997190" y="3368248"/>
              <a:chExt cx="5502675" cy="658330"/>
            </a:xfrm>
            <a:effectLst>
              <a:outerShdw blurRad="50800" dist="38100" dir="2700000" algn="tl" rotWithShape="0">
                <a:prstClr val="black">
                  <a:alpha val="40000"/>
                </a:prstClr>
              </a:outerShdw>
            </a:effectLst>
          </p:grpSpPr>
          <p:sp>
            <p:nvSpPr>
              <p:cNvPr id="11" name="Rectangle: Diagonal Corners Snipped 10">
                <a:extLst>
                  <a:ext uri="{FF2B5EF4-FFF2-40B4-BE49-F238E27FC236}">
                    <a16:creationId xmlns:a16="http://schemas.microsoft.com/office/drawing/2014/main" id="{3D781703-04C9-DD84-F9AF-CFC8FA40B22B}"/>
                  </a:ext>
                </a:extLst>
              </p:cNvPr>
              <p:cNvSpPr/>
              <p:nvPr/>
            </p:nvSpPr>
            <p:spPr>
              <a:xfrm>
                <a:off x="5997190" y="3390902"/>
                <a:ext cx="5502675" cy="635676"/>
              </a:xfrm>
              <a:prstGeom prst="snip2DiagRect">
                <a:avLst>
                  <a:gd name="adj1" fmla="val 0"/>
                  <a:gd name="adj2" fmla="val 40960"/>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B03F924E-74D1-8A89-39BD-A822F232ECB7}"/>
                  </a:ext>
                </a:extLst>
              </p:cNvPr>
              <p:cNvSpPr txBox="1"/>
              <p:nvPr/>
            </p:nvSpPr>
            <p:spPr>
              <a:xfrm>
                <a:off x="5997190" y="3368248"/>
                <a:ext cx="5502675" cy="635675"/>
              </a:xfrm>
              <a:prstGeom prst="snip1Rect">
                <a:avLst/>
              </a:prstGeom>
              <a:noFill/>
            </p:spPr>
            <p:txBody>
              <a:bodyPr wrap="square" rtlCol="0">
                <a:spAutoFit/>
              </a:bodyPr>
              <a:lstStyle/>
              <a:p>
                <a:pPr algn="ct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Nhóm</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mô</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hình</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tư</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duy</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thực</a:t>
                </a:r>
                <a:r>
                  <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 </a:t>
                </a:r>
                <a:r>
                  <a:rPr lang="en-US" sz="3200" b="1" dirty="0" err="1">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tế</a:t>
                </a:r>
                <a:endParaRPr lang="en-US" sz="3200" b="1" dirty="0">
                  <a:solidFill>
                    <a:srgbClr val="00206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p:txBody>
          </p:sp>
        </p:grpSp>
      </p:grpSp>
      <p:sp>
        <p:nvSpPr>
          <p:cNvPr id="5" name="TextBox 5">
            <a:extLst>
              <a:ext uri="{FF2B5EF4-FFF2-40B4-BE49-F238E27FC236}">
                <a16:creationId xmlns:a16="http://schemas.microsoft.com/office/drawing/2014/main" id="{C3BF56FE-010A-C52E-68D0-05B86BD18C4B}"/>
              </a:ext>
            </a:extLst>
          </p:cNvPr>
          <p:cNvSpPr txBox="1"/>
          <p:nvPr/>
        </p:nvSpPr>
        <p:spPr>
          <a:xfrm>
            <a:off x="1295400" y="2628900"/>
            <a:ext cx="15664542" cy="1661993"/>
          </a:xfrm>
          <a:prstGeom prst="rect">
            <a:avLst/>
          </a:prstGeom>
        </p:spPr>
        <p:txBody>
          <a:bodyPr wrap="square" lIns="0" tIns="0" rIns="0" bIns="0" rtlCol="0" anchor="ctr">
            <a:spAutoFit/>
          </a:bodyPr>
          <a:lstStyle/>
          <a:p>
            <a:pPr algn="just"/>
            <a:r>
              <a:rPr lang="vi-VN" sz="3600" i="0" u="none" strike="noStrike" dirty="0">
                <a:solidFill>
                  <a:srgbClr val="002060"/>
                </a:solidFill>
                <a:effectLst/>
                <a:latin typeface="Source Sans Pro" panose="020B0503030403020204" pitchFamily="34" charset="0"/>
                <a:ea typeface="Source Sans Pro" panose="020B0503030403020204" pitchFamily="34" charset="0"/>
              </a:rPr>
              <a:t>Mô hình này coi kiến thức của chúng ta được sắp xếp thành các </a:t>
            </a:r>
            <a:r>
              <a:rPr lang="vi-VN" sz="3600" b="1" i="0" u="none" strike="noStrike" dirty="0">
                <a:solidFill>
                  <a:srgbClr val="002060"/>
                </a:solidFill>
                <a:effectLst/>
                <a:latin typeface="Source Sans Pro" panose="020B0503030403020204" pitchFamily="34" charset="0"/>
                <a:ea typeface="Source Sans Pro" panose="020B0503030403020204" pitchFamily="34" charset="0"/>
              </a:rPr>
              <a:t>“tập hồ sơ” </a:t>
            </a:r>
            <a:r>
              <a:rPr lang="vi-VN" sz="3600" i="0" u="none" strike="noStrike" dirty="0">
                <a:solidFill>
                  <a:srgbClr val="002060"/>
                </a:solidFill>
                <a:effectLst/>
                <a:latin typeface="Source Sans Pro" panose="020B0503030403020204" pitchFamily="34" charset="0"/>
                <a:ea typeface="Source Sans Pro" panose="020B0503030403020204" pitchFamily="34" charset="0"/>
              </a:rPr>
              <a:t>về một chủ đề</a:t>
            </a:r>
            <a:r>
              <a:rPr lang="en-US" sz="3600"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i="0" u="none" strike="noStrike" dirty="0" err="1">
                <a:solidFill>
                  <a:srgbClr val="002060"/>
                </a:solidFill>
                <a:effectLst/>
                <a:latin typeface="Source Sans Pro" panose="020B0503030403020204" pitchFamily="34" charset="0"/>
                <a:ea typeface="Source Sans Pro" panose="020B0503030403020204" pitchFamily="34" charset="0"/>
              </a:rPr>
              <a:t>nào</a:t>
            </a:r>
            <a:r>
              <a:rPr lang="en-US" sz="3600"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i="0" u="none" strike="noStrike" dirty="0" err="1">
                <a:solidFill>
                  <a:srgbClr val="002060"/>
                </a:solidFill>
                <a:effectLst/>
                <a:latin typeface="Source Sans Pro" panose="020B0503030403020204" pitchFamily="34" charset="0"/>
                <a:ea typeface="Source Sans Pro" panose="020B0503030403020204" pitchFamily="34" charset="0"/>
              </a:rPr>
              <a:t>đó</a:t>
            </a:r>
            <a:r>
              <a:rPr lang="en-US" sz="3600"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dirty="0" err="1">
                <a:solidFill>
                  <a:srgbClr val="002060"/>
                </a:solidFill>
                <a:latin typeface="Source Sans Pro" panose="020B0503030403020204" pitchFamily="34" charset="0"/>
                <a:ea typeface="Source Sans Pro" panose="020B0503030403020204" pitchFamily="34" charset="0"/>
              </a:rPr>
              <a:t>Chúng</a:t>
            </a:r>
            <a:r>
              <a:rPr lang="en-US" sz="3600" dirty="0">
                <a:solidFill>
                  <a:srgbClr val="002060"/>
                </a:solidFill>
                <a:latin typeface="Source Sans Pro" panose="020B0503030403020204" pitchFamily="34" charset="0"/>
                <a:ea typeface="Source Sans Pro" panose="020B0503030403020204" pitchFamily="34" charset="0"/>
              </a:rPr>
              <a:t> </a:t>
            </a:r>
            <a:r>
              <a:rPr lang="vi-VN" sz="3600" i="0" u="none" strike="noStrike" dirty="0">
                <a:solidFill>
                  <a:srgbClr val="002060"/>
                </a:solidFill>
                <a:effectLst/>
                <a:latin typeface="Source Sans Pro" panose="020B0503030403020204" pitchFamily="34" charset="0"/>
                <a:ea typeface="Source Sans Pro" panose="020B0503030403020204" pitchFamily="34" charset="0"/>
              </a:rPr>
              <a:t>kết nối với nhau tạo thành </a:t>
            </a:r>
            <a:r>
              <a:rPr lang="vi-VN" sz="3600" b="1" i="0" u="none" strike="noStrike" dirty="0">
                <a:solidFill>
                  <a:srgbClr val="002060"/>
                </a:solidFill>
                <a:effectLst/>
                <a:latin typeface="Source Sans Pro" panose="020B0503030403020204" pitchFamily="34" charset="0"/>
                <a:ea typeface="Source Sans Pro" panose="020B0503030403020204" pitchFamily="34" charset="0"/>
              </a:rPr>
              <a:t>mạng liên tưởng</a:t>
            </a:r>
            <a:r>
              <a:rPr lang="vi-VN" sz="3600" i="0" u="none" strike="noStrike" dirty="0">
                <a:solidFill>
                  <a:srgbClr val="002060"/>
                </a:solidFill>
                <a:effectLst/>
                <a:latin typeface="Source Sans Pro" panose="020B0503030403020204" pitchFamily="34" charset="0"/>
                <a:ea typeface="Source Sans Pro" panose="020B0503030403020204" pitchFamily="34" charset="0"/>
              </a:rPr>
              <a:t>; thông tin được </a:t>
            </a:r>
            <a:r>
              <a:rPr lang="vi-VN" sz="3600" b="1" i="0" u="none" strike="noStrike" dirty="0">
                <a:solidFill>
                  <a:srgbClr val="002060"/>
                </a:solidFill>
                <a:effectLst/>
                <a:latin typeface="Source Sans Pro" panose="020B0503030403020204" pitchFamily="34" charset="0"/>
                <a:ea typeface="Source Sans Pro" panose="020B0503030403020204" pitchFamily="34" charset="0"/>
              </a:rPr>
              <a:t>biểu diễn dưới dạng mệnh đề</a:t>
            </a:r>
            <a:r>
              <a:rPr lang="en-US" sz="3600" i="0" u="none" strike="noStrike" dirty="0">
                <a:solidFill>
                  <a:srgbClr val="002060"/>
                </a:solidFill>
                <a:effectLst/>
                <a:latin typeface="Source Sans Pro" panose="020B0503030403020204" pitchFamily="34" charset="0"/>
                <a:ea typeface="Source Sans Pro" panose="020B0503030403020204" pitchFamily="34" charset="0"/>
              </a:rPr>
              <a:t>.</a:t>
            </a:r>
            <a:r>
              <a:rPr lang="vi-VN" sz="3600" i="0" u="none" strike="noStrike" dirty="0">
                <a:solidFill>
                  <a:srgbClr val="002060"/>
                </a:solidFill>
                <a:effectLst/>
                <a:latin typeface="Source Sans Pro" panose="020B0503030403020204" pitchFamily="34" charset="0"/>
                <a:ea typeface="Source Sans Pro" panose="020B0503030403020204" pitchFamily="34" charset="0"/>
              </a:rPr>
              <a:t> </a:t>
            </a:r>
          </a:p>
        </p:txBody>
      </p:sp>
      <p:sp>
        <p:nvSpPr>
          <p:cNvPr id="6" name="Oval 5">
            <a:extLst>
              <a:ext uri="{FF2B5EF4-FFF2-40B4-BE49-F238E27FC236}">
                <a16:creationId xmlns:a16="http://schemas.microsoft.com/office/drawing/2014/main" id="{B34E6980-A7A3-4F74-FCAD-2BE26BAD98D9}"/>
              </a:ext>
            </a:extLst>
          </p:cNvPr>
          <p:cNvSpPr/>
          <p:nvPr/>
        </p:nvSpPr>
        <p:spPr>
          <a:xfrm>
            <a:off x="6060810" y="4952975"/>
            <a:ext cx="439459"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grpSp>
        <p:nvGrpSpPr>
          <p:cNvPr id="8" name="Group 7">
            <a:extLst>
              <a:ext uri="{FF2B5EF4-FFF2-40B4-BE49-F238E27FC236}">
                <a16:creationId xmlns:a16="http://schemas.microsoft.com/office/drawing/2014/main" id="{ACF7FCAD-0A97-C709-2798-2D0D530712E3}"/>
              </a:ext>
            </a:extLst>
          </p:cNvPr>
          <p:cNvGrpSpPr/>
          <p:nvPr/>
        </p:nvGrpSpPr>
        <p:grpSpPr>
          <a:xfrm>
            <a:off x="7015842" y="4823435"/>
            <a:ext cx="6014358" cy="653752"/>
            <a:chOff x="3690372" y="3389726"/>
            <a:chExt cx="12113794" cy="806153"/>
          </a:xfrm>
        </p:grpSpPr>
        <p:sp>
          <p:nvSpPr>
            <p:cNvPr id="9" name="Rectangle: Diagonal Corners Snipped 8">
              <a:extLst>
                <a:ext uri="{FF2B5EF4-FFF2-40B4-BE49-F238E27FC236}">
                  <a16:creationId xmlns:a16="http://schemas.microsoft.com/office/drawing/2014/main" id="{02BB7E9A-429A-9865-49E8-DDF9F2EC72BE}"/>
                </a:ext>
              </a:extLst>
            </p:cNvPr>
            <p:cNvSpPr/>
            <p:nvPr/>
          </p:nvSpPr>
          <p:spPr>
            <a:xfrm>
              <a:off x="3690372" y="3389726"/>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sp>
          <p:nvSpPr>
            <p:cNvPr id="10" name="TextBox 5">
              <a:extLst>
                <a:ext uri="{FF2B5EF4-FFF2-40B4-BE49-F238E27FC236}">
                  <a16:creationId xmlns:a16="http://schemas.microsoft.com/office/drawing/2014/main" id="{256E9AA5-CB4A-BA55-44FD-F662B7DAA800}"/>
                </a:ext>
              </a:extLst>
            </p:cNvPr>
            <p:cNvSpPr txBox="1"/>
            <p:nvPr/>
          </p:nvSpPr>
          <p:spPr>
            <a:xfrm>
              <a:off x="3922483" y="3458668"/>
              <a:ext cx="11881683" cy="683145"/>
            </a:xfrm>
            <a:prstGeom prst="rect">
              <a:avLst/>
            </a:prstGeom>
          </p:spPr>
          <p:txBody>
            <a:bodyPr wrap="square" lIns="0" tIns="0" rIns="0" bIns="0" rtlCol="0" anchor="ctr">
              <a:spAutoFit/>
            </a:bodyPr>
            <a:lstStyle/>
            <a:p>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Kích</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hoạt</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theo</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ngữ</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cảnh</a:t>
              </a:r>
              <a:endParaRPr lang="en-US" sz="3600" b="1" i="0" u="none" strike="noStrike" dirty="0">
                <a:solidFill>
                  <a:srgbClr val="002060"/>
                </a:solidFill>
                <a:effectLst/>
                <a:latin typeface="Source Sans Pro" panose="020B0503030403020204" pitchFamily="34" charset="0"/>
                <a:ea typeface="Source Sans Pro" panose="020B0503030403020204" pitchFamily="34" charset="0"/>
              </a:endParaRPr>
            </a:p>
          </p:txBody>
        </p:sp>
      </p:grpSp>
      <p:sp>
        <p:nvSpPr>
          <p:cNvPr id="13" name="Oval 12">
            <a:extLst>
              <a:ext uri="{FF2B5EF4-FFF2-40B4-BE49-F238E27FC236}">
                <a16:creationId xmlns:a16="http://schemas.microsoft.com/office/drawing/2014/main" id="{02CF62A7-BDF5-003C-BDB3-3B7BBBF12CD3}"/>
              </a:ext>
            </a:extLst>
          </p:cNvPr>
          <p:cNvSpPr/>
          <p:nvPr/>
        </p:nvSpPr>
        <p:spPr>
          <a:xfrm>
            <a:off x="6062997" y="5846561"/>
            <a:ext cx="439459"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grpSp>
        <p:nvGrpSpPr>
          <p:cNvPr id="20" name="Group 19">
            <a:extLst>
              <a:ext uri="{FF2B5EF4-FFF2-40B4-BE49-F238E27FC236}">
                <a16:creationId xmlns:a16="http://schemas.microsoft.com/office/drawing/2014/main" id="{E1796A1C-E412-2D0A-BAA4-8BDCACE84145}"/>
              </a:ext>
            </a:extLst>
          </p:cNvPr>
          <p:cNvGrpSpPr/>
          <p:nvPr/>
        </p:nvGrpSpPr>
        <p:grpSpPr>
          <a:xfrm>
            <a:off x="7015841" y="5478666"/>
            <a:ext cx="5987899" cy="1107996"/>
            <a:chOff x="3720276" y="4330057"/>
            <a:chExt cx="12060501" cy="1366289"/>
          </a:xfrm>
        </p:grpSpPr>
        <p:sp>
          <p:nvSpPr>
            <p:cNvPr id="21" name="Rectangle: Diagonal Corners Snipped 20">
              <a:extLst>
                <a:ext uri="{FF2B5EF4-FFF2-40B4-BE49-F238E27FC236}">
                  <a16:creationId xmlns:a16="http://schemas.microsoft.com/office/drawing/2014/main" id="{7615B452-707B-C5F0-C310-A77A95D7B031}"/>
                </a:ext>
              </a:extLst>
            </p:cNvPr>
            <p:cNvSpPr/>
            <p:nvPr/>
          </p:nvSpPr>
          <p:spPr>
            <a:xfrm>
              <a:off x="3720276" y="461012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sp>
          <p:nvSpPr>
            <p:cNvPr id="22" name="TextBox 5">
              <a:extLst>
                <a:ext uri="{FF2B5EF4-FFF2-40B4-BE49-F238E27FC236}">
                  <a16:creationId xmlns:a16="http://schemas.microsoft.com/office/drawing/2014/main" id="{45EF6F0F-850E-85BA-F19E-A1B3B23A4F57}"/>
                </a:ext>
              </a:extLst>
            </p:cNvPr>
            <p:cNvSpPr txBox="1"/>
            <p:nvPr/>
          </p:nvSpPr>
          <p:spPr>
            <a:xfrm>
              <a:off x="3922486" y="4330057"/>
              <a:ext cx="11356765" cy="1366289"/>
            </a:xfrm>
            <a:prstGeom prst="rect">
              <a:avLst/>
            </a:prstGeom>
          </p:spPr>
          <p:txBody>
            <a:bodyPr wrap="square" lIns="0" tIns="0" rIns="0" bIns="0" rtlCol="0" anchor="ctr">
              <a:spAutoFit/>
            </a:bodyPr>
            <a:lstStyle/>
            <a:p>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Lấy</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thông</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tin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bằng</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mệnh</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đề</a:t>
              </a:r>
              <a:endParaRPr lang="en-US" sz="36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24" name="Oval 23">
            <a:extLst>
              <a:ext uri="{FF2B5EF4-FFF2-40B4-BE49-F238E27FC236}">
                <a16:creationId xmlns:a16="http://schemas.microsoft.com/office/drawing/2014/main" id="{9DE3F932-2FAA-7089-C14A-5F5E2E5DD067}"/>
              </a:ext>
            </a:extLst>
          </p:cNvPr>
          <p:cNvSpPr/>
          <p:nvPr/>
        </p:nvSpPr>
        <p:spPr>
          <a:xfrm>
            <a:off x="6062997" y="6703979"/>
            <a:ext cx="439459"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grpSp>
        <p:nvGrpSpPr>
          <p:cNvPr id="26" name="Group 25">
            <a:extLst>
              <a:ext uri="{FF2B5EF4-FFF2-40B4-BE49-F238E27FC236}">
                <a16:creationId xmlns:a16="http://schemas.microsoft.com/office/drawing/2014/main" id="{CAFED2BA-9BD1-DF7A-9F3E-E9F0120F939E}"/>
              </a:ext>
            </a:extLst>
          </p:cNvPr>
          <p:cNvGrpSpPr/>
          <p:nvPr/>
        </p:nvGrpSpPr>
        <p:grpSpPr>
          <a:xfrm>
            <a:off x="7015841" y="6347961"/>
            <a:ext cx="5987899" cy="1107996"/>
            <a:chOff x="3713796" y="5546908"/>
            <a:chExt cx="12060501" cy="1366289"/>
          </a:xfrm>
        </p:grpSpPr>
        <p:sp>
          <p:nvSpPr>
            <p:cNvPr id="30" name="Rectangle: Diagonal Corners Snipped 29">
              <a:extLst>
                <a:ext uri="{FF2B5EF4-FFF2-40B4-BE49-F238E27FC236}">
                  <a16:creationId xmlns:a16="http://schemas.microsoft.com/office/drawing/2014/main" id="{217205A7-B5D3-81E7-4768-35B3C9D8D1A5}"/>
                </a:ext>
              </a:extLst>
            </p:cNvPr>
            <p:cNvSpPr/>
            <p:nvPr/>
          </p:nvSpPr>
          <p:spPr>
            <a:xfrm>
              <a:off x="3713796" y="5828151"/>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sp>
          <p:nvSpPr>
            <p:cNvPr id="31" name="TextBox 5">
              <a:extLst>
                <a:ext uri="{FF2B5EF4-FFF2-40B4-BE49-F238E27FC236}">
                  <a16:creationId xmlns:a16="http://schemas.microsoft.com/office/drawing/2014/main" id="{F9F0D658-BB9D-3EF8-9D2F-D0BAD6E09FDA}"/>
                </a:ext>
              </a:extLst>
            </p:cNvPr>
            <p:cNvSpPr txBox="1"/>
            <p:nvPr/>
          </p:nvSpPr>
          <p:spPr>
            <a:xfrm>
              <a:off x="3916724" y="5546908"/>
              <a:ext cx="11704277" cy="1366289"/>
            </a:xfrm>
            <a:prstGeom prst="rect">
              <a:avLst/>
            </a:prstGeom>
          </p:spPr>
          <p:txBody>
            <a:bodyPr wrap="square" lIns="0" tIns="0" rIns="0" bIns="0" rtlCol="0" anchor="ctr">
              <a:spAutoFit/>
            </a:bodyPr>
            <a:lstStyle/>
            <a:p>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Mặc</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định</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kế</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thừa</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thông</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tin</a:t>
              </a:r>
            </a:p>
          </p:txBody>
        </p:sp>
      </p:grpSp>
      <p:sp>
        <p:nvSpPr>
          <p:cNvPr id="32" name="Oval 31">
            <a:extLst>
              <a:ext uri="{FF2B5EF4-FFF2-40B4-BE49-F238E27FC236}">
                <a16:creationId xmlns:a16="http://schemas.microsoft.com/office/drawing/2014/main" id="{11E3EB6F-092D-3319-A0B9-AF52CE0F1B0C}"/>
              </a:ext>
            </a:extLst>
          </p:cNvPr>
          <p:cNvSpPr/>
          <p:nvPr/>
        </p:nvSpPr>
        <p:spPr>
          <a:xfrm>
            <a:off x="6068508" y="7598833"/>
            <a:ext cx="439459"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grpSp>
        <p:nvGrpSpPr>
          <p:cNvPr id="33" name="Group 32">
            <a:extLst>
              <a:ext uri="{FF2B5EF4-FFF2-40B4-BE49-F238E27FC236}">
                <a16:creationId xmlns:a16="http://schemas.microsoft.com/office/drawing/2014/main" id="{A6F51784-492D-FA55-0488-9405EC9437AC}"/>
              </a:ext>
            </a:extLst>
          </p:cNvPr>
          <p:cNvGrpSpPr/>
          <p:nvPr/>
        </p:nvGrpSpPr>
        <p:grpSpPr>
          <a:xfrm>
            <a:off x="7015839" y="7458387"/>
            <a:ext cx="5987899" cy="653752"/>
            <a:chOff x="3734590" y="7002955"/>
            <a:chExt cx="12060501" cy="806153"/>
          </a:xfrm>
        </p:grpSpPr>
        <p:sp>
          <p:nvSpPr>
            <p:cNvPr id="34" name="Rectangle: Diagonal Corners Snipped 33">
              <a:extLst>
                <a:ext uri="{FF2B5EF4-FFF2-40B4-BE49-F238E27FC236}">
                  <a16:creationId xmlns:a16="http://schemas.microsoft.com/office/drawing/2014/main" id="{BD550724-3647-9E2D-4B1B-CEC3F6A9EAF5}"/>
                </a:ext>
              </a:extLst>
            </p:cNvPr>
            <p:cNvSpPr/>
            <p:nvPr/>
          </p:nvSpPr>
          <p:spPr>
            <a:xfrm>
              <a:off x="3734590" y="700295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sp>
          <p:nvSpPr>
            <p:cNvPr id="35" name="TextBox 5">
              <a:extLst>
                <a:ext uri="{FF2B5EF4-FFF2-40B4-BE49-F238E27FC236}">
                  <a16:creationId xmlns:a16="http://schemas.microsoft.com/office/drawing/2014/main" id="{52312352-A39F-721E-B01F-268BE2073E8C}"/>
                </a:ext>
              </a:extLst>
            </p:cNvPr>
            <p:cNvSpPr txBox="1"/>
            <p:nvPr/>
          </p:nvSpPr>
          <p:spPr>
            <a:xfrm>
              <a:off x="3913404" y="7064458"/>
              <a:ext cx="11881685" cy="683145"/>
            </a:xfrm>
            <a:prstGeom prst="rect">
              <a:avLst/>
            </a:prstGeom>
          </p:spPr>
          <p:txBody>
            <a:bodyPr wrap="square" lIns="0" tIns="0" rIns="0" bIns="0" rtlCol="0" anchor="ctr">
              <a:spAutoFit/>
            </a:bodyPr>
            <a:lstStyle/>
            <a:p>
              <a:r>
                <a:rPr lang="en-US" sz="3600" b="1" dirty="0" err="1">
                  <a:solidFill>
                    <a:srgbClr val="002060"/>
                  </a:solidFill>
                  <a:latin typeface="Source Sans Pro" panose="020B0503030403020204" pitchFamily="34" charset="0"/>
                  <a:ea typeface="Source Sans Pro" panose="020B0503030403020204" pitchFamily="34" charset="0"/>
                </a:rPr>
                <a:t>Ngoại</a:t>
              </a:r>
              <a:r>
                <a:rPr lang="en-US" sz="3600" b="1" dirty="0">
                  <a:solidFill>
                    <a:srgbClr val="002060"/>
                  </a:solidFill>
                  <a:latin typeface="Source Sans Pro" panose="020B0503030403020204" pitchFamily="34" charset="0"/>
                  <a:ea typeface="Source Sans Pro" panose="020B0503030403020204" pitchFamily="34" charset="0"/>
                </a:rPr>
                <a:t> </a:t>
              </a:r>
              <a:r>
                <a:rPr lang="en-US" sz="3600" b="1" dirty="0" err="1">
                  <a:solidFill>
                    <a:srgbClr val="002060"/>
                  </a:solidFill>
                  <a:latin typeface="Source Sans Pro" panose="020B0503030403020204" pitchFamily="34" charset="0"/>
                  <a:ea typeface="Source Sans Pro" panose="020B0503030403020204" pitchFamily="34" charset="0"/>
                </a:rPr>
                <a:t>lệ</a:t>
              </a:r>
              <a:r>
                <a:rPr lang="en-US" sz="3600" b="1" dirty="0">
                  <a:solidFill>
                    <a:srgbClr val="002060"/>
                  </a:solidFill>
                  <a:latin typeface="Source Sans Pro" panose="020B0503030403020204" pitchFamily="34" charset="0"/>
                  <a:ea typeface="Source Sans Pro" panose="020B0503030403020204" pitchFamily="34" charset="0"/>
                </a:rPr>
                <a:t> </a:t>
              </a:r>
              <a:r>
                <a:rPr lang="en-US" sz="3600" b="1" dirty="0" err="1">
                  <a:solidFill>
                    <a:srgbClr val="002060"/>
                  </a:solidFill>
                  <a:latin typeface="Source Sans Pro" panose="020B0503030403020204" pitchFamily="34" charset="0"/>
                  <a:ea typeface="Source Sans Pro" panose="020B0503030403020204" pitchFamily="34" charset="0"/>
                </a:rPr>
                <a:t>ghi</a:t>
              </a:r>
              <a:r>
                <a:rPr lang="en-US" sz="3600" b="1" dirty="0">
                  <a:solidFill>
                    <a:srgbClr val="002060"/>
                  </a:solidFill>
                  <a:latin typeface="Source Sans Pro" panose="020B0503030403020204" pitchFamily="34" charset="0"/>
                  <a:ea typeface="Source Sans Pro" panose="020B0503030403020204" pitchFamily="34" charset="0"/>
                </a:rPr>
                <a:t> </a:t>
              </a:r>
              <a:r>
                <a:rPr lang="en-US" sz="3600" b="1" dirty="0" err="1">
                  <a:solidFill>
                    <a:srgbClr val="002060"/>
                  </a:solidFill>
                  <a:latin typeface="Source Sans Pro" panose="020B0503030403020204" pitchFamily="34" charset="0"/>
                  <a:ea typeface="Source Sans Pro" panose="020B0503030403020204" pitchFamily="34" charset="0"/>
                </a:rPr>
                <a:t>đè</a:t>
              </a:r>
              <a:endParaRPr lang="en-US" sz="3600" b="1" dirty="0">
                <a:solidFill>
                  <a:srgbClr val="002060"/>
                </a:solidFill>
                <a:latin typeface="Source Sans Pro" panose="020B0503030403020204" pitchFamily="34" charset="0"/>
                <a:ea typeface="Source Sans Pro" panose="020B0503030403020204" pitchFamily="34" charset="0"/>
              </a:endParaRPr>
            </a:p>
          </p:txBody>
        </p:sp>
      </p:grpSp>
      <p:sp>
        <p:nvSpPr>
          <p:cNvPr id="36" name="Oval 35">
            <a:extLst>
              <a:ext uri="{FF2B5EF4-FFF2-40B4-BE49-F238E27FC236}">
                <a16:creationId xmlns:a16="http://schemas.microsoft.com/office/drawing/2014/main" id="{28A021B8-5278-AD54-1241-D7A099ACCBBA}"/>
              </a:ext>
            </a:extLst>
          </p:cNvPr>
          <p:cNvSpPr/>
          <p:nvPr/>
        </p:nvSpPr>
        <p:spPr>
          <a:xfrm>
            <a:off x="6057572" y="8490835"/>
            <a:ext cx="439459"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grpSp>
        <p:nvGrpSpPr>
          <p:cNvPr id="37" name="Group 36">
            <a:extLst>
              <a:ext uri="{FF2B5EF4-FFF2-40B4-BE49-F238E27FC236}">
                <a16:creationId xmlns:a16="http://schemas.microsoft.com/office/drawing/2014/main" id="{1852C725-ADEA-D90B-6C59-47AB35D3D359}"/>
              </a:ext>
            </a:extLst>
          </p:cNvPr>
          <p:cNvGrpSpPr/>
          <p:nvPr/>
        </p:nvGrpSpPr>
        <p:grpSpPr>
          <a:xfrm>
            <a:off x="7015839" y="8372787"/>
            <a:ext cx="5987899" cy="653752"/>
            <a:chOff x="3690373" y="8223547"/>
            <a:chExt cx="12060501" cy="806153"/>
          </a:xfrm>
        </p:grpSpPr>
        <p:sp>
          <p:nvSpPr>
            <p:cNvPr id="38" name="Rectangle: Diagonal Corners Snipped 37">
              <a:extLst>
                <a:ext uri="{FF2B5EF4-FFF2-40B4-BE49-F238E27FC236}">
                  <a16:creationId xmlns:a16="http://schemas.microsoft.com/office/drawing/2014/main" id="{14EAD38E-7C46-1C75-FAAC-DAF863F42497}"/>
                </a:ext>
              </a:extLst>
            </p:cNvPr>
            <p:cNvSpPr/>
            <p:nvPr/>
          </p:nvSpPr>
          <p:spPr>
            <a:xfrm>
              <a:off x="3690373" y="8223547"/>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sp>
          <p:nvSpPr>
            <p:cNvPr id="39" name="TextBox 5">
              <a:extLst>
                <a:ext uri="{FF2B5EF4-FFF2-40B4-BE49-F238E27FC236}">
                  <a16:creationId xmlns:a16="http://schemas.microsoft.com/office/drawing/2014/main" id="{0A74D5E5-FA1B-705C-5125-5F345DB0C992}"/>
                </a:ext>
              </a:extLst>
            </p:cNvPr>
            <p:cNvSpPr txBox="1"/>
            <p:nvPr/>
          </p:nvSpPr>
          <p:spPr>
            <a:xfrm>
              <a:off x="3913404" y="8282986"/>
              <a:ext cx="9235962" cy="683145"/>
            </a:xfrm>
            <a:prstGeom prst="rect">
              <a:avLst/>
            </a:prstGeom>
          </p:spPr>
          <p:txBody>
            <a:bodyPr wrap="square" lIns="0" tIns="0" rIns="0" bIns="0" rtlCol="0" anchor="ctr">
              <a:spAutoFit/>
            </a:bodyPr>
            <a:lstStyle/>
            <a:p>
              <a:r>
                <a:rPr lang="en-US" sz="3600" b="1" i="0" u="none" strike="noStrike" dirty="0">
                  <a:solidFill>
                    <a:srgbClr val="002060"/>
                  </a:solidFill>
                  <a:effectLst/>
                  <a:latin typeface="Source Sans Pro" panose="020B0503030403020204" pitchFamily="34" charset="0"/>
                  <a:ea typeface="Source Sans Pro" panose="020B0503030403020204" pitchFamily="34" charset="0"/>
                </a:rPr>
                <a:t>Suy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diễn</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qua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mạng</a:t>
              </a:r>
              <a:endParaRPr lang="en-US" sz="36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grpSp>
      <p:cxnSp>
        <p:nvCxnSpPr>
          <p:cNvPr id="40" name="Straight Connector 39">
            <a:extLst>
              <a:ext uri="{FF2B5EF4-FFF2-40B4-BE49-F238E27FC236}">
                <a16:creationId xmlns:a16="http://schemas.microsoft.com/office/drawing/2014/main" id="{ED4CB7AC-8B05-7934-DF05-C08EC3B249BF}"/>
              </a:ext>
            </a:extLst>
          </p:cNvPr>
          <p:cNvCxnSpPr>
            <a:cxnSpLocks/>
            <a:stCxn id="6" idx="6"/>
            <a:endCxn id="9" idx="2"/>
          </p:cNvCxnSpPr>
          <p:nvPr/>
        </p:nvCxnSpPr>
        <p:spPr>
          <a:xfrm>
            <a:off x="6500269" y="5143475"/>
            <a:ext cx="515573" cy="6836"/>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1BAD7AE-FBA8-5D85-8512-2EF364972067}"/>
              </a:ext>
            </a:extLst>
          </p:cNvPr>
          <p:cNvCxnSpPr>
            <a:cxnSpLocks/>
            <a:stCxn id="13" idx="6"/>
            <a:endCxn id="21" idx="2"/>
          </p:cNvCxnSpPr>
          <p:nvPr/>
        </p:nvCxnSpPr>
        <p:spPr>
          <a:xfrm flipV="1">
            <a:off x="6502456" y="6032664"/>
            <a:ext cx="513385" cy="4397"/>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18EF7455-1AEB-E454-618C-BEA932F6BBD4}"/>
              </a:ext>
            </a:extLst>
          </p:cNvPr>
          <p:cNvCxnSpPr>
            <a:cxnSpLocks/>
            <a:stCxn id="24" idx="6"/>
            <a:endCxn id="30" idx="2"/>
          </p:cNvCxnSpPr>
          <p:nvPr/>
        </p:nvCxnSpPr>
        <p:spPr>
          <a:xfrm>
            <a:off x="6502456" y="6894479"/>
            <a:ext cx="513385" cy="8433"/>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2D0B856F-AA90-0143-02A3-5773C6E34662}"/>
              </a:ext>
            </a:extLst>
          </p:cNvPr>
          <p:cNvCxnSpPr>
            <a:cxnSpLocks/>
            <a:stCxn id="32" idx="6"/>
            <a:endCxn id="34" idx="2"/>
          </p:cNvCxnSpPr>
          <p:nvPr/>
        </p:nvCxnSpPr>
        <p:spPr>
          <a:xfrm flipV="1">
            <a:off x="6507967" y="7785263"/>
            <a:ext cx="507872" cy="4070"/>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9CE8E4B6-CAC3-2108-CEDC-938F0156D099}"/>
              </a:ext>
            </a:extLst>
          </p:cNvPr>
          <p:cNvCxnSpPr>
            <a:cxnSpLocks/>
            <a:stCxn id="36" idx="6"/>
            <a:endCxn id="38" idx="2"/>
          </p:cNvCxnSpPr>
          <p:nvPr/>
        </p:nvCxnSpPr>
        <p:spPr>
          <a:xfrm>
            <a:off x="6497031" y="8681335"/>
            <a:ext cx="518808" cy="18328"/>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17950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wipe(up)">
                                      <p:cBhvr>
                                        <p:cTn id="12" dur="500"/>
                                        <p:tgtEl>
                                          <p:spTgt spid="46"/>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50"/>
                                        <p:tgtEl>
                                          <p:spTgt spid="6"/>
                                        </p:tgtEl>
                                      </p:cBhvr>
                                    </p:animEffect>
                                  </p:childTnLst>
                                </p:cTn>
                              </p:par>
                            </p:childTnLst>
                          </p:cTn>
                        </p:par>
                        <p:par>
                          <p:cTn id="17" fill="hold">
                            <p:stCondLst>
                              <p:cond delay="750"/>
                            </p:stCondLst>
                            <p:childTnLst>
                              <p:par>
                                <p:cTn id="18" presetID="10" presetClass="entr" presetSubtype="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250"/>
                                        <p:tgtEl>
                                          <p:spTgt spid="13"/>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250"/>
                                        <p:tgtEl>
                                          <p:spTgt spid="24"/>
                                        </p:tgtEl>
                                      </p:cBhvr>
                                    </p:animEffect>
                                  </p:childTnLst>
                                </p:cTn>
                              </p:par>
                            </p:childTnLst>
                          </p:cTn>
                        </p:par>
                        <p:par>
                          <p:cTn id="25" fill="hold">
                            <p:stCondLst>
                              <p:cond delay="1250"/>
                            </p:stCondLst>
                            <p:childTnLst>
                              <p:par>
                                <p:cTn id="26" presetID="10" presetClass="entr" presetSubtype="0" fill="hold" grpId="0" nodeType="after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250"/>
                                        <p:tgtEl>
                                          <p:spTgt spid="32"/>
                                        </p:tgtEl>
                                      </p:cBhvr>
                                    </p:animEffect>
                                  </p:childTnLst>
                                </p:cTn>
                              </p:par>
                            </p:childTnLst>
                          </p:cTn>
                        </p:par>
                        <p:par>
                          <p:cTn id="29" fill="hold">
                            <p:stCondLst>
                              <p:cond delay="1500"/>
                            </p:stCondLst>
                            <p:childTnLst>
                              <p:par>
                                <p:cTn id="30" presetID="10" presetClass="entr" presetSubtype="0" fill="hold" grpId="0" nodeType="after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25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wipe(left)">
                                      <p:cBhvr>
                                        <p:cTn id="37" dur="500"/>
                                        <p:tgtEl>
                                          <p:spTgt spid="40"/>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wipe(left)">
                                      <p:cBhvr>
                                        <p:cTn id="46" dur="500"/>
                                        <p:tgtEl>
                                          <p:spTgt spid="41"/>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wipe(left)">
                                      <p:cBhvr>
                                        <p:cTn id="55" dur="500"/>
                                        <p:tgtEl>
                                          <p:spTgt spid="42"/>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left)">
                                      <p:cBhvr>
                                        <p:cTn id="59" dur="500"/>
                                        <p:tgtEl>
                                          <p:spTgt spid="2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wipe(left)">
                                      <p:cBhvr>
                                        <p:cTn id="64" dur="500"/>
                                        <p:tgtEl>
                                          <p:spTgt spid="43"/>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wipe(left)">
                                      <p:cBhvr>
                                        <p:cTn id="68" dur="500"/>
                                        <p:tgtEl>
                                          <p:spTgt spid="3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44"/>
                                        </p:tgtEl>
                                        <p:attrNameLst>
                                          <p:attrName>style.visibility</p:attrName>
                                        </p:attrNameLst>
                                      </p:cBhvr>
                                      <p:to>
                                        <p:strVal val="visible"/>
                                      </p:to>
                                    </p:set>
                                    <p:animEffect transition="in" filter="wipe(left)">
                                      <p:cBhvr>
                                        <p:cTn id="73" dur="500"/>
                                        <p:tgtEl>
                                          <p:spTgt spid="44"/>
                                        </p:tgtEl>
                                      </p:cBhvr>
                                    </p:animEffec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ipe(left)">
                                      <p:cBhvr>
                                        <p:cTn id="7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3" grpId="0" animBg="1"/>
      <p:bldP spid="24" grpId="0" animBg="1"/>
      <p:bldP spid="32" grpId="0" animBg="1"/>
      <p:bldP spid="3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47B3CFEA-8E98-0E5C-85D8-1E42E5D49F98}"/>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D4E98ABF-5C10-15FC-27BC-1B3318927662}"/>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2649ACFE-9568-9E92-D878-78F7FC361FA9}"/>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A3A7CCD2-4CD9-CBBE-A8C3-9254119209F6}"/>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C770CCCC-93CA-C3F0-3CAC-2B41E08104D6}"/>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F9770864-C6AF-6712-0BB8-62F96B2A1308}"/>
              </a:ext>
            </a:extLst>
          </p:cNvPr>
          <p:cNvSpPr txBox="1"/>
          <p:nvPr/>
        </p:nvSpPr>
        <p:spPr>
          <a:xfrm>
            <a:off x="529590" y="273903"/>
            <a:ext cx="76581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II</a:t>
            </a:r>
          </a:p>
        </p:txBody>
      </p:sp>
      <p:sp>
        <p:nvSpPr>
          <p:cNvPr id="27" name="TextBox 26">
            <a:extLst>
              <a:ext uri="{FF2B5EF4-FFF2-40B4-BE49-F238E27FC236}">
                <a16:creationId xmlns:a16="http://schemas.microsoft.com/office/drawing/2014/main" id="{8EB845C7-C70E-7C9A-E94C-BCFC3746EB34}"/>
              </a:ext>
            </a:extLst>
          </p:cNvPr>
          <p:cNvSpPr txBox="1"/>
          <p:nvPr/>
        </p:nvSpPr>
        <p:spPr>
          <a:xfrm>
            <a:off x="2037587" y="266700"/>
            <a:ext cx="16783813" cy="584775"/>
          </a:xfrm>
          <a:prstGeom prst="rect">
            <a:avLst/>
          </a:prstGeom>
          <a:noFill/>
        </p:spPr>
        <p:txBody>
          <a:bodyPr wrap="square" rtlCol="0">
            <a:spAutoFit/>
          </a:bodyPr>
          <a:lstStyle/>
          <a:p>
            <a:pPr lvl="1">
              <a:spcAft>
                <a:spcPts val="12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SAI LẦM</a:t>
            </a:r>
          </a:p>
        </p:txBody>
      </p:sp>
      <p:pic>
        <p:nvPicPr>
          <p:cNvPr id="28" name="Picture 27" descr="A blue logo with a black background&#10;&#10;AI-generated content may be incorrect.">
            <a:extLst>
              <a:ext uri="{FF2B5EF4-FFF2-40B4-BE49-F238E27FC236}">
                <a16:creationId xmlns:a16="http://schemas.microsoft.com/office/drawing/2014/main" id="{8BEA5B42-99DA-5C21-EF13-8603430E7AFA}"/>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F3B7C5D0-1946-4FCB-5F70-907BF367B6CC}"/>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F72AC0EB-663C-B00C-2212-BA15C8A930B2}"/>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25</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6" name="TextBox 5">
            <a:extLst>
              <a:ext uri="{FF2B5EF4-FFF2-40B4-BE49-F238E27FC236}">
                <a16:creationId xmlns:a16="http://schemas.microsoft.com/office/drawing/2014/main" id="{5F1A1427-D81F-6A09-CE27-4CFC6AF18748}"/>
              </a:ext>
            </a:extLst>
          </p:cNvPr>
          <p:cNvSpPr txBox="1"/>
          <p:nvPr/>
        </p:nvSpPr>
        <p:spPr>
          <a:xfrm>
            <a:off x="1295400" y="2763441"/>
            <a:ext cx="15664542" cy="1846659"/>
          </a:xfrm>
          <a:prstGeom prst="rect">
            <a:avLst/>
          </a:prstGeom>
        </p:spPr>
        <p:txBody>
          <a:bodyPr wrap="square" lIns="0" tIns="0" rIns="0" bIns="0" rtlCol="0" anchor="ctr">
            <a:spAutoFit/>
          </a:bodyPr>
          <a:lstStyle/>
          <a:p>
            <a:pPr algn="just"/>
            <a:r>
              <a:rPr lang="vi-VN" sz="4000" i="0" u="none" strike="noStrike" dirty="0">
                <a:solidFill>
                  <a:srgbClr val="002060"/>
                </a:solidFill>
                <a:effectLst/>
                <a:latin typeface="Source Sans Pro" panose="020B0503030403020204" pitchFamily="34" charset="0"/>
                <a:ea typeface="Source Sans Pro" panose="020B0503030403020204" pitchFamily="34" charset="0"/>
              </a:rPr>
              <a:t>Con người không nghĩ như máy tính. Ta dựa vào nhóm kiến thức quen thuộc trong đầu, dùng mặc định để quyết nhanh và chỉ điều chỉnh khi gặp ngoại lệ. Cách này giúp ta nhanh và sáng tạo, nhưng cũng dễ lẫn lộn. </a:t>
            </a:r>
            <a:endParaRPr lang="en-US" sz="4000" i="0" u="none" strike="noStrike" dirty="0">
              <a:solidFill>
                <a:srgbClr val="002060"/>
              </a:solidFill>
              <a:effectLst/>
              <a:latin typeface="Source Sans Pro" panose="020B0503030403020204" pitchFamily="34" charset="0"/>
              <a:ea typeface="Source Sans Pro" panose="020B0503030403020204" pitchFamily="34" charset="0"/>
            </a:endParaRPr>
          </a:p>
        </p:txBody>
      </p:sp>
      <p:sp>
        <p:nvSpPr>
          <p:cNvPr id="9" name="TextBox 8">
            <a:extLst>
              <a:ext uri="{FF2B5EF4-FFF2-40B4-BE49-F238E27FC236}">
                <a16:creationId xmlns:a16="http://schemas.microsoft.com/office/drawing/2014/main" id="{E2E757A9-C5F5-E519-4A1B-D163CF993387}"/>
              </a:ext>
            </a:extLst>
          </p:cNvPr>
          <p:cNvSpPr txBox="1"/>
          <p:nvPr/>
        </p:nvSpPr>
        <p:spPr>
          <a:xfrm>
            <a:off x="1295400" y="5490508"/>
            <a:ext cx="15664542" cy="1938992"/>
          </a:xfrm>
          <a:prstGeom prst="rect">
            <a:avLst/>
          </a:prstGeom>
          <a:noFill/>
        </p:spPr>
        <p:txBody>
          <a:bodyPr wrap="square">
            <a:spAutoFit/>
          </a:bodyPr>
          <a:lstStyle/>
          <a:p>
            <a:pPr algn="just"/>
            <a:r>
              <a:rPr lang="vi-VN" sz="4000" i="0" u="none" strike="noStrike" dirty="0">
                <a:solidFill>
                  <a:srgbClr val="002060"/>
                </a:solidFill>
                <a:effectLst/>
                <a:latin typeface="Source Sans Pro" panose="020B0503030403020204" pitchFamily="34" charset="0"/>
                <a:ea typeface="Source Sans Pro" panose="020B0503030403020204" pitchFamily="34" charset="0"/>
              </a:rPr>
              <a:t>Vì vậy, thiết kế tốt </a:t>
            </a:r>
            <a:r>
              <a:rPr lang="vi-VN" sz="4000" b="1" i="0" u="none" strike="noStrike" dirty="0">
                <a:solidFill>
                  <a:srgbClr val="002060"/>
                </a:solidFill>
                <a:effectLst/>
                <a:latin typeface="Source Sans Pro" panose="020B0503030403020204" pitchFamily="34" charset="0"/>
                <a:ea typeface="Source Sans Pro" panose="020B0503030403020204" pitchFamily="34" charset="0"/>
              </a:rPr>
              <a:t>nên dùng ngôn ngữ quen thuộc</a:t>
            </a:r>
            <a:r>
              <a:rPr lang="vi-VN" sz="4000" i="0" u="none" strike="noStrike" dirty="0">
                <a:solidFill>
                  <a:srgbClr val="002060"/>
                </a:solidFill>
                <a:effectLst/>
                <a:latin typeface="Source Sans Pro" panose="020B0503030403020204" pitchFamily="34" charset="0"/>
                <a:ea typeface="Source Sans Pro" panose="020B0503030403020204" pitchFamily="34" charset="0"/>
              </a:rPr>
              <a:t>, đặt </a:t>
            </a:r>
            <a:r>
              <a:rPr lang="vi-VN" sz="4000" b="1" i="0" u="none" strike="noStrike" dirty="0">
                <a:solidFill>
                  <a:srgbClr val="002060"/>
                </a:solidFill>
                <a:effectLst/>
                <a:latin typeface="Source Sans Pro" panose="020B0503030403020204" pitchFamily="34" charset="0"/>
                <a:ea typeface="Source Sans Pro" panose="020B0503030403020204" pitchFamily="34" charset="0"/>
              </a:rPr>
              <a:t>mặc định an toàn</a:t>
            </a:r>
            <a:r>
              <a:rPr lang="vi-VN" sz="4000" i="0" u="none" strike="noStrike" dirty="0">
                <a:solidFill>
                  <a:srgbClr val="002060"/>
                </a:solidFill>
                <a:effectLst/>
                <a:latin typeface="Source Sans Pro" panose="020B0503030403020204" pitchFamily="34" charset="0"/>
                <a:ea typeface="Source Sans Pro" panose="020B0503030403020204" pitchFamily="34" charset="0"/>
              </a:rPr>
              <a:t>, </a:t>
            </a:r>
            <a:r>
              <a:rPr lang="en-US" sz="4000" b="1" i="0" u="none" strike="noStrike" dirty="0" err="1">
                <a:solidFill>
                  <a:srgbClr val="002060"/>
                </a:solidFill>
                <a:effectLst/>
                <a:latin typeface="Source Sans Pro" panose="020B0503030403020204" pitchFamily="34" charset="0"/>
                <a:ea typeface="Source Sans Pro" panose="020B0503030403020204" pitchFamily="34" charset="0"/>
              </a:rPr>
              <a:t>làm</a:t>
            </a:r>
            <a:r>
              <a:rPr lang="vi-VN" sz="4000" b="1" i="0" u="none" strike="noStrike" dirty="0">
                <a:solidFill>
                  <a:srgbClr val="002060"/>
                </a:solidFill>
                <a:effectLst/>
                <a:latin typeface="Source Sans Pro" panose="020B0503030403020204" pitchFamily="34" charset="0"/>
                <a:ea typeface="Source Sans Pro" panose="020B0503030403020204" pitchFamily="34" charset="0"/>
              </a:rPr>
              <a:t> rõ ngoại lệ</a:t>
            </a:r>
            <a:r>
              <a:rPr lang="vi-VN" sz="4000" i="0" u="none" strike="noStrike" dirty="0">
                <a:solidFill>
                  <a:srgbClr val="002060"/>
                </a:solidFill>
                <a:effectLst/>
                <a:latin typeface="Source Sans Pro" panose="020B0503030403020204" pitchFamily="34" charset="0"/>
                <a:ea typeface="Source Sans Pro" panose="020B0503030403020204" pitchFamily="34" charset="0"/>
              </a:rPr>
              <a:t>, và </a:t>
            </a:r>
            <a:r>
              <a:rPr lang="vi-VN" sz="4000" b="1" i="0" u="none" strike="noStrike" dirty="0">
                <a:solidFill>
                  <a:srgbClr val="002060"/>
                </a:solidFill>
                <a:effectLst/>
                <a:latin typeface="Source Sans Pro" panose="020B0503030403020204" pitchFamily="34" charset="0"/>
                <a:ea typeface="Source Sans Pro" panose="020B0503030403020204" pitchFamily="34" charset="0"/>
              </a:rPr>
              <a:t>cho phản hồi ngay </a:t>
            </a:r>
            <a:r>
              <a:rPr lang="vi-VN" sz="4000" i="0" u="none" strike="noStrike" dirty="0">
                <a:solidFill>
                  <a:srgbClr val="002060"/>
                </a:solidFill>
                <a:effectLst/>
                <a:latin typeface="Source Sans Pro" panose="020B0503030403020204" pitchFamily="34" charset="0"/>
                <a:ea typeface="Source Sans Pro" panose="020B0503030403020204" pitchFamily="34" charset="0"/>
              </a:rPr>
              <a:t>để người dùng hiểu nhanh, làm đúng, sửa dễ.</a:t>
            </a:r>
          </a:p>
        </p:txBody>
      </p:sp>
    </p:spTree>
    <p:extLst>
      <p:ext uri="{BB962C8B-B14F-4D97-AF65-F5344CB8AC3E}">
        <p14:creationId xmlns:p14="http://schemas.microsoft.com/office/powerpoint/2010/main" val="29280580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0DB6E-41C1-2346-DCE1-56CED72547F5}"/>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70ECA260-D217-45DB-F6CF-D0A1363BE269}"/>
              </a:ext>
            </a:extLst>
          </p:cNvPr>
          <p:cNvPicPr>
            <a:picLocks noGrp="1" noRot="1" noChangeAspect="1" noMove="1" noResize="1" noEditPoints="1" noAdjustHandles="1" noChangeArrowheads="1" noChangeShapeType="1" noCrop="1"/>
          </p:cNvPicPr>
          <p:nvPr/>
        </p:nvPicPr>
        <p:blipFill>
          <a:blip r:embed="rId2" cstate="print">
            <a:alphaModFix amt="5000"/>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8" name="Freeform 8">
            <a:extLst>
              <a:ext uri="{FF2B5EF4-FFF2-40B4-BE49-F238E27FC236}">
                <a16:creationId xmlns:a16="http://schemas.microsoft.com/office/drawing/2014/main" id="{104A96AC-C98B-301E-F7D2-57BEB529675D}"/>
              </a:ext>
            </a:extLst>
          </p:cNvPr>
          <p:cNvSpPr/>
          <p:nvPr/>
        </p:nvSpPr>
        <p:spPr>
          <a:xfrm rot="-10800000">
            <a:off x="11658600" y="-1333500"/>
            <a:ext cx="9344187" cy="5221064"/>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4">
              <a:alphaModFix amt="69000"/>
            </a:blip>
            <a:stretch>
              <a:fillRect/>
            </a:stretch>
          </a:blipFill>
        </p:spPr>
        <p:txBody>
          <a:bodyPr/>
          <a:lstStyle/>
          <a:p>
            <a:endParaRPr lang="en-US"/>
          </a:p>
        </p:txBody>
      </p:sp>
      <p:sp>
        <p:nvSpPr>
          <p:cNvPr id="10" name="Freeform 10">
            <a:extLst>
              <a:ext uri="{FF2B5EF4-FFF2-40B4-BE49-F238E27FC236}">
                <a16:creationId xmlns:a16="http://schemas.microsoft.com/office/drawing/2014/main" id="{DEF9A253-7256-5D3B-C13A-044795F6677C}"/>
              </a:ext>
            </a:extLst>
          </p:cNvPr>
          <p:cNvSpPr/>
          <p:nvPr/>
        </p:nvSpPr>
        <p:spPr>
          <a:xfrm rot="-10800000" flipH="1" flipV="1">
            <a:off x="-2667000" y="6362700"/>
            <a:ext cx="9344187" cy="5221064"/>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4">
              <a:alphaModFix amt="69000"/>
            </a:blip>
            <a:stretch>
              <a:fillRect/>
            </a:stretch>
          </a:blipFill>
        </p:spPr>
        <p:txBody>
          <a:bodyPr/>
          <a:lstStyle/>
          <a:p>
            <a:endParaRPr lang="en-US"/>
          </a:p>
        </p:txBody>
      </p:sp>
      <p:pic>
        <p:nvPicPr>
          <p:cNvPr id="4" name="Picture 3" descr="A blue logo with a black background&#10;&#10;AI-generated content may be incorrect.">
            <a:extLst>
              <a:ext uri="{FF2B5EF4-FFF2-40B4-BE49-F238E27FC236}">
                <a16:creationId xmlns:a16="http://schemas.microsoft.com/office/drawing/2014/main" id="{9BDB3CF5-5549-9926-F9C9-F234B15D901E}"/>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685800" y="571500"/>
            <a:ext cx="1403126" cy="1133024"/>
          </a:xfrm>
          <a:prstGeom prst="rect">
            <a:avLst/>
          </a:prstGeom>
        </p:spPr>
      </p:pic>
      <p:sp>
        <p:nvSpPr>
          <p:cNvPr id="5" name="Freeform 13">
            <a:extLst>
              <a:ext uri="{FF2B5EF4-FFF2-40B4-BE49-F238E27FC236}">
                <a16:creationId xmlns:a16="http://schemas.microsoft.com/office/drawing/2014/main" id="{936162AC-0EB7-DD14-6F0F-5B7DBC4B2561}"/>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9" name="Slide Number Placeholder 8">
            <a:extLst>
              <a:ext uri="{FF2B5EF4-FFF2-40B4-BE49-F238E27FC236}">
                <a16:creationId xmlns:a16="http://schemas.microsoft.com/office/drawing/2014/main" id="{8D2EA242-C27E-094A-90A2-269CA2151D78}"/>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26</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6" name="TextBox 9">
            <a:extLst>
              <a:ext uri="{FF2B5EF4-FFF2-40B4-BE49-F238E27FC236}">
                <a16:creationId xmlns:a16="http://schemas.microsoft.com/office/drawing/2014/main" id="{6B74934D-AF13-FBEC-FE6D-60A7E5A5B51B}"/>
              </a:ext>
            </a:extLst>
          </p:cNvPr>
          <p:cNvSpPr txBox="1"/>
          <p:nvPr/>
        </p:nvSpPr>
        <p:spPr>
          <a:xfrm>
            <a:off x="305083" y="5018459"/>
            <a:ext cx="4190999" cy="1996700"/>
          </a:xfrm>
          <a:prstGeom prst="rect">
            <a:avLst/>
          </a:prstGeom>
        </p:spPr>
        <p:txBody>
          <a:bodyPr wrap="square" lIns="0" tIns="0" rIns="0" bIns="0" rtlCol="0" anchor="ctr">
            <a:spAutoFit/>
          </a:bodyPr>
          <a:lstStyle/>
          <a:p>
            <a:pPr lvl="1" algn="ctr">
              <a:lnSpc>
                <a:spcPts val="11200"/>
              </a:lnSpc>
            </a:pPr>
            <a:r>
              <a:rPr lang="en-US" sz="239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III.</a:t>
            </a:r>
          </a:p>
        </p:txBody>
      </p:sp>
      <p:sp>
        <p:nvSpPr>
          <p:cNvPr id="11" name="TextBox 9">
            <a:extLst>
              <a:ext uri="{FF2B5EF4-FFF2-40B4-BE49-F238E27FC236}">
                <a16:creationId xmlns:a16="http://schemas.microsoft.com/office/drawing/2014/main" id="{5F1095BC-3435-D3D9-7411-BF9CAAC7378E}"/>
              </a:ext>
            </a:extLst>
          </p:cNvPr>
          <p:cNvSpPr txBox="1"/>
          <p:nvPr/>
        </p:nvSpPr>
        <p:spPr>
          <a:xfrm>
            <a:off x="4305016" y="3479576"/>
            <a:ext cx="13677901" cy="3077766"/>
          </a:xfrm>
          <a:prstGeom prst="rect">
            <a:avLst/>
          </a:prstGeom>
        </p:spPr>
        <p:txBody>
          <a:bodyPr wrap="square" lIns="0" tIns="0" rIns="0" bIns="0" rtlCol="0" anchor="ctr">
            <a:spAutoFit/>
          </a:bodyPr>
          <a:lstStyle/>
          <a:p>
            <a:pPr lvl="1">
              <a:spcAft>
                <a:spcPts val="1200"/>
              </a:spcAft>
            </a:pPr>
            <a:r>
              <a:rPr lang="en-US" sz="60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CẤU TRÚC NHIỆM VỤ </a:t>
            </a:r>
          </a:p>
          <a:p>
            <a:pPr lvl="1">
              <a:spcAft>
                <a:spcPts val="1200"/>
              </a:spcAft>
            </a:pPr>
            <a:r>
              <a:rPr lang="en-US" sz="60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VÀ BẢN CHẤT </a:t>
            </a:r>
          </a:p>
          <a:p>
            <a:pPr lvl="1">
              <a:spcAft>
                <a:spcPts val="1200"/>
              </a:spcAft>
            </a:pPr>
            <a:r>
              <a:rPr lang="en-US" sz="60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CỦA TÁC VỤ HẰNG NGÀY</a:t>
            </a:r>
          </a:p>
        </p:txBody>
      </p:sp>
    </p:spTree>
    <p:extLst>
      <p:ext uri="{BB962C8B-B14F-4D97-AF65-F5344CB8AC3E}">
        <p14:creationId xmlns:p14="http://schemas.microsoft.com/office/powerpoint/2010/main" val="485712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7807E321-4DF1-62C4-6F7D-607151EC1E09}"/>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69069FBB-1E5E-9A75-876F-496B85629FD9}"/>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290D8CFC-8441-6A7A-710B-4D1129A55883}"/>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6CE015A9-C0E2-049C-707F-227EC4ECB73F}"/>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6278F47F-8984-75B6-124B-D8755A97EAA5}"/>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20D2C95D-EA36-FC35-DC48-892290A03E0D}"/>
              </a:ext>
            </a:extLst>
          </p:cNvPr>
          <p:cNvSpPr txBox="1"/>
          <p:nvPr/>
        </p:nvSpPr>
        <p:spPr>
          <a:xfrm>
            <a:off x="381000" y="273903"/>
            <a:ext cx="99060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III</a:t>
            </a:r>
          </a:p>
        </p:txBody>
      </p:sp>
      <p:sp>
        <p:nvSpPr>
          <p:cNvPr id="27" name="TextBox 26">
            <a:extLst>
              <a:ext uri="{FF2B5EF4-FFF2-40B4-BE49-F238E27FC236}">
                <a16:creationId xmlns:a16="http://schemas.microsoft.com/office/drawing/2014/main" id="{90429DCE-3EC4-A06F-EFD1-AB1A7DFC7D38}"/>
              </a:ext>
            </a:extLst>
          </p:cNvPr>
          <p:cNvSpPr txBox="1"/>
          <p:nvPr/>
        </p:nvSpPr>
        <p:spPr>
          <a:xfrm>
            <a:off x="2037587" y="266700"/>
            <a:ext cx="16783813" cy="1154162"/>
          </a:xfrm>
          <a:prstGeom prst="rect">
            <a:avLst/>
          </a:prstGeom>
          <a:noFill/>
        </p:spPr>
        <p:txBody>
          <a:bodyPr wrap="square" rtlCol="0">
            <a:spAutoFit/>
          </a:bodyPr>
          <a:lstStyle/>
          <a:p>
            <a:pPr lvl="1">
              <a:spcAft>
                <a:spcPts val="6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CẤU TRÚC NHIỆM VỤ </a:t>
            </a:r>
          </a:p>
          <a:p>
            <a:pPr lvl="1">
              <a:spcAft>
                <a:spcPts val="6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VÀ BẢN CHẤT CỦA TÁC VỤ HẰNG NGÀY</a:t>
            </a:r>
          </a:p>
        </p:txBody>
      </p:sp>
      <p:pic>
        <p:nvPicPr>
          <p:cNvPr id="28" name="Picture 27" descr="A blue logo with a black background&#10;&#10;AI-generated content may be incorrect.">
            <a:extLst>
              <a:ext uri="{FF2B5EF4-FFF2-40B4-BE49-F238E27FC236}">
                <a16:creationId xmlns:a16="http://schemas.microsoft.com/office/drawing/2014/main" id="{8FFC6F91-6514-01EE-6251-D28A7067FCDC}"/>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05B0621D-EBCE-006B-D721-32AA00F36282}"/>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01DC2B6B-167A-C44C-C125-6F5081FE0C3B}"/>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27</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3" name="TextBox 2">
            <a:extLst>
              <a:ext uri="{FF2B5EF4-FFF2-40B4-BE49-F238E27FC236}">
                <a16:creationId xmlns:a16="http://schemas.microsoft.com/office/drawing/2014/main" id="{432CC040-4710-A8CF-B08D-9F45D0A8475A}"/>
              </a:ext>
            </a:extLst>
          </p:cNvPr>
          <p:cNvSpPr txBox="1"/>
          <p:nvPr/>
        </p:nvSpPr>
        <p:spPr>
          <a:xfrm>
            <a:off x="2037587" y="1409700"/>
            <a:ext cx="16783813" cy="523220"/>
          </a:xfrm>
          <a:prstGeom prst="rect">
            <a:avLst/>
          </a:prstGeom>
          <a:noFill/>
        </p:spPr>
        <p:txBody>
          <a:bodyPr wrap="square" rtlCol="0">
            <a:spAutoFit/>
          </a:bodyPr>
          <a:lstStyle/>
          <a:p>
            <a:pPr lvl="1">
              <a:spcAft>
                <a:spcPts val="1200"/>
              </a:spcAft>
            </a:pP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Cấu</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trúc</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nhiệm</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vụ</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pic>
        <p:nvPicPr>
          <p:cNvPr id="4" name="image1.jpg">
            <a:extLst>
              <a:ext uri="{FF2B5EF4-FFF2-40B4-BE49-F238E27FC236}">
                <a16:creationId xmlns:a16="http://schemas.microsoft.com/office/drawing/2014/main" id="{04B8075F-9B09-3664-12B0-B058DADA80F9}"/>
              </a:ext>
            </a:extLst>
          </p:cNvPr>
          <p:cNvPicPr/>
          <p:nvPr/>
        </p:nvPicPr>
        <p:blipFill>
          <a:blip r:embed="rId5"/>
          <a:srcRect/>
          <a:stretch>
            <a:fillRect/>
          </a:stretch>
        </p:blipFill>
        <p:spPr>
          <a:xfrm>
            <a:off x="10429493" y="2493587"/>
            <a:ext cx="6360160" cy="5926513"/>
          </a:xfrm>
          <a:prstGeom prst="rect">
            <a:avLst/>
          </a:prstGeom>
          <a:ln/>
        </p:spPr>
      </p:pic>
      <p:sp>
        <p:nvSpPr>
          <p:cNvPr id="5" name="TextBox 5">
            <a:extLst>
              <a:ext uri="{FF2B5EF4-FFF2-40B4-BE49-F238E27FC236}">
                <a16:creationId xmlns:a16="http://schemas.microsoft.com/office/drawing/2014/main" id="{0AD64237-43C9-0B8B-E582-DF9F4D95733F}"/>
              </a:ext>
            </a:extLst>
          </p:cNvPr>
          <p:cNvSpPr txBox="1"/>
          <p:nvPr/>
        </p:nvSpPr>
        <p:spPr>
          <a:xfrm>
            <a:off x="1498347" y="2685126"/>
            <a:ext cx="5283453" cy="677108"/>
          </a:xfrm>
          <a:prstGeom prst="rect">
            <a:avLst/>
          </a:prstGeom>
        </p:spPr>
        <p:txBody>
          <a:bodyPr wrap="square" lIns="0" tIns="0" rIns="0" bIns="0" rtlCol="0" anchor="ctr">
            <a:spAutoFit/>
          </a:bodyPr>
          <a:lstStyle/>
          <a:p>
            <a:pPr algn="just"/>
            <a:r>
              <a:rPr lang="en-US" sz="4400" b="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Cấu</a:t>
            </a:r>
            <a:r>
              <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b="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trúc</a:t>
            </a:r>
            <a:r>
              <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b="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rộng</a:t>
            </a:r>
            <a:r>
              <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b="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và</a:t>
            </a:r>
            <a:r>
              <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b="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sâu</a:t>
            </a:r>
            <a:endParaRPr lang="en-US" sz="60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6" name="TextBox 5">
            <a:extLst>
              <a:ext uri="{FF2B5EF4-FFF2-40B4-BE49-F238E27FC236}">
                <a16:creationId xmlns:a16="http://schemas.microsoft.com/office/drawing/2014/main" id="{9B2404FF-1B72-EA5B-733F-6F66E11D909E}"/>
              </a:ext>
            </a:extLst>
          </p:cNvPr>
          <p:cNvSpPr txBox="1"/>
          <p:nvPr/>
        </p:nvSpPr>
        <p:spPr>
          <a:xfrm>
            <a:off x="1498347" y="3527941"/>
            <a:ext cx="7983259" cy="4739759"/>
          </a:xfrm>
          <a:prstGeom prst="rect">
            <a:avLst/>
          </a:prstGeom>
        </p:spPr>
        <p:txBody>
          <a:bodyPr wrap="square" lIns="0" tIns="0" rIns="0" bIns="0" rtlCol="0" anchor="ctr">
            <a:spAutoFit/>
          </a:bodyPr>
          <a:lstStyle/>
          <a:p>
            <a:pPr algn="just"/>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Đây là kiểu nhiệm vụ mà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mỗi bước có rất nhiều lựa chọn</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và sau mỗi lựa chọn lại kéo theo nhiều bước tiếp theo. Khi đi đủ xa, số khả năng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tăng vọt theo cấp số nhân</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khó mà liệt kê hay giữ trong đầu.</a:t>
            </a:r>
            <a:endParaRPr lang="en-US" sz="60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Tree>
    <p:extLst>
      <p:ext uri="{BB962C8B-B14F-4D97-AF65-F5344CB8AC3E}">
        <p14:creationId xmlns:p14="http://schemas.microsoft.com/office/powerpoint/2010/main" val="164249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B7A49B0E-F076-61E2-1450-D3BAAB0EC6E9}"/>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86AD1B8F-4F39-8D9F-8A53-CF598217DAD5}"/>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771AEF3B-6BC5-AF96-EB78-3EEDADF16C70}"/>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D3992186-9A55-B375-C2EE-6B8A01C82740}"/>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B8364158-8333-0162-CDB0-9763A684192C}"/>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D85AA778-82BB-ECD2-EAFC-3CBD00EFD260}"/>
              </a:ext>
            </a:extLst>
          </p:cNvPr>
          <p:cNvSpPr txBox="1"/>
          <p:nvPr/>
        </p:nvSpPr>
        <p:spPr>
          <a:xfrm>
            <a:off x="381000" y="273903"/>
            <a:ext cx="99060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III</a:t>
            </a:r>
          </a:p>
        </p:txBody>
      </p:sp>
      <p:pic>
        <p:nvPicPr>
          <p:cNvPr id="28" name="Picture 27" descr="A blue logo with a black background&#10;&#10;AI-generated content may be incorrect.">
            <a:extLst>
              <a:ext uri="{FF2B5EF4-FFF2-40B4-BE49-F238E27FC236}">
                <a16:creationId xmlns:a16="http://schemas.microsoft.com/office/drawing/2014/main" id="{C81875A5-238C-FFAE-7878-63E2076E1A26}"/>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228E58EA-EB54-C97F-39FF-F5117375FFF8}"/>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55383293-D15F-050E-5953-3A2FA12C38D3}"/>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28</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5" name="TextBox 5">
            <a:extLst>
              <a:ext uri="{FF2B5EF4-FFF2-40B4-BE49-F238E27FC236}">
                <a16:creationId xmlns:a16="http://schemas.microsoft.com/office/drawing/2014/main" id="{C53AF892-A273-0E46-3541-6A6AF29421FD}"/>
              </a:ext>
            </a:extLst>
          </p:cNvPr>
          <p:cNvSpPr txBox="1"/>
          <p:nvPr/>
        </p:nvSpPr>
        <p:spPr>
          <a:xfrm>
            <a:off x="1884485" y="2685126"/>
            <a:ext cx="5283453" cy="677108"/>
          </a:xfrm>
          <a:prstGeom prst="rect">
            <a:avLst/>
          </a:prstGeom>
        </p:spPr>
        <p:txBody>
          <a:bodyPr wrap="square" lIns="0" tIns="0" rIns="0" bIns="0" rtlCol="0" anchor="ctr">
            <a:spAutoFit/>
          </a:bodyPr>
          <a:lstStyle/>
          <a:p>
            <a:pPr algn="just"/>
            <a:r>
              <a:rPr lang="en-US" sz="4400" b="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Cấu</a:t>
            </a:r>
            <a:r>
              <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b="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trúc</a:t>
            </a:r>
            <a:r>
              <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b="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nông</a:t>
            </a:r>
            <a:endParaRPr lang="en-US" sz="60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6" name="TextBox 5">
            <a:extLst>
              <a:ext uri="{FF2B5EF4-FFF2-40B4-BE49-F238E27FC236}">
                <a16:creationId xmlns:a16="http://schemas.microsoft.com/office/drawing/2014/main" id="{9C44C422-6133-2775-67CA-CB0B8FB95F9D}"/>
              </a:ext>
            </a:extLst>
          </p:cNvPr>
          <p:cNvSpPr txBox="1"/>
          <p:nvPr/>
        </p:nvSpPr>
        <p:spPr>
          <a:xfrm>
            <a:off x="1884485" y="3866495"/>
            <a:ext cx="7983259" cy="4062651"/>
          </a:xfrm>
          <a:prstGeom prst="rect">
            <a:avLst/>
          </a:prstGeom>
        </p:spPr>
        <p:txBody>
          <a:bodyPr wrap="square" lIns="0" tIns="0" rIns="0" bIns="0" rtlCol="0" anchor="ctr">
            <a:spAutoFit/>
          </a:bodyPr>
          <a:lstStyle/>
          <a:p>
            <a:pPr algn="just"/>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Đây là kiểu nhiệm vụ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có rất nhiều lựa chọn ban đầu, </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nhưng sau khi chọn xong điều quan trọng nhất,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các bước tiếp theo rất đơn giản </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hoặc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gần như không còn phải chọn.</a:t>
            </a:r>
            <a:endParaRPr lang="en-US" sz="60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pic>
        <p:nvPicPr>
          <p:cNvPr id="8" name="image7.png">
            <a:extLst>
              <a:ext uri="{FF2B5EF4-FFF2-40B4-BE49-F238E27FC236}">
                <a16:creationId xmlns:a16="http://schemas.microsoft.com/office/drawing/2014/main" id="{151BF3E4-6668-761C-CE41-CFD02EED0D0B}"/>
              </a:ext>
            </a:extLst>
          </p:cNvPr>
          <p:cNvPicPr/>
          <p:nvPr/>
        </p:nvPicPr>
        <p:blipFill>
          <a:blip r:embed="rId5"/>
          <a:srcRect l="9759" r="16446"/>
          <a:stretch/>
        </p:blipFill>
        <p:spPr>
          <a:xfrm>
            <a:off x="11471801" y="2353166"/>
            <a:ext cx="4834999" cy="6846886"/>
          </a:xfrm>
          <a:prstGeom prst="rect">
            <a:avLst/>
          </a:prstGeom>
          <a:ln/>
        </p:spPr>
      </p:pic>
      <p:sp>
        <p:nvSpPr>
          <p:cNvPr id="9" name="TextBox 8">
            <a:extLst>
              <a:ext uri="{FF2B5EF4-FFF2-40B4-BE49-F238E27FC236}">
                <a16:creationId xmlns:a16="http://schemas.microsoft.com/office/drawing/2014/main" id="{E9FFEC81-1AD8-EED9-B57A-AA4B7D69F30A}"/>
              </a:ext>
            </a:extLst>
          </p:cNvPr>
          <p:cNvSpPr txBox="1"/>
          <p:nvPr/>
        </p:nvSpPr>
        <p:spPr>
          <a:xfrm>
            <a:off x="2037587" y="266700"/>
            <a:ext cx="16783813" cy="1154162"/>
          </a:xfrm>
          <a:prstGeom prst="rect">
            <a:avLst/>
          </a:prstGeom>
          <a:noFill/>
        </p:spPr>
        <p:txBody>
          <a:bodyPr wrap="square" rtlCol="0">
            <a:spAutoFit/>
          </a:bodyPr>
          <a:lstStyle/>
          <a:p>
            <a:pPr lvl="1">
              <a:spcAft>
                <a:spcPts val="6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CẤU TRÚC NHIỆM VỤ </a:t>
            </a:r>
          </a:p>
          <a:p>
            <a:pPr lvl="1">
              <a:spcAft>
                <a:spcPts val="6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VÀ BẢN CHẤT CỦA TÁC VỤ HẰNG NGÀY</a:t>
            </a:r>
          </a:p>
        </p:txBody>
      </p:sp>
      <p:sp>
        <p:nvSpPr>
          <p:cNvPr id="10" name="TextBox 9">
            <a:extLst>
              <a:ext uri="{FF2B5EF4-FFF2-40B4-BE49-F238E27FC236}">
                <a16:creationId xmlns:a16="http://schemas.microsoft.com/office/drawing/2014/main" id="{D00E2667-0FF7-F95A-C4E8-DA7E3EC3B365}"/>
              </a:ext>
            </a:extLst>
          </p:cNvPr>
          <p:cNvSpPr txBox="1"/>
          <p:nvPr/>
        </p:nvSpPr>
        <p:spPr>
          <a:xfrm>
            <a:off x="2037587" y="1409700"/>
            <a:ext cx="16783813" cy="523220"/>
          </a:xfrm>
          <a:prstGeom prst="rect">
            <a:avLst/>
          </a:prstGeom>
          <a:noFill/>
        </p:spPr>
        <p:txBody>
          <a:bodyPr wrap="square" rtlCol="0">
            <a:spAutoFit/>
          </a:bodyPr>
          <a:lstStyle/>
          <a:p>
            <a:pPr lvl="1">
              <a:spcAft>
                <a:spcPts val="1200"/>
              </a:spcAft>
            </a:pP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Cấu</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trúc</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nhiệm</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vụ</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Tree>
    <p:extLst>
      <p:ext uri="{BB962C8B-B14F-4D97-AF65-F5344CB8AC3E}">
        <p14:creationId xmlns:p14="http://schemas.microsoft.com/office/powerpoint/2010/main" val="35159048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5547257D-00BB-7F65-2E16-0FFC1DE56CBA}"/>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8E34633A-A050-550A-CA16-FAB85D8DB1BF}"/>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51BBB3A3-E55D-A316-ADAD-0707C3EF6EA4}"/>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9A878816-74D3-28BA-39BC-37F15FA3DD62}"/>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578EBC38-0BFA-3F88-FF68-96F2A397ABC2}"/>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64BC41A4-ED46-E11D-56F3-5D32852A289E}"/>
              </a:ext>
            </a:extLst>
          </p:cNvPr>
          <p:cNvSpPr txBox="1"/>
          <p:nvPr/>
        </p:nvSpPr>
        <p:spPr>
          <a:xfrm>
            <a:off x="381000" y="273903"/>
            <a:ext cx="99060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III</a:t>
            </a:r>
          </a:p>
        </p:txBody>
      </p:sp>
      <p:pic>
        <p:nvPicPr>
          <p:cNvPr id="28" name="Picture 27" descr="A blue logo with a black background&#10;&#10;AI-generated content may be incorrect.">
            <a:extLst>
              <a:ext uri="{FF2B5EF4-FFF2-40B4-BE49-F238E27FC236}">
                <a16:creationId xmlns:a16="http://schemas.microsoft.com/office/drawing/2014/main" id="{135D7278-2FF9-638D-5248-B7E039ADB854}"/>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66F4A9FF-B19C-44E1-8EB8-177D7354BFF4}"/>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973D44BE-7193-1455-9B82-F105144A6F2A}"/>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29</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5" name="TextBox 5">
            <a:extLst>
              <a:ext uri="{FF2B5EF4-FFF2-40B4-BE49-F238E27FC236}">
                <a16:creationId xmlns:a16="http://schemas.microsoft.com/office/drawing/2014/main" id="{0B0AB911-20B7-54B9-6A91-B935E75B71DA}"/>
              </a:ext>
            </a:extLst>
          </p:cNvPr>
          <p:cNvSpPr txBox="1"/>
          <p:nvPr/>
        </p:nvSpPr>
        <p:spPr>
          <a:xfrm>
            <a:off x="1884485" y="2595145"/>
            <a:ext cx="5283453" cy="677108"/>
          </a:xfrm>
          <a:prstGeom prst="rect">
            <a:avLst/>
          </a:prstGeom>
        </p:spPr>
        <p:txBody>
          <a:bodyPr wrap="square" lIns="0" tIns="0" rIns="0" bIns="0" rtlCol="0" anchor="ctr">
            <a:spAutoFit/>
          </a:bodyPr>
          <a:lstStyle/>
          <a:p>
            <a:pPr algn="just"/>
            <a:r>
              <a:rPr lang="en-US" sz="4400" b="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Cấu</a:t>
            </a:r>
            <a:r>
              <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b="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trúc</a:t>
            </a:r>
            <a:r>
              <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b="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hẹp</a:t>
            </a:r>
            <a:endParaRPr lang="en-US" sz="60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6" name="TextBox 5">
            <a:extLst>
              <a:ext uri="{FF2B5EF4-FFF2-40B4-BE49-F238E27FC236}">
                <a16:creationId xmlns:a16="http://schemas.microsoft.com/office/drawing/2014/main" id="{09EE24DD-641B-9D18-A161-762584D6061D}"/>
              </a:ext>
            </a:extLst>
          </p:cNvPr>
          <p:cNvSpPr txBox="1"/>
          <p:nvPr/>
        </p:nvSpPr>
        <p:spPr>
          <a:xfrm>
            <a:off x="1884485" y="3384232"/>
            <a:ext cx="7983259" cy="5416868"/>
          </a:xfrm>
          <a:prstGeom prst="rect">
            <a:avLst/>
          </a:prstGeom>
        </p:spPr>
        <p:txBody>
          <a:bodyPr wrap="square" lIns="0" tIns="0" rIns="0" bIns="0" rtlCol="0" anchor="ctr">
            <a:spAutoFit/>
          </a:bodyPr>
          <a:lstStyle/>
          <a:p>
            <a:pPr algn="just"/>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Đây là kiểu nhiệm vụ mà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mỗi bước chỉ có rất ít lựa chọn </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(thậm chí chỉ một cách đúng), nhưng để hoàn thành thì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phải đi qua nhiều bước theo đúng thứ tự</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Điểm khó không nằm ở việc so sánh nhiều phương án, mà ở việc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nhớ và làm đúng trình tự từ đầu đến cuối</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a:t>
            </a:r>
            <a:endParaRPr lang="en-US" sz="60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pic>
        <p:nvPicPr>
          <p:cNvPr id="9" name="image2.jpg">
            <a:extLst>
              <a:ext uri="{FF2B5EF4-FFF2-40B4-BE49-F238E27FC236}">
                <a16:creationId xmlns:a16="http://schemas.microsoft.com/office/drawing/2014/main" id="{6A99027E-451E-B364-FEEC-457559E64950}"/>
              </a:ext>
            </a:extLst>
          </p:cNvPr>
          <p:cNvPicPr/>
          <p:nvPr/>
        </p:nvPicPr>
        <p:blipFill>
          <a:blip r:embed="rId5"/>
          <a:srcRect l="16261" r="17133"/>
          <a:stretch/>
        </p:blipFill>
        <p:spPr>
          <a:xfrm>
            <a:off x="10728437" y="2595145"/>
            <a:ext cx="5806963" cy="6068378"/>
          </a:xfrm>
          <a:prstGeom prst="rect">
            <a:avLst/>
          </a:prstGeom>
          <a:ln/>
        </p:spPr>
      </p:pic>
      <p:sp>
        <p:nvSpPr>
          <p:cNvPr id="10" name="TextBox 9">
            <a:extLst>
              <a:ext uri="{FF2B5EF4-FFF2-40B4-BE49-F238E27FC236}">
                <a16:creationId xmlns:a16="http://schemas.microsoft.com/office/drawing/2014/main" id="{5BD0E656-34DD-90D5-D111-53033F03438D}"/>
              </a:ext>
            </a:extLst>
          </p:cNvPr>
          <p:cNvSpPr txBox="1"/>
          <p:nvPr/>
        </p:nvSpPr>
        <p:spPr>
          <a:xfrm>
            <a:off x="2037587" y="266700"/>
            <a:ext cx="16783813" cy="1154162"/>
          </a:xfrm>
          <a:prstGeom prst="rect">
            <a:avLst/>
          </a:prstGeom>
          <a:noFill/>
        </p:spPr>
        <p:txBody>
          <a:bodyPr wrap="square" rtlCol="0">
            <a:spAutoFit/>
          </a:bodyPr>
          <a:lstStyle/>
          <a:p>
            <a:pPr lvl="1">
              <a:spcAft>
                <a:spcPts val="6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CẤU TRÚC NHIỆM VỤ </a:t>
            </a:r>
          </a:p>
          <a:p>
            <a:pPr lvl="1">
              <a:spcAft>
                <a:spcPts val="6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VÀ BẢN CHẤT CỦA TÁC VỤ HẰNG NGÀY</a:t>
            </a:r>
          </a:p>
        </p:txBody>
      </p:sp>
      <p:sp>
        <p:nvSpPr>
          <p:cNvPr id="11" name="TextBox 10">
            <a:extLst>
              <a:ext uri="{FF2B5EF4-FFF2-40B4-BE49-F238E27FC236}">
                <a16:creationId xmlns:a16="http://schemas.microsoft.com/office/drawing/2014/main" id="{A74984D0-1D21-8EFB-180D-18780B0B3A43}"/>
              </a:ext>
            </a:extLst>
          </p:cNvPr>
          <p:cNvSpPr txBox="1"/>
          <p:nvPr/>
        </p:nvSpPr>
        <p:spPr>
          <a:xfrm>
            <a:off x="2037587" y="1409700"/>
            <a:ext cx="16783813" cy="523220"/>
          </a:xfrm>
          <a:prstGeom prst="rect">
            <a:avLst/>
          </a:prstGeom>
          <a:noFill/>
        </p:spPr>
        <p:txBody>
          <a:bodyPr wrap="square" rtlCol="0">
            <a:spAutoFit/>
          </a:bodyPr>
          <a:lstStyle/>
          <a:p>
            <a:pPr lvl="1">
              <a:spcAft>
                <a:spcPts val="1200"/>
              </a:spcAft>
            </a:pP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Cấu</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trúc</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nhiệm</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vụ</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Tree>
    <p:extLst>
      <p:ext uri="{BB962C8B-B14F-4D97-AF65-F5344CB8AC3E}">
        <p14:creationId xmlns:p14="http://schemas.microsoft.com/office/powerpoint/2010/main" val="31938700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D811E231-B204-76AA-C1B3-ACFDFEEA7EE5}"/>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27B5F9A6-7E12-83AC-CD03-11C154FFECCE}"/>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F371D3AA-0A67-5C40-5AC6-EC9A0B749C00}"/>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671B38D2-7290-C78E-3486-16F66DE44B32}"/>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F1FC9457-3DAA-2525-34AF-7EACB41F816C}"/>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026D1043-3450-2244-EF61-9B105639A4E6}"/>
              </a:ext>
            </a:extLst>
          </p:cNvPr>
          <p:cNvSpPr txBox="1"/>
          <p:nvPr/>
        </p:nvSpPr>
        <p:spPr>
          <a:xfrm>
            <a:off x="381000" y="273903"/>
            <a:ext cx="99060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III</a:t>
            </a:r>
          </a:p>
        </p:txBody>
      </p:sp>
      <p:pic>
        <p:nvPicPr>
          <p:cNvPr id="28" name="Picture 27" descr="A blue logo with a black background&#10;&#10;AI-generated content may be incorrect.">
            <a:extLst>
              <a:ext uri="{FF2B5EF4-FFF2-40B4-BE49-F238E27FC236}">
                <a16:creationId xmlns:a16="http://schemas.microsoft.com/office/drawing/2014/main" id="{C6B4A55A-F3E5-6FAF-0912-47BFC8AC0A56}"/>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59E170BA-7056-EFE2-ADD7-2CC26368B4D2}"/>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0DEDB2C2-B74D-97DF-A961-E2B926E01F53}"/>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30</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6" name="TextBox 5">
            <a:extLst>
              <a:ext uri="{FF2B5EF4-FFF2-40B4-BE49-F238E27FC236}">
                <a16:creationId xmlns:a16="http://schemas.microsoft.com/office/drawing/2014/main" id="{BE005ACD-7FE7-1588-3707-4214DE1F30AD}"/>
              </a:ext>
            </a:extLst>
          </p:cNvPr>
          <p:cNvSpPr txBox="1"/>
          <p:nvPr/>
        </p:nvSpPr>
        <p:spPr>
          <a:xfrm>
            <a:off x="1742704" y="2933700"/>
            <a:ext cx="14802591" cy="1354217"/>
          </a:xfrm>
          <a:prstGeom prst="rect">
            <a:avLst/>
          </a:prstGeom>
        </p:spPr>
        <p:txBody>
          <a:bodyPr wrap="square" lIns="0" tIns="0" rIns="0" bIns="0" rtlCol="0" anchor="ctr">
            <a:spAutoFit/>
          </a:bodyPr>
          <a:lstStyle/>
          <a:p>
            <a:pPr algn="just"/>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Đối</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với</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công</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việc</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có</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cấu</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trúc</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nông</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Giảm số lựa chọn </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ở bước quan trọng để quyết nhanh, ít phân vân.</a:t>
            </a:r>
            <a:endParaRPr lang="en-US" sz="60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10" name="TextBox 9">
            <a:extLst>
              <a:ext uri="{FF2B5EF4-FFF2-40B4-BE49-F238E27FC236}">
                <a16:creationId xmlns:a16="http://schemas.microsoft.com/office/drawing/2014/main" id="{C3AC4869-3500-DC9F-85D3-81C062B66D41}"/>
              </a:ext>
            </a:extLst>
          </p:cNvPr>
          <p:cNvSpPr txBox="1"/>
          <p:nvPr/>
        </p:nvSpPr>
        <p:spPr>
          <a:xfrm>
            <a:off x="2037587" y="266700"/>
            <a:ext cx="16783813" cy="1154162"/>
          </a:xfrm>
          <a:prstGeom prst="rect">
            <a:avLst/>
          </a:prstGeom>
          <a:noFill/>
        </p:spPr>
        <p:txBody>
          <a:bodyPr wrap="square" rtlCol="0">
            <a:spAutoFit/>
          </a:bodyPr>
          <a:lstStyle/>
          <a:p>
            <a:pPr lvl="1">
              <a:spcAft>
                <a:spcPts val="6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CẤU TRÚC NHIỆM VỤ </a:t>
            </a:r>
          </a:p>
          <a:p>
            <a:pPr lvl="1">
              <a:spcAft>
                <a:spcPts val="600"/>
              </a:spcAft>
            </a:pPr>
            <a:r>
              <a:rPr lang="en-US" sz="3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VÀ BẢN CHẤT CỦA TÁC VỤ HẰNG NGÀY</a:t>
            </a:r>
          </a:p>
        </p:txBody>
      </p:sp>
      <p:sp>
        <p:nvSpPr>
          <p:cNvPr id="11" name="TextBox 10">
            <a:extLst>
              <a:ext uri="{FF2B5EF4-FFF2-40B4-BE49-F238E27FC236}">
                <a16:creationId xmlns:a16="http://schemas.microsoft.com/office/drawing/2014/main" id="{ABA236FA-21B8-169F-6117-CA3F9E1374A1}"/>
              </a:ext>
            </a:extLst>
          </p:cNvPr>
          <p:cNvSpPr txBox="1"/>
          <p:nvPr/>
        </p:nvSpPr>
        <p:spPr>
          <a:xfrm>
            <a:off x="2037587" y="1409700"/>
            <a:ext cx="16783813" cy="523220"/>
          </a:xfrm>
          <a:prstGeom prst="rect">
            <a:avLst/>
          </a:prstGeom>
          <a:noFill/>
        </p:spPr>
        <p:txBody>
          <a:bodyPr wrap="square" rtlCol="0">
            <a:spAutoFit/>
          </a:bodyPr>
          <a:lstStyle/>
          <a:p>
            <a:pPr lvl="1">
              <a:spcAft>
                <a:spcPts val="1200"/>
              </a:spcAft>
            </a:pP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Cấu</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trúc</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nhiệm</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vụ</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4" name="TextBox 3">
            <a:extLst>
              <a:ext uri="{FF2B5EF4-FFF2-40B4-BE49-F238E27FC236}">
                <a16:creationId xmlns:a16="http://schemas.microsoft.com/office/drawing/2014/main" id="{76E20C44-CE97-8625-D849-C0AA155EC847}"/>
              </a:ext>
            </a:extLst>
          </p:cNvPr>
          <p:cNvSpPr txBox="1"/>
          <p:nvPr/>
        </p:nvSpPr>
        <p:spPr>
          <a:xfrm>
            <a:off x="1752600" y="4610100"/>
            <a:ext cx="14802591" cy="2031325"/>
          </a:xfrm>
          <a:prstGeom prst="rect">
            <a:avLst/>
          </a:prstGeom>
        </p:spPr>
        <p:txBody>
          <a:bodyPr wrap="square" lIns="0" tIns="0" rIns="0" bIns="0" rtlCol="0" anchor="ctr">
            <a:spAutoFit/>
          </a:bodyPr>
          <a:lstStyle/>
          <a:p>
            <a:pPr algn="just"/>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Đối</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với</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công</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việc</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có</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cấu</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trúc</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i="1" u="sng"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hẹp</a:t>
            </a:r>
            <a:r>
              <a:rPr lang="en-US" sz="4400" i="1" u="sng" spc="11" dirty="0">
                <a:solidFill>
                  <a:srgbClr val="002060"/>
                </a:solidFill>
                <a:latin typeface="Source Sans Pro" panose="020B0503030403020204" pitchFamily="34" charset="0"/>
                <a:ea typeface="Source Sans Pro" panose="020B0503030403020204" pitchFamily="34" charset="0"/>
                <a:cs typeface="Source Sans Pro"/>
                <a:sym typeface="Source Sans Pro"/>
              </a:rPr>
              <a:t>:</a:t>
            </a:r>
            <a:r>
              <a:rPr lang="en-US" sz="4400" i="1"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Làm rõ thứ tự và trạng thái từng bước</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để người dùng biết mình đang ở đâu và cần làm gì tiếp.</a:t>
            </a:r>
            <a:endParaRPr lang="en-US" sz="60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8" name="TextBox 7">
            <a:extLst>
              <a:ext uri="{FF2B5EF4-FFF2-40B4-BE49-F238E27FC236}">
                <a16:creationId xmlns:a16="http://schemas.microsoft.com/office/drawing/2014/main" id="{A3CC59FC-7548-A953-3CAB-817E88DD7AD0}"/>
              </a:ext>
            </a:extLst>
          </p:cNvPr>
          <p:cNvSpPr txBox="1"/>
          <p:nvPr/>
        </p:nvSpPr>
        <p:spPr>
          <a:xfrm>
            <a:off x="1752600" y="7108329"/>
            <a:ext cx="14802591" cy="1354217"/>
          </a:xfrm>
          <a:prstGeom prst="rect">
            <a:avLst/>
          </a:prstGeom>
        </p:spPr>
        <p:txBody>
          <a:bodyPr wrap="square" lIns="0" tIns="0" rIns="0" bIns="0" rtlCol="0" anchor="ctr">
            <a:spAutoFit/>
          </a:bodyPr>
          <a:lstStyle/>
          <a:p>
            <a:pPr algn="just"/>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Chỉ yêu cầu phân tích sâu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khi</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thật</a:t>
            </a:r>
            <a:r>
              <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b="1"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sự</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 cần thiết</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tránh bắt người dùng suy tính dài dòng </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cho những tác vụ đơn giản.</a:t>
            </a:r>
            <a:endParaRPr lang="en-US" sz="60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Tree>
    <p:extLst>
      <p:ext uri="{BB962C8B-B14F-4D97-AF65-F5344CB8AC3E}">
        <p14:creationId xmlns:p14="http://schemas.microsoft.com/office/powerpoint/2010/main" val="27295207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C38DE-99CA-900B-172A-AB1441A25A48}"/>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C6949A50-3452-ADC5-E995-ADBD8C14FC53}"/>
              </a:ext>
            </a:extLst>
          </p:cNvPr>
          <p:cNvPicPr>
            <a:picLocks noGrp="1" noRot="1" noChangeAspect="1" noMove="1" noResize="1" noEditPoints="1" noAdjustHandles="1" noChangeArrowheads="1" noChangeShapeType="1" noCrop="1"/>
          </p:cNvPicPr>
          <p:nvPr/>
        </p:nvPicPr>
        <p:blipFill>
          <a:blip r:embed="rId2" cstate="print">
            <a:alphaModFix amt="5000"/>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8" name="Freeform 8">
            <a:extLst>
              <a:ext uri="{FF2B5EF4-FFF2-40B4-BE49-F238E27FC236}">
                <a16:creationId xmlns:a16="http://schemas.microsoft.com/office/drawing/2014/main" id="{7E9B506B-289C-7418-D86A-9BF9F812F8EA}"/>
              </a:ext>
            </a:extLst>
          </p:cNvPr>
          <p:cNvSpPr/>
          <p:nvPr/>
        </p:nvSpPr>
        <p:spPr>
          <a:xfrm rot="-10800000">
            <a:off x="11658600" y="-1333500"/>
            <a:ext cx="9344187" cy="5221064"/>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4">
              <a:alphaModFix amt="69000"/>
            </a:blip>
            <a:stretch>
              <a:fillRect/>
            </a:stretch>
          </a:blipFill>
        </p:spPr>
        <p:txBody>
          <a:bodyPr/>
          <a:lstStyle/>
          <a:p>
            <a:endParaRPr lang="en-US"/>
          </a:p>
        </p:txBody>
      </p:sp>
      <p:sp>
        <p:nvSpPr>
          <p:cNvPr id="10" name="Freeform 10">
            <a:extLst>
              <a:ext uri="{FF2B5EF4-FFF2-40B4-BE49-F238E27FC236}">
                <a16:creationId xmlns:a16="http://schemas.microsoft.com/office/drawing/2014/main" id="{6800DC4C-57C4-2FBE-5DA5-5D16CF36A1BC}"/>
              </a:ext>
            </a:extLst>
          </p:cNvPr>
          <p:cNvSpPr/>
          <p:nvPr/>
        </p:nvSpPr>
        <p:spPr>
          <a:xfrm rot="-10800000" flipH="1" flipV="1">
            <a:off x="-2667000" y="6362700"/>
            <a:ext cx="9344187" cy="5221064"/>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4">
              <a:alphaModFix amt="69000"/>
            </a:blip>
            <a:stretch>
              <a:fillRect/>
            </a:stretch>
          </a:blipFill>
        </p:spPr>
        <p:txBody>
          <a:bodyPr/>
          <a:lstStyle/>
          <a:p>
            <a:endParaRPr lang="en-US"/>
          </a:p>
        </p:txBody>
      </p:sp>
      <p:pic>
        <p:nvPicPr>
          <p:cNvPr id="4" name="Picture 3" descr="A blue logo with a black background&#10;&#10;AI-generated content may be incorrect.">
            <a:extLst>
              <a:ext uri="{FF2B5EF4-FFF2-40B4-BE49-F238E27FC236}">
                <a16:creationId xmlns:a16="http://schemas.microsoft.com/office/drawing/2014/main" id="{4473101C-199F-361A-E108-7FA35C3BA842}"/>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685800" y="571500"/>
            <a:ext cx="1403126" cy="1133024"/>
          </a:xfrm>
          <a:prstGeom prst="rect">
            <a:avLst/>
          </a:prstGeom>
        </p:spPr>
      </p:pic>
      <p:sp>
        <p:nvSpPr>
          <p:cNvPr id="5" name="Freeform 13">
            <a:extLst>
              <a:ext uri="{FF2B5EF4-FFF2-40B4-BE49-F238E27FC236}">
                <a16:creationId xmlns:a16="http://schemas.microsoft.com/office/drawing/2014/main" id="{E00954B1-871E-9FCA-3D41-CD02B2592342}"/>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9" name="Slide Number Placeholder 8">
            <a:extLst>
              <a:ext uri="{FF2B5EF4-FFF2-40B4-BE49-F238E27FC236}">
                <a16:creationId xmlns:a16="http://schemas.microsoft.com/office/drawing/2014/main" id="{71253D02-6F69-CA0B-C191-2D4832807E87}"/>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31</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6" name="TextBox 9">
            <a:extLst>
              <a:ext uri="{FF2B5EF4-FFF2-40B4-BE49-F238E27FC236}">
                <a16:creationId xmlns:a16="http://schemas.microsoft.com/office/drawing/2014/main" id="{48A761D4-6CD0-5B30-B861-D56945EBA480}"/>
              </a:ext>
            </a:extLst>
          </p:cNvPr>
          <p:cNvSpPr txBox="1"/>
          <p:nvPr/>
        </p:nvSpPr>
        <p:spPr>
          <a:xfrm>
            <a:off x="701846" y="5095402"/>
            <a:ext cx="4479754" cy="1842812"/>
          </a:xfrm>
          <a:prstGeom prst="rect">
            <a:avLst/>
          </a:prstGeom>
        </p:spPr>
        <p:txBody>
          <a:bodyPr wrap="square" lIns="0" tIns="0" rIns="0" bIns="0" rtlCol="0" anchor="ctr">
            <a:spAutoFit/>
          </a:bodyPr>
          <a:lstStyle/>
          <a:p>
            <a:pPr lvl="1" algn="ctr">
              <a:lnSpc>
                <a:spcPts val="11200"/>
              </a:lnSpc>
            </a:pPr>
            <a:r>
              <a:rPr lang="en-US" sz="199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IV.</a:t>
            </a:r>
          </a:p>
        </p:txBody>
      </p:sp>
      <p:sp>
        <p:nvSpPr>
          <p:cNvPr id="11" name="TextBox 9">
            <a:extLst>
              <a:ext uri="{FF2B5EF4-FFF2-40B4-BE49-F238E27FC236}">
                <a16:creationId xmlns:a16="http://schemas.microsoft.com/office/drawing/2014/main" id="{ADA11D85-3C36-7B16-57D7-113134597B57}"/>
              </a:ext>
            </a:extLst>
          </p:cNvPr>
          <p:cNvSpPr txBox="1"/>
          <p:nvPr/>
        </p:nvSpPr>
        <p:spPr>
          <a:xfrm>
            <a:off x="5143499" y="4152900"/>
            <a:ext cx="12153901" cy="2369880"/>
          </a:xfrm>
          <a:prstGeom prst="rect">
            <a:avLst/>
          </a:prstGeom>
        </p:spPr>
        <p:txBody>
          <a:bodyPr wrap="square" lIns="0" tIns="0" rIns="0" bIns="0" rtlCol="0" anchor="ctr">
            <a:spAutoFit/>
          </a:bodyPr>
          <a:lstStyle/>
          <a:p>
            <a:pPr lvl="1">
              <a:spcAft>
                <a:spcPts val="1200"/>
              </a:spcAft>
            </a:pPr>
            <a:r>
              <a:rPr lang="en-US" sz="7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BIỆN MINH CHO LỖI</a:t>
            </a:r>
          </a:p>
          <a:p>
            <a:pPr lvl="1">
              <a:spcAft>
                <a:spcPts val="1200"/>
              </a:spcAft>
            </a:pPr>
            <a:r>
              <a:rPr lang="en-US" sz="72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VÀ ÁP LỰC XÃ HỘI</a:t>
            </a:r>
          </a:p>
        </p:txBody>
      </p:sp>
    </p:spTree>
    <p:extLst>
      <p:ext uri="{BB962C8B-B14F-4D97-AF65-F5344CB8AC3E}">
        <p14:creationId xmlns:p14="http://schemas.microsoft.com/office/powerpoint/2010/main" val="1642790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9F5CD585-CDE9-83A6-1323-15CEEA942253}"/>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5960CA4E-E302-F739-D260-5B8AD6916468}"/>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24017AC4-5823-3020-92CB-2F74F95CE536}"/>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A71281E9-2F98-4C2D-11F7-87B99FF9C865}"/>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0B1D4AAB-5DBC-FA07-B341-3BAB1E0EDF10}"/>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8AAE3A38-468C-F221-447E-D1F279402FA1}"/>
              </a:ext>
            </a:extLst>
          </p:cNvPr>
          <p:cNvSpPr txBox="1"/>
          <p:nvPr/>
        </p:nvSpPr>
        <p:spPr>
          <a:xfrm>
            <a:off x="304800" y="190500"/>
            <a:ext cx="114300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IV</a:t>
            </a:r>
          </a:p>
        </p:txBody>
      </p:sp>
      <p:pic>
        <p:nvPicPr>
          <p:cNvPr id="28" name="Picture 27" descr="A blue logo with a black background&#10;&#10;AI-generated content may be incorrect.">
            <a:extLst>
              <a:ext uri="{FF2B5EF4-FFF2-40B4-BE49-F238E27FC236}">
                <a16:creationId xmlns:a16="http://schemas.microsoft.com/office/drawing/2014/main" id="{25EE6B14-2355-0F69-CA64-CA6F296A3763}"/>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1A20715C-8456-A944-0B39-876F83AF72F6}"/>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99359BD3-61E7-6B65-0749-8F6B8DC308E8}"/>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32</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10" name="TextBox 9">
            <a:extLst>
              <a:ext uri="{FF2B5EF4-FFF2-40B4-BE49-F238E27FC236}">
                <a16:creationId xmlns:a16="http://schemas.microsoft.com/office/drawing/2014/main" id="{CAE64CD2-4F87-29F4-8CA9-8FD426AB1C4A}"/>
              </a:ext>
            </a:extLst>
          </p:cNvPr>
          <p:cNvSpPr txBox="1"/>
          <p:nvPr/>
        </p:nvSpPr>
        <p:spPr>
          <a:xfrm>
            <a:off x="2037587" y="229969"/>
            <a:ext cx="16783813" cy="646331"/>
          </a:xfrm>
          <a:prstGeom prst="rect">
            <a:avLst/>
          </a:prstGeom>
          <a:noFill/>
        </p:spPr>
        <p:txBody>
          <a:bodyPr wrap="square" rtlCol="0">
            <a:spAutoFit/>
          </a:bodyPr>
          <a:lstStyle/>
          <a:p>
            <a:pPr lvl="1">
              <a:spcAft>
                <a:spcPts val="600"/>
              </a:spcAft>
            </a:pPr>
            <a:r>
              <a:rPr lang="en-US" sz="36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BIỆN MINH CHO LỖI VÀ ÁP LỰC XÃ HỘI</a:t>
            </a:r>
          </a:p>
        </p:txBody>
      </p:sp>
      <p:sp>
        <p:nvSpPr>
          <p:cNvPr id="11" name="TextBox 10">
            <a:extLst>
              <a:ext uri="{FF2B5EF4-FFF2-40B4-BE49-F238E27FC236}">
                <a16:creationId xmlns:a16="http://schemas.microsoft.com/office/drawing/2014/main" id="{D45332A2-53A5-3ECA-0B17-850239E8B6E5}"/>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Biện</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minh</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cho</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lỗi</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3" name="TextBox 2">
            <a:extLst>
              <a:ext uri="{FF2B5EF4-FFF2-40B4-BE49-F238E27FC236}">
                <a16:creationId xmlns:a16="http://schemas.microsoft.com/office/drawing/2014/main" id="{D4775FCD-7BA1-8E68-3DAC-AB0B698383F3}"/>
              </a:ext>
            </a:extLst>
          </p:cNvPr>
          <p:cNvSpPr txBox="1"/>
          <p:nvPr/>
        </p:nvSpPr>
        <p:spPr>
          <a:xfrm>
            <a:off x="1752600" y="2247900"/>
            <a:ext cx="14802591" cy="2031325"/>
          </a:xfrm>
          <a:prstGeom prst="rect">
            <a:avLst/>
          </a:prstGeom>
        </p:spPr>
        <p:txBody>
          <a:bodyPr wrap="square" lIns="0" tIns="0" rIns="0" bIns="0" rtlCol="0" anchor="ctr">
            <a:spAutoFit/>
          </a:bodyPr>
          <a:lstStyle/>
          <a:p>
            <a:pPr algn="just"/>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Biện minh cho lỗi xảy ra khi sai lầm, đặc biệt là diễn giải sai tình huống</a:t>
            </a:r>
            <a:r>
              <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4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và</a:t>
            </a:r>
            <a:r>
              <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rất khó bị phát hiện vì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cách lý giải tại thời điểm đó hoàn toàn có lý</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p>
        </p:txBody>
      </p:sp>
      <p:sp>
        <p:nvSpPr>
          <p:cNvPr id="4" name="TextBox 3">
            <a:extLst>
              <a:ext uri="{FF2B5EF4-FFF2-40B4-BE49-F238E27FC236}">
                <a16:creationId xmlns:a16="http://schemas.microsoft.com/office/drawing/2014/main" id="{24CBD7FD-7966-6C5B-FB3E-DFEAB304CB20}"/>
              </a:ext>
            </a:extLst>
          </p:cNvPr>
          <p:cNvSpPr txBox="1"/>
          <p:nvPr/>
        </p:nvSpPr>
        <p:spPr>
          <a:xfrm>
            <a:off x="1752600" y="4875431"/>
            <a:ext cx="14802591" cy="1354217"/>
          </a:xfrm>
          <a:prstGeom prst="rect">
            <a:avLst/>
          </a:prstGeom>
        </p:spPr>
        <p:txBody>
          <a:bodyPr wrap="square" lIns="0" tIns="0" rIns="0" bIns="0" rtlCol="0" anchor="ctr">
            <a:spAutoFit/>
          </a:bodyPr>
          <a:lstStyle/>
          <a:p>
            <a:pPr algn="just"/>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Xu hướng tự nhiên của con người là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hợp lý hóa các dấu hiệu bất thường</a:t>
            </a:r>
            <a:r>
              <a:rPr lang="en-US"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a:t>
            </a:r>
            <a:endPar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
        <p:nvSpPr>
          <p:cNvPr id="5" name="TextBox 4">
            <a:extLst>
              <a:ext uri="{FF2B5EF4-FFF2-40B4-BE49-F238E27FC236}">
                <a16:creationId xmlns:a16="http://schemas.microsoft.com/office/drawing/2014/main" id="{71BE4BEC-1D8C-AF72-C28F-66ECF87B871C}"/>
              </a:ext>
            </a:extLst>
          </p:cNvPr>
          <p:cNvSpPr txBox="1"/>
          <p:nvPr/>
        </p:nvSpPr>
        <p:spPr>
          <a:xfrm>
            <a:off x="1752600" y="6932831"/>
            <a:ext cx="14802591" cy="1354217"/>
          </a:xfrm>
          <a:prstGeom prst="rect">
            <a:avLst/>
          </a:prstGeom>
        </p:spPr>
        <p:txBody>
          <a:bodyPr wrap="square" lIns="0" tIns="0" rIns="0" bIns="0" rtlCol="0" anchor="ctr">
            <a:spAutoFit/>
          </a:bodyPr>
          <a:lstStyle/>
          <a:p>
            <a:pPr algn="just"/>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Vấn đề này thường dẫn đến </a:t>
            </a:r>
            <a:r>
              <a:rPr lang="vi-VN" sz="44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thảm họa lớn</a:t>
            </a:r>
            <a:r>
              <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khi tai nạn công nghiệp là kết quả của một chuỗi sự cố và sai sót liên tiếp</a:t>
            </a:r>
            <a:r>
              <a:rPr lang="en-US" sz="44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a:t>
            </a:r>
            <a:endParaRPr lang="vi-VN" sz="44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Tree>
    <p:extLst>
      <p:ext uri="{BB962C8B-B14F-4D97-AF65-F5344CB8AC3E}">
        <p14:creationId xmlns:p14="http://schemas.microsoft.com/office/powerpoint/2010/main" val="365265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31EBD04E-3BBE-6F9B-9B3F-C06B8F394707}"/>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85DF20C8-1562-7A08-51D4-00141E0F9185}"/>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2FCDE75D-4A7C-D5FF-A4E5-2B605EDBB81C}"/>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8DE4C58D-FE1C-9952-304D-7BFC4A95C30A}"/>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6A2523BE-0CA4-B549-D8F5-27BB67098514}"/>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D198353A-9076-AACC-E24A-F130ECB64197}"/>
              </a:ext>
            </a:extLst>
          </p:cNvPr>
          <p:cNvSpPr txBox="1"/>
          <p:nvPr/>
        </p:nvSpPr>
        <p:spPr>
          <a:xfrm>
            <a:off x="304800" y="190500"/>
            <a:ext cx="114300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IV</a:t>
            </a:r>
          </a:p>
        </p:txBody>
      </p:sp>
      <p:pic>
        <p:nvPicPr>
          <p:cNvPr id="28" name="Picture 27" descr="A blue logo with a black background&#10;&#10;AI-generated content may be incorrect.">
            <a:extLst>
              <a:ext uri="{FF2B5EF4-FFF2-40B4-BE49-F238E27FC236}">
                <a16:creationId xmlns:a16="http://schemas.microsoft.com/office/drawing/2014/main" id="{8A3DF806-6212-14EE-5162-DFA4B1F1121A}"/>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CC2CD665-AE22-F02E-2944-F58FE33E8C49}"/>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84E979A4-EFE3-ED9C-0138-1851E33A8C22}"/>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33</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10" name="TextBox 9">
            <a:extLst>
              <a:ext uri="{FF2B5EF4-FFF2-40B4-BE49-F238E27FC236}">
                <a16:creationId xmlns:a16="http://schemas.microsoft.com/office/drawing/2014/main" id="{7F4C9D5F-AC4A-A535-238C-8E2A1F7E2245}"/>
              </a:ext>
            </a:extLst>
          </p:cNvPr>
          <p:cNvSpPr txBox="1"/>
          <p:nvPr/>
        </p:nvSpPr>
        <p:spPr>
          <a:xfrm>
            <a:off x="2037587" y="229969"/>
            <a:ext cx="16783813" cy="646331"/>
          </a:xfrm>
          <a:prstGeom prst="rect">
            <a:avLst/>
          </a:prstGeom>
          <a:noFill/>
        </p:spPr>
        <p:txBody>
          <a:bodyPr wrap="square" rtlCol="0">
            <a:spAutoFit/>
          </a:bodyPr>
          <a:lstStyle/>
          <a:p>
            <a:pPr lvl="1">
              <a:spcAft>
                <a:spcPts val="600"/>
              </a:spcAft>
            </a:pPr>
            <a:r>
              <a:rPr lang="en-US" sz="36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BIỆN MINH CHO LỖI VÀ ÁP LỰC XÃ HỘI</a:t>
            </a:r>
          </a:p>
        </p:txBody>
      </p:sp>
      <p:sp>
        <p:nvSpPr>
          <p:cNvPr id="11" name="TextBox 10">
            <a:extLst>
              <a:ext uri="{FF2B5EF4-FFF2-40B4-BE49-F238E27FC236}">
                <a16:creationId xmlns:a16="http://schemas.microsoft.com/office/drawing/2014/main" id="{B18F1399-03B2-F016-7017-A2D7E800236B}"/>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Áp</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lực</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xã</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hội</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6" name="TextBox 5">
            <a:extLst>
              <a:ext uri="{FF2B5EF4-FFF2-40B4-BE49-F238E27FC236}">
                <a16:creationId xmlns:a16="http://schemas.microsoft.com/office/drawing/2014/main" id="{C19C3D31-EA33-9EE4-0B8E-9D4CC57F0168}"/>
              </a:ext>
            </a:extLst>
          </p:cNvPr>
          <p:cNvSpPr txBox="1"/>
          <p:nvPr/>
        </p:nvSpPr>
        <p:spPr>
          <a:xfrm>
            <a:off x="1742704" y="3296839"/>
            <a:ext cx="14802591" cy="3693319"/>
          </a:xfrm>
          <a:prstGeom prst="rect">
            <a:avLst/>
          </a:prstGeom>
        </p:spPr>
        <p:txBody>
          <a:bodyPr wrap="square" lIns="0" tIns="0" rIns="0" bIns="0" rtlCol="0" anchor="ctr">
            <a:spAutoFit/>
          </a:bodyPr>
          <a:lstStyle/>
          <a:p>
            <a:pPr algn="just"/>
            <a:r>
              <a:rPr lang="vi-VN" sz="48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Áp lực xã hội</a:t>
            </a:r>
            <a:r>
              <a:rPr lang="en-US" sz="48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vi-VN" sz="48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thường đến từ yếu tố </a:t>
            </a:r>
            <a:r>
              <a:rPr lang="vi-VN" sz="48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kinh tế</a:t>
            </a:r>
            <a:r>
              <a:rPr lang="vi-VN" sz="48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và </a:t>
            </a:r>
            <a:r>
              <a:rPr lang="vi-VN" sz="48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áp lực thời gian</a:t>
            </a:r>
            <a:r>
              <a:rPr lang="en-US" sz="48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a:t>
            </a:r>
            <a:r>
              <a:rPr lang="vi-VN" sz="48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có thể ảnh hưởng mạnh mẽ đến hành vi, dẫn đến việc </a:t>
            </a:r>
            <a:r>
              <a:rPr lang="en-US" sz="48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con </a:t>
            </a:r>
            <a:r>
              <a:rPr lang="vi-VN" sz="48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người vận hành </a:t>
            </a:r>
            <a:r>
              <a:rPr lang="vi-VN" sz="48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cố gắng "giải thích chối bỏ" các lỗi thay vì thừa nhận chúng</a:t>
            </a:r>
            <a:r>
              <a:rPr lang="en-US" sz="48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8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Từ</a:t>
            </a:r>
            <a:r>
              <a:rPr lang="en-US" sz="48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8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đó</a:t>
            </a:r>
            <a:r>
              <a:rPr lang="en-US" sz="48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8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có</a:t>
            </a:r>
            <a:r>
              <a:rPr lang="en-US" sz="48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48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thể</a:t>
            </a:r>
            <a:r>
              <a:rPr lang="en-US" sz="48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vi-VN" sz="48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gây ra các tai nạn thảm khốc</a:t>
            </a:r>
            <a:r>
              <a:rPr lang="en-US" sz="48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a:t>
            </a:r>
            <a:endParaRPr lang="vi-VN" sz="48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spTree>
    <p:extLst>
      <p:ext uri="{BB962C8B-B14F-4D97-AF65-F5344CB8AC3E}">
        <p14:creationId xmlns:p14="http://schemas.microsoft.com/office/powerpoint/2010/main" val="19510097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54E68-1BF3-27F5-E350-B710DD95856E}"/>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02150BDA-10F8-7C24-92F0-8254729B38F9}"/>
              </a:ext>
            </a:extLst>
          </p:cNvPr>
          <p:cNvPicPr>
            <a:picLocks noGrp="1" noRot="1" noChangeAspect="1" noMove="1" noResize="1" noEditPoints="1" noAdjustHandles="1" noChangeArrowheads="1" noChangeShapeType="1" noCrop="1"/>
          </p:cNvPicPr>
          <p:nvPr/>
        </p:nvPicPr>
        <p:blipFill>
          <a:blip r:embed="rId2" cstate="print">
            <a:alphaModFix amt="5000"/>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8" name="Freeform 8">
            <a:extLst>
              <a:ext uri="{FF2B5EF4-FFF2-40B4-BE49-F238E27FC236}">
                <a16:creationId xmlns:a16="http://schemas.microsoft.com/office/drawing/2014/main" id="{560FD18C-E795-D71E-A444-ACB69B25B7BE}"/>
              </a:ext>
            </a:extLst>
          </p:cNvPr>
          <p:cNvSpPr/>
          <p:nvPr/>
        </p:nvSpPr>
        <p:spPr>
          <a:xfrm rot="-10800000">
            <a:off x="11658600" y="-1333500"/>
            <a:ext cx="9344187" cy="5221064"/>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4">
              <a:alphaModFix amt="69000"/>
            </a:blip>
            <a:stretch>
              <a:fillRect/>
            </a:stretch>
          </a:blipFill>
        </p:spPr>
        <p:txBody>
          <a:bodyPr/>
          <a:lstStyle/>
          <a:p>
            <a:endParaRPr lang="en-US"/>
          </a:p>
        </p:txBody>
      </p:sp>
      <p:sp>
        <p:nvSpPr>
          <p:cNvPr id="10" name="Freeform 10">
            <a:extLst>
              <a:ext uri="{FF2B5EF4-FFF2-40B4-BE49-F238E27FC236}">
                <a16:creationId xmlns:a16="http://schemas.microsoft.com/office/drawing/2014/main" id="{DF34B11B-53A7-9136-6381-114207008F68}"/>
              </a:ext>
            </a:extLst>
          </p:cNvPr>
          <p:cNvSpPr/>
          <p:nvPr/>
        </p:nvSpPr>
        <p:spPr>
          <a:xfrm rot="-10800000" flipH="1" flipV="1">
            <a:off x="-2667000" y="6362700"/>
            <a:ext cx="9344187" cy="5221064"/>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4">
              <a:alphaModFix amt="69000"/>
            </a:blip>
            <a:stretch>
              <a:fillRect/>
            </a:stretch>
          </a:blipFill>
        </p:spPr>
        <p:txBody>
          <a:bodyPr/>
          <a:lstStyle/>
          <a:p>
            <a:endParaRPr lang="en-US"/>
          </a:p>
        </p:txBody>
      </p:sp>
      <p:pic>
        <p:nvPicPr>
          <p:cNvPr id="4" name="Picture 3" descr="A blue logo with a black background&#10;&#10;AI-generated content may be incorrect.">
            <a:extLst>
              <a:ext uri="{FF2B5EF4-FFF2-40B4-BE49-F238E27FC236}">
                <a16:creationId xmlns:a16="http://schemas.microsoft.com/office/drawing/2014/main" id="{9F441B6F-E9DA-BC93-894B-B2611E6F20FC}"/>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685800" y="571500"/>
            <a:ext cx="1403126" cy="1133024"/>
          </a:xfrm>
          <a:prstGeom prst="rect">
            <a:avLst/>
          </a:prstGeom>
        </p:spPr>
      </p:pic>
      <p:sp>
        <p:nvSpPr>
          <p:cNvPr id="5" name="Freeform 13">
            <a:extLst>
              <a:ext uri="{FF2B5EF4-FFF2-40B4-BE49-F238E27FC236}">
                <a16:creationId xmlns:a16="http://schemas.microsoft.com/office/drawing/2014/main" id="{CC16661A-5E2A-EE0D-9F70-5814154C47FA}"/>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9" name="Slide Number Placeholder 8">
            <a:extLst>
              <a:ext uri="{FF2B5EF4-FFF2-40B4-BE49-F238E27FC236}">
                <a16:creationId xmlns:a16="http://schemas.microsoft.com/office/drawing/2014/main" id="{CAF91822-A34F-B833-0021-06734CAC64EE}"/>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34</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6" name="TextBox 9">
            <a:extLst>
              <a:ext uri="{FF2B5EF4-FFF2-40B4-BE49-F238E27FC236}">
                <a16:creationId xmlns:a16="http://schemas.microsoft.com/office/drawing/2014/main" id="{3BF874FC-DAC1-3A6B-32F5-BF17FBEDE82F}"/>
              </a:ext>
            </a:extLst>
          </p:cNvPr>
          <p:cNvSpPr txBox="1"/>
          <p:nvPr/>
        </p:nvSpPr>
        <p:spPr>
          <a:xfrm>
            <a:off x="-228600" y="5095402"/>
            <a:ext cx="4479754" cy="1842812"/>
          </a:xfrm>
          <a:prstGeom prst="rect">
            <a:avLst/>
          </a:prstGeom>
        </p:spPr>
        <p:txBody>
          <a:bodyPr wrap="square" lIns="0" tIns="0" rIns="0" bIns="0" rtlCol="0" anchor="ctr">
            <a:spAutoFit/>
          </a:bodyPr>
          <a:lstStyle/>
          <a:p>
            <a:pPr lvl="1" algn="ctr">
              <a:lnSpc>
                <a:spcPts val="11200"/>
              </a:lnSpc>
            </a:pPr>
            <a:r>
              <a:rPr lang="en-US" sz="199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V.</a:t>
            </a:r>
          </a:p>
        </p:txBody>
      </p:sp>
      <p:sp>
        <p:nvSpPr>
          <p:cNvPr id="11" name="TextBox 9">
            <a:extLst>
              <a:ext uri="{FF2B5EF4-FFF2-40B4-BE49-F238E27FC236}">
                <a16:creationId xmlns:a16="http://schemas.microsoft.com/office/drawing/2014/main" id="{E250309E-C80A-86AB-A97F-BBE4D9B20DDE}"/>
              </a:ext>
            </a:extLst>
          </p:cNvPr>
          <p:cNvSpPr txBox="1"/>
          <p:nvPr/>
        </p:nvSpPr>
        <p:spPr>
          <a:xfrm>
            <a:off x="3962400" y="4245233"/>
            <a:ext cx="14897101" cy="2185214"/>
          </a:xfrm>
          <a:prstGeom prst="rect">
            <a:avLst/>
          </a:prstGeom>
        </p:spPr>
        <p:txBody>
          <a:bodyPr wrap="square" lIns="0" tIns="0" rIns="0" bIns="0" rtlCol="0" anchor="ctr">
            <a:spAutoFit/>
          </a:bodyPr>
          <a:lstStyle/>
          <a:p>
            <a:pPr lvl="1">
              <a:spcAft>
                <a:spcPts val="1200"/>
              </a:spcAft>
            </a:pPr>
            <a:r>
              <a:rPr lang="en-US" sz="66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THIẾT KẾ ĐỂ CHỊU LỖI. </a:t>
            </a:r>
          </a:p>
          <a:p>
            <a:pPr lvl="1">
              <a:spcAft>
                <a:spcPts val="1200"/>
              </a:spcAft>
            </a:pPr>
            <a:r>
              <a:rPr lang="en-US" sz="66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MỘT TRIẾT LÝ THIẾT KẾ</a:t>
            </a:r>
          </a:p>
        </p:txBody>
      </p:sp>
    </p:spTree>
    <p:extLst>
      <p:ext uri="{BB962C8B-B14F-4D97-AF65-F5344CB8AC3E}">
        <p14:creationId xmlns:p14="http://schemas.microsoft.com/office/powerpoint/2010/main" val="153990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0A22F019-D16F-AE7B-AE35-217A8878134C}"/>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943658A2-10E7-0874-270B-D881A6BD57E5}"/>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7DDF6DBE-6E58-CE2A-B58C-B3FC0A2B3D09}"/>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FD109B1A-8A35-1294-9440-AC3ACF78CDBF}"/>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5068589B-8CE6-E9D0-EE61-4A4391AE7BAE}"/>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7AC87527-E8B4-CE63-0C7D-FC0F0A3D83DD}"/>
              </a:ext>
            </a:extLst>
          </p:cNvPr>
          <p:cNvSpPr txBox="1"/>
          <p:nvPr/>
        </p:nvSpPr>
        <p:spPr>
          <a:xfrm>
            <a:off x="304800" y="190500"/>
            <a:ext cx="114300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V</a:t>
            </a:r>
          </a:p>
        </p:txBody>
      </p:sp>
      <p:pic>
        <p:nvPicPr>
          <p:cNvPr id="28" name="Picture 27" descr="A blue logo with a black background&#10;&#10;AI-generated content may be incorrect.">
            <a:extLst>
              <a:ext uri="{FF2B5EF4-FFF2-40B4-BE49-F238E27FC236}">
                <a16:creationId xmlns:a16="http://schemas.microsoft.com/office/drawing/2014/main" id="{5BFDF78F-E807-B3D9-73AB-0DC2BEB1FAD5}"/>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A3B1DEBC-10EA-08BB-10A2-7638A3CD2C08}"/>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2ABC4E59-BF02-8057-5B7E-009F755D19FC}"/>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35</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10" name="TextBox 9">
            <a:extLst>
              <a:ext uri="{FF2B5EF4-FFF2-40B4-BE49-F238E27FC236}">
                <a16:creationId xmlns:a16="http://schemas.microsoft.com/office/drawing/2014/main" id="{E14AB328-16B0-466E-92B1-95204F73B4FA}"/>
              </a:ext>
            </a:extLst>
          </p:cNvPr>
          <p:cNvSpPr txBox="1"/>
          <p:nvPr/>
        </p:nvSpPr>
        <p:spPr>
          <a:xfrm>
            <a:off x="2037587" y="229969"/>
            <a:ext cx="16783813" cy="646331"/>
          </a:xfrm>
          <a:prstGeom prst="rect">
            <a:avLst/>
          </a:prstGeom>
          <a:noFill/>
        </p:spPr>
        <p:txBody>
          <a:bodyPr wrap="square" rtlCol="0">
            <a:spAutoFit/>
          </a:bodyPr>
          <a:lstStyle/>
          <a:p>
            <a:pPr lvl="1">
              <a:spcAft>
                <a:spcPts val="600"/>
              </a:spcAft>
            </a:pPr>
            <a:r>
              <a:rPr lang="en-US" sz="36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THIẾT KẾ ĐỂ CHỊU LỖI. MỘT TRIẾT LÝ THIẾT KẾ</a:t>
            </a:r>
          </a:p>
        </p:txBody>
      </p:sp>
      <p:sp>
        <p:nvSpPr>
          <p:cNvPr id="11" name="TextBox 10">
            <a:extLst>
              <a:ext uri="{FF2B5EF4-FFF2-40B4-BE49-F238E27FC236}">
                <a16:creationId xmlns:a16="http://schemas.microsoft.com/office/drawing/2014/main" id="{1F61FB21-D93F-A418-00C9-3BB494B472AC}"/>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Thiết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kế</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để</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chịu</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lỗi</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sp>
        <p:nvSpPr>
          <p:cNvPr id="3" name="TextBox 2">
            <a:extLst>
              <a:ext uri="{FF2B5EF4-FFF2-40B4-BE49-F238E27FC236}">
                <a16:creationId xmlns:a16="http://schemas.microsoft.com/office/drawing/2014/main" id="{67DBC56B-D085-8D7A-C0AC-C4F5C1571711}"/>
              </a:ext>
            </a:extLst>
          </p:cNvPr>
          <p:cNvSpPr txBox="1"/>
          <p:nvPr/>
        </p:nvSpPr>
        <p:spPr>
          <a:xfrm>
            <a:off x="1752600" y="1730633"/>
            <a:ext cx="14802591" cy="3693319"/>
          </a:xfrm>
          <a:prstGeom prst="rect">
            <a:avLst/>
          </a:prstGeom>
        </p:spPr>
        <p:txBody>
          <a:bodyPr wrap="square" lIns="0" tIns="0" rIns="0" bIns="0" rtlCol="0" anchor="ctr">
            <a:spAutoFit/>
          </a:bodyPr>
          <a:lstStyle/>
          <a:p>
            <a:pPr algn="just"/>
            <a:r>
              <a:rPr lang="vi-VN" sz="36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Thiết kế </a:t>
            </a:r>
            <a:r>
              <a:rPr lang="en-US" sz="36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để</a:t>
            </a:r>
            <a:r>
              <a:rPr lang="en-US" sz="36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36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chịu</a:t>
            </a:r>
            <a:r>
              <a:rPr lang="en-US" sz="36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en-US" sz="3600" spc="11" dirty="0" err="1">
                <a:solidFill>
                  <a:srgbClr val="002060"/>
                </a:solidFill>
                <a:latin typeface="Source Sans Pro" panose="020B0503030403020204" pitchFamily="34" charset="0"/>
                <a:ea typeface="Source Sans Pro" panose="020B0503030403020204" pitchFamily="34" charset="0"/>
                <a:cs typeface="Source Sans Pro"/>
                <a:sym typeface="Source Sans Pro"/>
              </a:rPr>
              <a:t>lỗi</a:t>
            </a:r>
            <a:r>
              <a:rPr lang="en-US" sz="36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vi-VN" sz="36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dựa trên triết lý rằng</a:t>
            </a:r>
            <a:r>
              <a:rPr lang="en-US" sz="36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vi-VN" sz="36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r>
              <a:rPr lang="vi-VN" sz="36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ai cũng có thể phạm lỗi</a:t>
            </a:r>
            <a:r>
              <a:rPr lang="vi-VN" sz="36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và sai lầm thường xuất phát từ việc nhà thiết kế không tính đến lỗi, vô tình khiến việc mắc lỗi dễ dàng còn việc phát hiện hoặc phục hồi lại khó hoặc bất khả. </a:t>
            </a:r>
            <a:endParaRPr lang="en-US" sz="36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a:p>
            <a:pPr algn="just"/>
            <a:endParaRPr lang="vi-VN" sz="2400"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a:p>
            <a:pPr algn="just"/>
            <a:r>
              <a:rPr lang="vi-VN" sz="36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Mục tiêu chính là </a:t>
            </a:r>
            <a:r>
              <a:rPr lang="vi-VN" sz="36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giảm thiểu nguyên nhân gây lỗi </a:t>
            </a:r>
            <a:r>
              <a:rPr lang="vi-VN" sz="36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(như thiết kế kém, xao nhãng) và đảm bảo rằng một lỗi đơn lẻ của một người </a:t>
            </a:r>
            <a:r>
              <a:rPr lang="vi-VN" sz="3600" b="1" spc="11" dirty="0">
                <a:solidFill>
                  <a:srgbClr val="002060"/>
                </a:solidFill>
                <a:latin typeface="Source Sans Pro" panose="020B0503030403020204" pitchFamily="34" charset="0"/>
                <a:ea typeface="Source Sans Pro" panose="020B0503030403020204" pitchFamily="34" charset="0"/>
                <a:cs typeface="Source Sans Pro"/>
                <a:sym typeface="Source Sans Pro"/>
              </a:rPr>
              <a:t>không thể gây thiệt hại lan rộng</a:t>
            </a:r>
            <a:r>
              <a:rPr lang="vi-VN" sz="3600" spc="11" dirty="0">
                <a:solidFill>
                  <a:srgbClr val="002060"/>
                </a:solidFill>
                <a:latin typeface="Source Sans Pro" panose="020B0503030403020204" pitchFamily="34" charset="0"/>
                <a:ea typeface="Source Sans Pro" panose="020B0503030403020204" pitchFamily="34" charset="0"/>
                <a:cs typeface="Source Sans Pro"/>
                <a:sym typeface="Source Sans Pro"/>
              </a:rPr>
              <a:t>. </a:t>
            </a:r>
          </a:p>
        </p:txBody>
      </p:sp>
      <p:cxnSp>
        <p:nvCxnSpPr>
          <p:cNvPr id="4" name="Straight Arrow Connector 3">
            <a:extLst>
              <a:ext uri="{FF2B5EF4-FFF2-40B4-BE49-F238E27FC236}">
                <a16:creationId xmlns:a16="http://schemas.microsoft.com/office/drawing/2014/main" id="{AE72AC56-8F15-7B72-F23F-5F9A541B66DC}"/>
              </a:ext>
            </a:extLst>
          </p:cNvPr>
          <p:cNvCxnSpPr>
            <a:cxnSpLocks/>
          </p:cNvCxnSpPr>
          <p:nvPr/>
        </p:nvCxnSpPr>
        <p:spPr>
          <a:xfrm>
            <a:off x="9237009" y="5600700"/>
            <a:ext cx="0" cy="3886200"/>
          </a:xfrm>
          <a:prstGeom prst="straightConnector1">
            <a:avLst/>
          </a:prstGeom>
          <a:ln w="136525">
            <a:solidFill>
              <a:srgbClr val="00206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5" name="Oval 4">
            <a:extLst>
              <a:ext uri="{FF2B5EF4-FFF2-40B4-BE49-F238E27FC236}">
                <a16:creationId xmlns:a16="http://schemas.microsoft.com/office/drawing/2014/main" id="{3B167C04-85FF-181F-EE31-C4A7CACE700A}"/>
              </a:ext>
            </a:extLst>
          </p:cNvPr>
          <p:cNvSpPr/>
          <p:nvPr/>
        </p:nvSpPr>
        <p:spPr>
          <a:xfrm>
            <a:off x="9032610" y="5943575"/>
            <a:ext cx="439459"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grpSp>
        <p:nvGrpSpPr>
          <p:cNvPr id="6" name="Group 5">
            <a:extLst>
              <a:ext uri="{FF2B5EF4-FFF2-40B4-BE49-F238E27FC236}">
                <a16:creationId xmlns:a16="http://schemas.microsoft.com/office/drawing/2014/main" id="{3131A018-12AA-728B-9BA9-BC8DCD20D24F}"/>
              </a:ext>
            </a:extLst>
          </p:cNvPr>
          <p:cNvGrpSpPr/>
          <p:nvPr/>
        </p:nvGrpSpPr>
        <p:grpSpPr>
          <a:xfrm>
            <a:off x="2362200" y="5814035"/>
            <a:ext cx="5993341" cy="653752"/>
            <a:chOff x="3679411" y="3389726"/>
            <a:chExt cx="12071462" cy="806153"/>
          </a:xfrm>
        </p:grpSpPr>
        <p:sp>
          <p:nvSpPr>
            <p:cNvPr id="8" name="Rectangle: Diagonal Corners Snipped 7">
              <a:extLst>
                <a:ext uri="{FF2B5EF4-FFF2-40B4-BE49-F238E27FC236}">
                  <a16:creationId xmlns:a16="http://schemas.microsoft.com/office/drawing/2014/main" id="{AB8AD306-4520-1DA6-EFF6-CD6BC6983FD1}"/>
                </a:ext>
              </a:extLst>
            </p:cNvPr>
            <p:cNvSpPr/>
            <p:nvPr/>
          </p:nvSpPr>
          <p:spPr>
            <a:xfrm>
              <a:off x="3690372" y="3389726"/>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sp>
          <p:nvSpPr>
            <p:cNvPr id="9" name="TextBox 5">
              <a:extLst>
                <a:ext uri="{FF2B5EF4-FFF2-40B4-BE49-F238E27FC236}">
                  <a16:creationId xmlns:a16="http://schemas.microsoft.com/office/drawing/2014/main" id="{6B082FBD-7224-0E8D-5791-38E67010E8BA}"/>
                </a:ext>
              </a:extLst>
            </p:cNvPr>
            <p:cNvSpPr txBox="1"/>
            <p:nvPr/>
          </p:nvSpPr>
          <p:spPr>
            <a:xfrm>
              <a:off x="3679411" y="3487134"/>
              <a:ext cx="11881683" cy="626215"/>
            </a:xfrm>
            <a:prstGeom prst="rect">
              <a:avLst/>
            </a:prstGeom>
          </p:spPr>
          <p:txBody>
            <a:bodyPr wrap="square" lIns="0" tIns="0" rIns="0" bIns="0" rtlCol="0" anchor="ctr">
              <a:spAutoFit/>
            </a:bodyPr>
            <a:lstStyle/>
            <a:p>
              <a:pPr algn="r"/>
              <a:r>
                <a:rPr lang="en-US" sz="3300" b="1" i="0" u="none" strike="noStrike" dirty="0" err="1">
                  <a:solidFill>
                    <a:srgbClr val="002060"/>
                  </a:solidFill>
                  <a:effectLst/>
                  <a:latin typeface="Source Sans Pro" panose="020B0503030403020204" pitchFamily="34" charset="0"/>
                  <a:ea typeface="Source Sans Pro" panose="020B0503030403020204" pitchFamily="34" charset="0"/>
                </a:rPr>
                <a:t>Giảm</a:t>
              </a:r>
              <a:r>
                <a:rPr lang="en-US" sz="33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300" b="1" i="0" u="none" strike="noStrike" dirty="0" err="1">
                  <a:solidFill>
                    <a:srgbClr val="002060"/>
                  </a:solidFill>
                  <a:effectLst/>
                  <a:latin typeface="Source Sans Pro" panose="020B0503030403020204" pitchFamily="34" charset="0"/>
                  <a:ea typeface="Source Sans Pro" panose="020B0503030403020204" pitchFamily="34" charset="0"/>
                </a:rPr>
                <a:t>thiểu</a:t>
              </a:r>
              <a:r>
                <a:rPr lang="en-US" sz="33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300" b="1" i="0" u="none" strike="noStrike" dirty="0" err="1">
                  <a:solidFill>
                    <a:srgbClr val="002060"/>
                  </a:solidFill>
                  <a:effectLst/>
                  <a:latin typeface="Source Sans Pro" panose="020B0503030403020204" pitchFamily="34" charset="0"/>
                  <a:ea typeface="Source Sans Pro" panose="020B0503030403020204" pitchFamily="34" charset="0"/>
                </a:rPr>
                <a:t>nguyên</a:t>
              </a:r>
              <a:r>
                <a:rPr lang="en-US" sz="33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300" b="1" i="0" u="none" strike="noStrike" dirty="0" err="1">
                  <a:solidFill>
                    <a:srgbClr val="002060"/>
                  </a:solidFill>
                  <a:effectLst/>
                  <a:latin typeface="Source Sans Pro" panose="020B0503030403020204" pitchFamily="34" charset="0"/>
                  <a:ea typeface="Source Sans Pro" panose="020B0503030403020204" pitchFamily="34" charset="0"/>
                </a:rPr>
                <a:t>nhân</a:t>
              </a:r>
              <a:r>
                <a:rPr lang="en-US" sz="33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300" b="1" i="0" u="none" strike="noStrike" dirty="0" err="1">
                  <a:solidFill>
                    <a:srgbClr val="002060"/>
                  </a:solidFill>
                  <a:effectLst/>
                  <a:latin typeface="Source Sans Pro" panose="020B0503030403020204" pitchFamily="34" charset="0"/>
                  <a:ea typeface="Source Sans Pro" panose="020B0503030403020204" pitchFamily="34" charset="0"/>
                </a:rPr>
                <a:t>gây</a:t>
              </a:r>
              <a:r>
                <a:rPr lang="en-US" sz="33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300" b="1" i="0" u="none" strike="noStrike" dirty="0" err="1">
                  <a:solidFill>
                    <a:srgbClr val="002060"/>
                  </a:solidFill>
                  <a:effectLst/>
                  <a:latin typeface="Source Sans Pro" panose="020B0503030403020204" pitchFamily="34" charset="0"/>
                  <a:ea typeface="Source Sans Pro" panose="020B0503030403020204" pitchFamily="34" charset="0"/>
                </a:rPr>
                <a:t>lỗi</a:t>
              </a:r>
              <a:endParaRPr lang="en-US" sz="3300" b="1" i="0" u="none" strike="noStrike" dirty="0">
                <a:solidFill>
                  <a:srgbClr val="002060"/>
                </a:solidFill>
                <a:effectLst/>
                <a:latin typeface="Source Sans Pro" panose="020B0503030403020204" pitchFamily="34" charset="0"/>
                <a:ea typeface="Source Sans Pro" panose="020B0503030403020204" pitchFamily="34" charset="0"/>
              </a:endParaRPr>
            </a:p>
          </p:txBody>
        </p:sp>
      </p:grpSp>
      <p:sp>
        <p:nvSpPr>
          <p:cNvPr id="13" name="Oval 12">
            <a:extLst>
              <a:ext uri="{FF2B5EF4-FFF2-40B4-BE49-F238E27FC236}">
                <a16:creationId xmlns:a16="http://schemas.microsoft.com/office/drawing/2014/main" id="{AE27DBA2-4C51-A23A-96D2-DC141A61CAE2}"/>
              </a:ext>
            </a:extLst>
          </p:cNvPr>
          <p:cNvSpPr/>
          <p:nvPr/>
        </p:nvSpPr>
        <p:spPr>
          <a:xfrm>
            <a:off x="9034797" y="6837161"/>
            <a:ext cx="439459"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grpSp>
        <p:nvGrpSpPr>
          <p:cNvPr id="14" name="Group 13">
            <a:extLst>
              <a:ext uri="{FF2B5EF4-FFF2-40B4-BE49-F238E27FC236}">
                <a16:creationId xmlns:a16="http://schemas.microsoft.com/office/drawing/2014/main" id="{1B4471BB-505A-1AC8-FA6C-F5AC3D0ED71D}"/>
              </a:ext>
            </a:extLst>
          </p:cNvPr>
          <p:cNvGrpSpPr/>
          <p:nvPr/>
        </p:nvGrpSpPr>
        <p:grpSpPr>
          <a:xfrm>
            <a:off x="9987641" y="6696387"/>
            <a:ext cx="5987899" cy="653752"/>
            <a:chOff x="3720276" y="4610125"/>
            <a:chExt cx="12060501" cy="806153"/>
          </a:xfrm>
        </p:grpSpPr>
        <p:sp>
          <p:nvSpPr>
            <p:cNvPr id="16" name="Rectangle: Diagonal Corners Snipped 15">
              <a:extLst>
                <a:ext uri="{FF2B5EF4-FFF2-40B4-BE49-F238E27FC236}">
                  <a16:creationId xmlns:a16="http://schemas.microsoft.com/office/drawing/2014/main" id="{1EE1FAA0-37B0-7CDE-AA9B-C1833BA55660}"/>
                </a:ext>
              </a:extLst>
            </p:cNvPr>
            <p:cNvSpPr/>
            <p:nvPr/>
          </p:nvSpPr>
          <p:spPr>
            <a:xfrm>
              <a:off x="3720276" y="4610125"/>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sp>
          <p:nvSpPr>
            <p:cNvPr id="17" name="TextBox 5">
              <a:extLst>
                <a:ext uri="{FF2B5EF4-FFF2-40B4-BE49-F238E27FC236}">
                  <a16:creationId xmlns:a16="http://schemas.microsoft.com/office/drawing/2014/main" id="{C3D1E1ED-F8C5-39FA-3575-C71D2143964F}"/>
                </a:ext>
              </a:extLst>
            </p:cNvPr>
            <p:cNvSpPr txBox="1"/>
            <p:nvPr/>
          </p:nvSpPr>
          <p:spPr>
            <a:xfrm>
              <a:off x="3922486" y="4671629"/>
              <a:ext cx="11356765" cy="683145"/>
            </a:xfrm>
            <a:prstGeom prst="rect">
              <a:avLst/>
            </a:prstGeom>
          </p:spPr>
          <p:txBody>
            <a:bodyPr wrap="square" lIns="0" tIns="0" rIns="0" bIns="0" rtlCol="0" anchor="ctr">
              <a:spAutoFit/>
            </a:bodyPr>
            <a:lstStyle/>
            <a:p>
              <a:r>
                <a:rPr lang="en-US" sz="3600" b="1" i="0" u="none" strike="noStrike" dirty="0">
                  <a:solidFill>
                    <a:srgbClr val="002060"/>
                  </a:solidFill>
                  <a:effectLst/>
                  <a:latin typeface="Source Sans Pro" panose="020B0503030403020204" pitchFamily="34" charset="0"/>
                  <a:ea typeface="Source Sans Pro" panose="020B0503030403020204" pitchFamily="34" charset="0"/>
                </a:rPr>
                <a:t>Cho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phép</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cơ</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chế</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Hoàn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tác</a:t>
              </a:r>
              <a:endParaRPr lang="en-US" sz="3600" b="1" spc="11" dirty="0">
                <a:solidFill>
                  <a:srgbClr val="002060"/>
                </a:solidFill>
                <a:latin typeface="Source Sans Pro" panose="020B0503030403020204" pitchFamily="34" charset="0"/>
                <a:ea typeface="Source Sans Pro" panose="020B0503030403020204" pitchFamily="34" charset="0"/>
                <a:cs typeface="Source Sans Pro"/>
                <a:sym typeface="Source Sans Pro"/>
              </a:endParaRPr>
            </a:p>
          </p:txBody>
        </p:sp>
      </p:grpSp>
      <p:sp>
        <p:nvSpPr>
          <p:cNvPr id="18" name="Oval 17">
            <a:extLst>
              <a:ext uri="{FF2B5EF4-FFF2-40B4-BE49-F238E27FC236}">
                <a16:creationId xmlns:a16="http://schemas.microsoft.com/office/drawing/2014/main" id="{0C05F7CA-94F6-89FE-E69E-FCD55F7E9A8A}"/>
              </a:ext>
            </a:extLst>
          </p:cNvPr>
          <p:cNvSpPr/>
          <p:nvPr/>
        </p:nvSpPr>
        <p:spPr>
          <a:xfrm>
            <a:off x="9034797" y="7694579"/>
            <a:ext cx="439459"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grpSp>
        <p:nvGrpSpPr>
          <p:cNvPr id="19" name="Group 18">
            <a:extLst>
              <a:ext uri="{FF2B5EF4-FFF2-40B4-BE49-F238E27FC236}">
                <a16:creationId xmlns:a16="http://schemas.microsoft.com/office/drawing/2014/main" id="{C195EDB9-71FA-2E55-4993-88E1666D82DA}"/>
              </a:ext>
            </a:extLst>
          </p:cNvPr>
          <p:cNvGrpSpPr/>
          <p:nvPr/>
        </p:nvGrpSpPr>
        <p:grpSpPr>
          <a:xfrm>
            <a:off x="2362200" y="7566635"/>
            <a:ext cx="5987899" cy="653752"/>
            <a:chOff x="3713796" y="5828151"/>
            <a:chExt cx="12060501" cy="806153"/>
          </a:xfrm>
        </p:grpSpPr>
        <p:sp>
          <p:nvSpPr>
            <p:cNvPr id="20" name="Rectangle: Diagonal Corners Snipped 19">
              <a:extLst>
                <a:ext uri="{FF2B5EF4-FFF2-40B4-BE49-F238E27FC236}">
                  <a16:creationId xmlns:a16="http://schemas.microsoft.com/office/drawing/2014/main" id="{27B3F3C6-F3FE-E7F3-8DC0-28F3F07FC6AF}"/>
                </a:ext>
              </a:extLst>
            </p:cNvPr>
            <p:cNvSpPr/>
            <p:nvPr/>
          </p:nvSpPr>
          <p:spPr>
            <a:xfrm>
              <a:off x="3713796" y="5828151"/>
              <a:ext cx="12060501" cy="806153"/>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sp>
          <p:nvSpPr>
            <p:cNvPr id="21" name="TextBox 5">
              <a:extLst>
                <a:ext uri="{FF2B5EF4-FFF2-40B4-BE49-F238E27FC236}">
                  <a16:creationId xmlns:a16="http://schemas.microsoft.com/office/drawing/2014/main" id="{820B9E96-9CF5-61C8-A2F0-463B7B07FF05}"/>
                </a:ext>
              </a:extLst>
            </p:cNvPr>
            <p:cNvSpPr txBox="1"/>
            <p:nvPr/>
          </p:nvSpPr>
          <p:spPr>
            <a:xfrm>
              <a:off x="3916723" y="5888480"/>
              <a:ext cx="11704277" cy="683145"/>
            </a:xfrm>
            <a:prstGeom prst="rect">
              <a:avLst/>
            </a:prstGeom>
          </p:spPr>
          <p:txBody>
            <a:bodyPr wrap="square" lIns="0" tIns="0" rIns="0" bIns="0" rtlCol="0" anchor="ctr">
              <a:spAutoFit/>
            </a:bodyPr>
            <a:lstStyle/>
            <a:p>
              <a:pPr algn="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Dễ</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dàng</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phát</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hiện</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và</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sửa</a:t>
              </a:r>
              <a:r>
                <a:rPr lang="en-US" sz="3600" b="1" i="0" u="none" strike="noStrike" dirty="0">
                  <a:solidFill>
                    <a:srgbClr val="002060"/>
                  </a:solidFill>
                  <a:effectLst/>
                  <a:latin typeface="Source Sans Pro" panose="020B0503030403020204" pitchFamily="34" charset="0"/>
                  <a:ea typeface="Source Sans Pro" panose="020B0503030403020204" pitchFamily="34" charset="0"/>
                </a:rPr>
                <a:t> </a:t>
              </a:r>
              <a:r>
                <a:rPr lang="en-US" sz="3600" b="1" i="0" u="none" strike="noStrike" dirty="0" err="1">
                  <a:solidFill>
                    <a:srgbClr val="002060"/>
                  </a:solidFill>
                  <a:effectLst/>
                  <a:latin typeface="Source Sans Pro" panose="020B0503030403020204" pitchFamily="34" charset="0"/>
                  <a:ea typeface="Source Sans Pro" panose="020B0503030403020204" pitchFamily="34" charset="0"/>
                </a:rPr>
                <a:t>lỗi</a:t>
              </a:r>
              <a:endParaRPr lang="en-US" sz="3600" b="1" i="0" u="none" strike="noStrike" dirty="0">
                <a:solidFill>
                  <a:srgbClr val="002060"/>
                </a:solidFill>
                <a:effectLst/>
                <a:latin typeface="Source Sans Pro" panose="020B0503030403020204" pitchFamily="34" charset="0"/>
                <a:ea typeface="Source Sans Pro" panose="020B0503030403020204" pitchFamily="34" charset="0"/>
              </a:endParaRPr>
            </a:p>
          </p:txBody>
        </p:sp>
      </p:grpSp>
      <p:sp>
        <p:nvSpPr>
          <p:cNvPr id="22" name="Oval 21">
            <a:extLst>
              <a:ext uri="{FF2B5EF4-FFF2-40B4-BE49-F238E27FC236}">
                <a16:creationId xmlns:a16="http://schemas.microsoft.com/office/drawing/2014/main" id="{18CC3CC9-F00D-5E6B-8303-00B6CA31171D}"/>
              </a:ext>
            </a:extLst>
          </p:cNvPr>
          <p:cNvSpPr/>
          <p:nvPr/>
        </p:nvSpPr>
        <p:spPr>
          <a:xfrm>
            <a:off x="9040308" y="8589433"/>
            <a:ext cx="439459" cy="380999"/>
          </a:xfrm>
          <a:prstGeom prst="ellipse">
            <a:avLst/>
          </a:prstGeom>
          <a:gradFill>
            <a:gsLst>
              <a:gs pos="40000">
                <a:schemeClr val="bg1">
                  <a:lumMod val="95000"/>
                </a:schemeClr>
              </a:gs>
              <a:gs pos="63000">
                <a:schemeClr val="bg1">
                  <a:lumMod val="85000"/>
                </a:schemeClr>
              </a:gs>
              <a:gs pos="82000">
                <a:schemeClr val="bg1">
                  <a:lumMod val="75000"/>
                </a:schemeClr>
              </a:gs>
            </a:gsLst>
            <a:lin ang="4200000" scaled="0"/>
          </a:gra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grpSp>
        <p:nvGrpSpPr>
          <p:cNvPr id="24" name="Group 23">
            <a:extLst>
              <a:ext uri="{FF2B5EF4-FFF2-40B4-BE49-F238E27FC236}">
                <a16:creationId xmlns:a16="http://schemas.microsoft.com/office/drawing/2014/main" id="{97A28C72-3C02-531A-24E4-5BCEBC9C8032}"/>
              </a:ext>
            </a:extLst>
          </p:cNvPr>
          <p:cNvGrpSpPr/>
          <p:nvPr/>
        </p:nvGrpSpPr>
        <p:grpSpPr>
          <a:xfrm>
            <a:off x="9987639" y="8283419"/>
            <a:ext cx="5987899" cy="984885"/>
            <a:chOff x="3734590" y="6798791"/>
            <a:chExt cx="12060501" cy="1214479"/>
          </a:xfrm>
        </p:grpSpPr>
        <p:sp>
          <p:nvSpPr>
            <p:cNvPr id="26" name="Rectangle: Diagonal Corners Snipped 25">
              <a:extLst>
                <a:ext uri="{FF2B5EF4-FFF2-40B4-BE49-F238E27FC236}">
                  <a16:creationId xmlns:a16="http://schemas.microsoft.com/office/drawing/2014/main" id="{427E4454-17A0-CA66-20D0-2F1A5C357907}"/>
                </a:ext>
              </a:extLst>
            </p:cNvPr>
            <p:cNvSpPr/>
            <p:nvPr/>
          </p:nvSpPr>
          <p:spPr>
            <a:xfrm>
              <a:off x="3734590" y="6798791"/>
              <a:ext cx="12060501" cy="1214479"/>
            </a:xfrm>
            <a:prstGeom prst="snip2DiagRect">
              <a:avLst/>
            </a:prstGeom>
            <a:gradFill>
              <a:gsLst>
                <a:gs pos="40000">
                  <a:schemeClr val="bg1">
                    <a:lumMod val="95000"/>
                  </a:schemeClr>
                </a:gs>
                <a:gs pos="63000">
                  <a:schemeClr val="bg1">
                    <a:lumMod val="85000"/>
                  </a:schemeClr>
                </a:gs>
                <a:gs pos="82000">
                  <a:schemeClr val="bg1">
                    <a:lumMod val="75000"/>
                  </a:schemeClr>
                </a:gs>
              </a:gsLst>
              <a:lin ang="4200000" scaled="0"/>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rgbClr val="002060"/>
                </a:solidFill>
              </a:endParaRPr>
            </a:p>
          </p:txBody>
        </p:sp>
        <p:sp>
          <p:nvSpPr>
            <p:cNvPr id="27" name="TextBox 5">
              <a:extLst>
                <a:ext uri="{FF2B5EF4-FFF2-40B4-BE49-F238E27FC236}">
                  <a16:creationId xmlns:a16="http://schemas.microsoft.com/office/drawing/2014/main" id="{52635D2E-45D9-8D03-4B9C-B85A2EE26C99}"/>
                </a:ext>
              </a:extLst>
            </p:cNvPr>
            <p:cNvSpPr txBox="1"/>
            <p:nvPr/>
          </p:nvSpPr>
          <p:spPr>
            <a:xfrm>
              <a:off x="4120184" y="6798791"/>
              <a:ext cx="11371802" cy="1214479"/>
            </a:xfrm>
            <a:prstGeom prst="rect">
              <a:avLst/>
            </a:prstGeom>
          </p:spPr>
          <p:txBody>
            <a:bodyPr wrap="square" lIns="0" tIns="0" rIns="0" bIns="0" rtlCol="0" anchor="ctr">
              <a:spAutoFit/>
            </a:bodyPr>
            <a:lstStyle/>
            <a:p>
              <a:r>
                <a:rPr lang="vi-VN" sz="3200" b="1" dirty="0">
                  <a:solidFill>
                    <a:srgbClr val="002060"/>
                  </a:solidFill>
                  <a:latin typeface="Source Sans Pro" panose="020B0503030403020204" pitchFamily="34" charset="0"/>
                  <a:ea typeface="Source Sans Pro" panose="020B0503030403020204" pitchFamily="34" charset="0"/>
                </a:rPr>
                <a:t>Xem hành động là sự xấp xỉ của mục tiêu mong muốn</a:t>
              </a:r>
              <a:endParaRPr lang="en-US" sz="3200" b="1" dirty="0">
                <a:solidFill>
                  <a:srgbClr val="002060"/>
                </a:solidFill>
                <a:latin typeface="Source Sans Pro" panose="020B0503030403020204" pitchFamily="34" charset="0"/>
                <a:ea typeface="Source Sans Pro" panose="020B0503030403020204" pitchFamily="34" charset="0"/>
              </a:endParaRPr>
            </a:p>
          </p:txBody>
        </p:sp>
      </p:grpSp>
      <p:cxnSp>
        <p:nvCxnSpPr>
          <p:cNvPr id="34" name="Straight Connector 33">
            <a:extLst>
              <a:ext uri="{FF2B5EF4-FFF2-40B4-BE49-F238E27FC236}">
                <a16:creationId xmlns:a16="http://schemas.microsoft.com/office/drawing/2014/main" id="{EFA7E8B4-CA51-3D58-3B94-26EC102E01BD}"/>
              </a:ext>
            </a:extLst>
          </p:cNvPr>
          <p:cNvCxnSpPr>
            <a:cxnSpLocks/>
            <a:stCxn id="5" idx="2"/>
            <a:endCxn id="8" idx="0"/>
          </p:cNvCxnSpPr>
          <p:nvPr/>
        </p:nvCxnSpPr>
        <p:spPr>
          <a:xfrm flipH="1">
            <a:off x="8355541" y="6134075"/>
            <a:ext cx="677069" cy="6836"/>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16B255D-8EEE-6427-CCEB-4E987900AC82}"/>
              </a:ext>
            </a:extLst>
          </p:cNvPr>
          <p:cNvCxnSpPr>
            <a:cxnSpLocks/>
            <a:stCxn id="13" idx="6"/>
            <a:endCxn id="16" idx="2"/>
          </p:cNvCxnSpPr>
          <p:nvPr/>
        </p:nvCxnSpPr>
        <p:spPr>
          <a:xfrm flipV="1">
            <a:off x="9474256" y="7023264"/>
            <a:ext cx="513385" cy="4397"/>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E524E42-233A-251D-1E65-C2FA4AB699F3}"/>
              </a:ext>
            </a:extLst>
          </p:cNvPr>
          <p:cNvCxnSpPr>
            <a:cxnSpLocks/>
            <a:stCxn id="18" idx="2"/>
            <a:endCxn id="20" idx="0"/>
          </p:cNvCxnSpPr>
          <p:nvPr/>
        </p:nvCxnSpPr>
        <p:spPr>
          <a:xfrm flipH="1">
            <a:off x="8350099" y="7885079"/>
            <a:ext cx="684698" cy="8432"/>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6EB25DF-84FA-602F-26A2-1AD225DAB22A}"/>
              </a:ext>
            </a:extLst>
          </p:cNvPr>
          <p:cNvCxnSpPr>
            <a:cxnSpLocks/>
            <a:stCxn id="22" idx="6"/>
            <a:endCxn id="26" idx="2"/>
          </p:cNvCxnSpPr>
          <p:nvPr/>
        </p:nvCxnSpPr>
        <p:spPr>
          <a:xfrm flipV="1">
            <a:off x="9479767" y="8775862"/>
            <a:ext cx="507872" cy="4071"/>
          </a:xfrm>
          <a:prstGeom prst="line">
            <a:avLst/>
          </a:prstGeom>
          <a:ln w="57150">
            <a:solidFill>
              <a:schemeClr val="bg2">
                <a:lumMod val="50000"/>
              </a:schemeClr>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724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250"/>
                                        <p:tgtEl>
                                          <p:spTgt spid="5"/>
                                        </p:tgtEl>
                                      </p:cBhvr>
                                    </p:animEffect>
                                  </p:childTnLst>
                                </p:cTn>
                              </p:par>
                            </p:childTnLst>
                          </p:cTn>
                        </p:par>
                        <p:par>
                          <p:cTn id="22" fill="hold">
                            <p:stCondLst>
                              <p:cond delay="75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50"/>
                                        <p:tgtEl>
                                          <p:spTgt spid="13"/>
                                        </p:tgtEl>
                                      </p:cBhvr>
                                    </p:animEffect>
                                  </p:childTnLst>
                                </p:cTn>
                              </p:par>
                            </p:childTnLst>
                          </p:cTn>
                        </p:par>
                        <p:par>
                          <p:cTn id="26" fill="hold">
                            <p:stCondLst>
                              <p:cond delay="1000"/>
                            </p:stCondLst>
                            <p:childTnLst>
                              <p:par>
                                <p:cTn id="27" presetID="10" presetClass="entr" presetSubtype="0"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250"/>
                                        <p:tgtEl>
                                          <p:spTgt spid="18"/>
                                        </p:tgtEl>
                                      </p:cBhvr>
                                    </p:animEffect>
                                  </p:childTnLst>
                                </p:cTn>
                              </p:par>
                            </p:childTnLst>
                          </p:cTn>
                        </p:par>
                        <p:par>
                          <p:cTn id="30" fill="hold">
                            <p:stCondLst>
                              <p:cond delay="1250"/>
                            </p:stCondLst>
                            <p:childTnLst>
                              <p:par>
                                <p:cTn id="31" presetID="10" presetClass="entr" presetSubtype="0" fill="hold" grpId="0"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250"/>
                                        <p:tgtEl>
                                          <p:spTgt spid="2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wipe(right)">
                                      <p:cBhvr>
                                        <p:cTn id="38" dur="500"/>
                                        <p:tgtEl>
                                          <p:spTgt spid="34"/>
                                        </p:tgtEl>
                                      </p:cBhvr>
                                    </p:animEffect>
                                  </p:childTnLst>
                                </p:cTn>
                              </p:par>
                            </p:childTnLst>
                          </p:cTn>
                        </p:par>
                        <p:par>
                          <p:cTn id="39" fill="hold">
                            <p:stCondLst>
                              <p:cond delay="500"/>
                            </p:stCondLst>
                            <p:childTnLst>
                              <p:par>
                                <p:cTn id="40" presetID="22" presetClass="entr" presetSubtype="2" fill="hold" nodeType="after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right)">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wipe(left)">
                                      <p:cBhvr>
                                        <p:cTn id="47" dur="500"/>
                                        <p:tgtEl>
                                          <p:spTgt spid="35"/>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left)">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2" fill="hold" nodeType="click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wipe(right)">
                                      <p:cBhvr>
                                        <p:cTn id="56" dur="500"/>
                                        <p:tgtEl>
                                          <p:spTgt spid="36"/>
                                        </p:tgtEl>
                                      </p:cBhvr>
                                    </p:animEffect>
                                  </p:childTnLst>
                                </p:cTn>
                              </p:par>
                            </p:childTnLst>
                          </p:cTn>
                        </p:par>
                        <p:par>
                          <p:cTn id="57" fill="hold">
                            <p:stCondLst>
                              <p:cond delay="500"/>
                            </p:stCondLst>
                            <p:childTnLst>
                              <p:par>
                                <p:cTn id="58" presetID="22" presetClass="entr" presetSubtype="2" fill="hold" nodeType="after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right)">
                                      <p:cBhvr>
                                        <p:cTn id="60" dur="500"/>
                                        <p:tgtEl>
                                          <p:spTgt spid="1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wipe(left)">
                                      <p:cBhvr>
                                        <p:cTn id="65" dur="500"/>
                                        <p:tgtEl>
                                          <p:spTgt spid="37"/>
                                        </p:tgtEl>
                                      </p:cBhvr>
                                    </p:animEffect>
                                  </p:childTnLst>
                                </p:cTn>
                              </p:par>
                            </p:childTnLst>
                          </p:cTn>
                        </p:par>
                        <p:par>
                          <p:cTn id="66" fill="hold">
                            <p:stCondLst>
                              <p:cond delay="500"/>
                            </p:stCondLst>
                            <p:childTnLst>
                              <p:par>
                                <p:cTn id="67" presetID="22" presetClass="entr" presetSubtype="8" fill="hold" nodeType="after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left)">
                                      <p:cBhvr>
                                        <p:cTn id="6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13" grpId="0" animBg="1"/>
      <p:bldP spid="18" grpId="0" animBg="1"/>
      <p:bldP spid="2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D4FC2C2F-C6E1-61CC-0977-A7E85AFF6367}"/>
            </a:ext>
          </a:extLst>
        </p:cNvPr>
        <p:cNvGrpSpPr/>
        <p:nvPr/>
      </p:nvGrpSpPr>
      <p:grpSpPr>
        <a:xfrm>
          <a:off x="0" y="0"/>
          <a:ext cx="0" cy="0"/>
          <a:chOff x="0" y="0"/>
          <a:chExt cx="0" cy="0"/>
        </a:xfrm>
      </p:grpSpPr>
      <p:pic>
        <p:nvPicPr>
          <p:cNvPr id="7" name="Picture 6" descr="A blue logo with a black background&#10;&#10;AI-generated content may be incorrect.">
            <a:extLst>
              <a:ext uri="{FF2B5EF4-FFF2-40B4-BE49-F238E27FC236}">
                <a16:creationId xmlns:a16="http://schemas.microsoft.com/office/drawing/2014/main" id="{1DA412C5-513A-1EE7-A84B-C31CCFDE3969}"/>
              </a:ext>
            </a:extLst>
          </p:cNvPr>
          <p:cNvPicPr>
            <a:picLocks noGrp="1" noRot="1" noChangeAspect="1" noMove="1" noResize="1" noEditPoints="1" noAdjustHandles="1" noChangeArrowheads="1" noChangeShapeType="1" noCrop="1"/>
          </p:cNvPicPr>
          <p:nvPr/>
        </p:nvPicPr>
        <p:blipFill>
          <a:blip r:embed="rId3" cstate="print">
            <a:alphaModFix amt="5000"/>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sp>
        <p:nvSpPr>
          <p:cNvPr id="25" name="Freeform 13">
            <a:extLst>
              <a:ext uri="{FF2B5EF4-FFF2-40B4-BE49-F238E27FC236}">
                <a16:creationId xmlns:a16="http://schemas.microsoft.com/office/drawing/2014/main" id="{9D23BC91-3FAF-14A8-79AF-2F1CF11E0032}"/>
              </a:ext>
            </a:extLst>
          </p:cNvPr>
          <p:cNvSpPr/>
          <p:nvPr/>
        </p:nvSpPr>
        <p:spPr>
          <a:xfrm>
            <a:off x="-3962400" y="-114300"/>
            <a:ext cx="6248400" cy="1452312"/>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a:gsLst>
              <a:gs pos="83000">
                <a:srgbClr val="337AC7"/>
              </a:gs>
              <a:gs pos="33000">
                <a:srgbClr val="3EB3DF"/>
              </a:gs>
              <a:gs pos="59000">
                <a:srgbClr val="3BA1D7"/>
              </a:gs>
            </a:gsLst>
            <a:lin ang="4800000" scaled="0"/>
          </a:gradFill>
          <a:effectLst>
            <a:outerShdw blurRad="50800" dist="38100" dir="2700000" algn="tl" rotWithShape="0">
              <a:prstClr val="black">
                <a:alpha val="40000"/>
              </a:prstClr>
            </a:outerShdw>
          </a:effectLst>
        </p:spPr>
        <p:txBody>
          <a:bodyPr/>
          <a:lstStyle/>
          <a:p>
            <a:endParaRPr lang="en-US"/>
          </a:p>
        </p:txBody>
      </p:sp>
      <p:sp>
        <p:nvSpPr>
          <p:cNvPr id="12" name="TextBox 14">
            <a:extLst>
              <a:ext uri="{FF2B5EF4-FFF2-40B4-BE49-F238E27FC236}">
                <a16:creationId xmlns:a16="http://schemas.microsoft.com/office/drawing/2014/main" id="{7033EED4-62A0-E507-D421-3C725D103039}"/>
              </a:ext>
            </a:extLst>
          </p:cNvPr>
          <p:cNvSpPr txBox="1"/>
          <p:nvPr/>
        </p:nvSpPr>
        <p:spPr>
          <a:xfrm>
            <a:off x="-4397845" y="6499"/>
            <a:ext cx="6509692" cy="1318618"/>
          </a:xfrm>
          <a:prstGeom prst="rect">
            <a:avLst/>
          </a:prstGeom>
        </p:spPr>
        <p:txBody>
          <a:bodyPr lIns="83282" tIns="83282" rIns="83282" bIns="83282" rtlCol="0" anchor="ctr"/>
          <a:lstStyle/>
          <a:p>
            <a:pPr algn="ctr">
              <a:lnSpc>
                <a:spcPts val="1993"/>
              </a:lnSpc>
            </a:pPr>
            <a:endParaRPr/>
          </a:p>
        </p:txBody>
      </p:sp>
      <p:sp>
        <p:nvSpPr>
          <p:cNvPr id="15" name="TextBox 17">
            <a:extLst>
              <a:ext uri="{FF2B5EF4-FFF2-40B4-BE49-F238E27FC236}">
                <a16:creationId xmlns:a16="http://schemas.microsoft.com/office/drawing/2014/main" id="{F248991F-115B-B06B-6C61-4FE956EA35FC}"/>
              </a:ext>
            </a:extLst>
          </p:cNvPr>
          <p:cNvSpPr txBox="1"/>
          <p:nvPr/>
        </p:nvSpPr>
        <p:spPr>
          <a:xfrm>
            <a:off x="1203192" y="112889"/>
            <a:ext cx="2633758" cy="1049325"/>
          </a:xfrm>
          <a:prstGeom prst="rect">
            <a:avLst/>
          </a:prstGeom>
        </p:spPr>
        <p:txBody>
          <a:bodyPr lIns="83282" tIns="83282" rIns="83282" bIns="83282" rtlCol="0" anchor="ctr"/>
          <a:lstStyle/>
          <a:p>
            <a:pPr algn="ctr">
              <a:lnSpc>
                <a:spcPts val="1993"/>
              </a:lnSpc>
            </a:pPr>
            <a:endParaRPr/>
          </a:p>
        </p:txBody>
      </p:sp>
      <p:sp>
        <p:nvSpPr>
          <p:cNvPr id="23" name="TextBox 22">
            <a:extLst>
              <a:ext uri="{FF2B5EF4-FFF2-40B4-BE49-F238E27FC236}">
                <a16:creationId xmlns:a16="http://schemas.microsoft.com/office/drawing/2014/main" id="{AB46AC31-2684-C318-A9CC-2426BE246643}"/>
              </a:ext>
            </a:extLst>
          </p:cNvPr>
          <p:cNvSpPr txBox="1"/>
          <p:nvPr/>
        </p:nvSpPr>
        <p:spPr>
          <a:xfrm>
            <a:off x="304800" y="190500"/>
            <a:ext cx="1143000" cy="923330"/>
          </a:xfrm>
          <a:prstGeom prst="rect">
            <a:avLst/>
          </a:prstGeom>
          <a:noFill/>
        </p:spPr>
        <p:txBody>
          <a:bodyPr wrap="square">
            <a:spAutoFit/>
          </a:bodyPr>
          <a:lstStyle/>
          <a:p>
            <a:pPr algn="ctr"/>
            <a:r>
              <a:rPr lang="en-US" sz="5400" dirty="0">
                <a:solidFill>
                  <a:schemeClr val="bg1"/>
                </a:solidFill>
                <a:effectLst>
                  <a:outerShdw blurRad="38100" dist="38100" dir="2700000" algn="tl">
                    <a:srgbClr val="000000">
                      <a:alpha val="43137"/>
                    </a:srgbClr>
                  </a:outerShdw>
                </a:effectLst>
                <a:latin typeface="DC-Monument Extended Ultrabold" pitchFamily="50" charset="0"/>
              </a:rPr>
              <a:t>V</a:t>
            </a:r>
          </a:p>
        </p:txBody>
      </p:sp>
      <p:pic>
        <p:nvPicPr>
          <p:cNvPr id="28" name="Picture 27" descr="A blue logo with a black background&#10;&#10;AI-generated content may be incorrect.">
            <a:extLst>
              <a:ext uri="{FF2B5EF4-FFF2-40B4-BE49-F238E27FC236}">
                <a16:creationId xmlns:a16="http://schemas.microsoft.com/office/drawing/2014/main" id="{2669C32A-8D93-D234-EAE5-0530698D767D}"/>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tretch>
            <a:fillRect/>
          </a:stretch>
        </p:blipFill>
        <p:spPr>
          <a:xfrm>
            <a:off x="16355284" y="273903"/>
            <a:ext cx="1403126" cy="1133024"/>
          </a:xfrm>
          <a:prstGeom prst="rect">
            <a:avLst/>
          </a:prstGeom>
        </p:spPr>
      </p:pic>
      <p:sp>
        <p:nvSpPr>
          <p:cNvPr id="29" name="Freeform 13">
            <a:extLst>
              <a:ext uri="{FF2B5EF4-FFF2-40B4-BE49-F238E27FC236}">
                <a16:creationId xmlns:a16="http://schemas.microsoft.com/office/drawing/2014/main" id="{C9FB11C3-C648-57C3-1C27-5AD26F793C63}"/>
              </a:ext>
            </a:extLst>
          </p:cNvPr>
          <p:cNvSpPr/>
          <p:nvPr/>
        </p:nvSpPr>
        <p:spPr>
          <a:xfrm>
            <a:off x="15750874" y="9639300"/>
            <a:ext cx="6880526" cy="1159703"/>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gradFill flip="none" rotWithShape="1">
            <a:gsLst>
              <a:gs pos="83000">
                <a:srgbClr val="337AC7"/>
              </a:gs>
              <a:gs pos="33000">
                <a:srgbClr val="3EB3DF"/>
              </a:gs>
              <a:gs pos="59000">
                <a:srgbClr val="3BA1D7"/>
              </a:gs>
            </a:gsLst>
            <a:lin ang="13500000" scaled="1"/>
            <a:tileRect/>
          </a:gradFill>
          <a:effectLst>
            <a:outerShdw blurRad="50800" dist="38100" dir="13500000" algn="br" rotWithShape="0">
              <a:prstClr val="black">
                <a:alpha val="40000"/>
              </a:prstClr>
            </a:outerShdw>
          </a:effectLst>
        </p:spPr>
        <p:txBody>
          <a:bodyPr/>
          <a:lstStyle/>
          <a:p>
            <a:endParaRPr lang="en-US"/>
          </a:p>
        </p:txBody>
      </p:sp>
      <p:sp>
        <p:nvSpPr>
          <p:cNvPr id="2" name="Slide Number Placeholder 8">
            <a:extLst>
              <a:ext uri="{FF2B5EF4-FFF2-40B4-BE49-F238E27FC236}">
                <a16:creationId xmlns:a16="http://schemas.microsoft.com/office/drawing/2014/main" id="{A367B6FA-D51B-B1E2-5CC7-EA333AEAC632}"/>
              </a:ext>
            </a:extLst>
          </p:cNvPr>
          <p:cNvSpPr>
            <a:spLocks noGrp="1"/>
          </p:cNvSpPr>
          <p:nvPr>
            <p:ph type="sldNum" sz="quarter" idx="12"/>
          </p:nvPr>
        </p:nvSpPr>
        <p:spPr>
          <a:xfrm>
            <a:off x="16687076" y="9854438"/>
            <a:ext cx="1517914" cy="242062"/>
          </a:xfrm>
        </p:spPr>
        <p:txBody>
          <a:bodyPr/>
          <a:lstStyle/>
          <a:p>
            <a:pPr algn="ctr"/>
            <a:fld id="{B6F15528-21DE-4FAA-801E-634DDDAF4B2B}" type="slidenum">
              <a:rPr lang="en-US" sz="3600" smtClean="0">
                <a:solidFill>
                  <a:schemeClr val="bg1"/>
                </a:solidFill>
                <a:effectLst>
                  <a:outerShdw blurRad="38100" dist="38100" dir="2700000" algn="tl">
                    <a:srgbClr val="000000">
                      <a:alpha val="43137"/>
                    </a:srgbClr>
                  </a:outerShdw>
                </a:effectLst>
                <a:latin typeface="DC-Monument Extended Ultrabold" pitchFamily="50" charset="0"/>
              </a:rPr>
              <a:pPr algn="ctr"/>
              <a:t>36</a:t>
            </a:fld>
            <a:endParaRPr lang="en-US" sz="3600" dirty="0">
              <a:solidFill>
                <a:schemeClr val="bg1"/>
              </a:solidFill>
              <a:effectLst>
                <a:outerShdw blurRad="38100" dist="38100" dir="2700000" algn="tl">
                  <a:srgbClr val="000000">
                    <a:alpha val="43137"/>
                  </a:srgbClr>
                </a:outerShdw>
              </a:effectLst>
              <a:latin typeface="DC-Monument Extended Ultrabold" pitchFamily="50" charset="0"/>
            </a:endParaRPr>
          </a:p>
        </p:txBody>
      </p:sp>
      <p:sp>
        <p:nvSpPr>
          <p:cNvPr id="10" name="TextBox 9">
            <a:extLst>
              <a:ext uri="{FF2B5EF4-FFF2-40B4-BE49-F238E27FC236}">
                <a16:creationId xmlns:a16="http://schemas.microsoft.com/office/drawing/2014/main" id="{D7AF6EF5-0436-9286-4BCC-7DAAB4AA142C}"/>
              </a:ext>
            </a:extLst>
          </p:cNvPr>
          <p:cNvSpPr txBox="1"/>
          <p:nvPr/>
        </p:nvSpPr>
        <p:spPr>
          <a:xfrm>
            <a:off x="2037587" y="229969"/>
            <a:ext cx="16783813" cy="646331"/>
          </a:xfrm>
          <a:prstGeom prst="rect">
            <a:avLst/>
          </a:prstGeom>
          <a:noFill/>
        </p:spPr>
        <p:txBody>
          <a:bodyPr wrap="square" rtlCol="0">
            <a:spAutoFit/>
          </a:bodyPr>
          <a:lstStyle/>
          <a:p>
            <a:pPr lvl="1">
              <a:spcAft>
                <a:spcPts val="600"/>
              </a:spcAft>
            </a:pPr>
            <a:r>
              <a:rPr lang="en-US" sz="3600" b="1" dirty="0">
                <a:solidFill>
                  <a:srgbClr val="00206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THIẾT KẾ ĐỂ CHỊU LỖI. MỘT TRIẾT LÝ THIẾT KẾ</a:t>
            </a:r>
          </a:p>
        </p:txBody>
      </p:sp>
      <p:sp>
        <p:nvSpPr>
          <p:cNvPr id="11" name="TextBox 10">
            <a:extLst>
              <a:ext uri="{FF2B5EF4-FFF2-40B4-BE49-F238E27FC236}">
                <a16:creationId xmlns:a16="http://schemas.microsoft.com/office/drawing/2014/main" id="{3F3051B4-DCA1-5360-3F7B-ADA53B4F2679}"/>
              </a:ext>
            </a:extLst>
          </p:cNvPr>
          <p:cNvSpPr txBox="1"/>
          <p:nvPr/>
        </p:nvSpPr>
        <p:spPr>
          <a:xfrm>
            <a:off x="2037587" y="886480"/>
            <a:ext cx="16783813" cy="523220"/>
          </a:xfrm>
          <a:prstGeom prst="rect">
            <a:avLst/>
          </a:prstGeom>
          <a:noFill/>
        </p:spPr>
        <p:txBody>
          <a:bodyPr wrap="square" rtlCol="0">
            <a:spAutoFit/>
          </a:bodyPr>
          <a:lstStyle/>
          <a:p>
            <a:pPr lvl="1">
              <a:spcAft>
                <a:spcPts val="1200"/>
              </a:spcAft>
            </a:pP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Một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triết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lý</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thiết</a:t>
            </a:r>
            <a:r>
              <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 </a:t>
            </a:r>
            <a:r>
              <a:rPr lang="en-US" sz="2800" b="1" dirty="0" err="1">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rPr>
              <a:t>kế</a:t>
            </a:r>
            <a:endParaRPr lang="en-US" sz="2800" b="1" dirty="0">
              <a:solidFill>
                <a:srgbClr val="0070C0"/>
              </a:solidFill>
              <a:effectLst>
                <a:outerShdw blurRad="38100" dist="38100" dir="2700000" algn="tl">
                  <a:srgbClr val="000000">
                    <a:alpha val="43137"/>
                  </a:srgbClr>
                </a:outerShdw>
              </a:effectLst>
              <a:latin typeface="DC-Monument Extended Ultrabold" pitchFamily="50" charset="0"/>
              <a:ea typeface="Dynamo Medium"/>
              <a:cs typeface="Dynamo Medium"/>
              <a:sym typeface="Dynamo Medium"/>
            </a:endParaRPr>
          </a:p>
        </p:txBody>
      </p:sp>
      <p:grpSp>
        <p:nvGrpSpPr>
          <p:cNvPr id="3" name="Group 2">
            <a:extLst>
              <a:ext uri="{FF2B5EF4-FFF2-40B4-BE49-F238E27FC236}">
                <a16:creationId xmlns:a16="http://schemas.microsoft.com/office/drawing/2014/main" id="{9D166DF4-7424-12D0-D747-10BC17AB950A}"/>
              </a:ext>
            </a:extLst>
          </p:cNvPr>
          <p:cNvGrpSpPr/>
          <p:nvPr/>
        </p:nvGrpSpPr>
        <p:grpSpPr>
          <a:xfrm>
            <a:off x="3393462" y="4646695"/>
            <a:ext cx="11501076" cy="993607"/>
            <a:chOff x="1552950" y="5219888"/>
            <a:chExt cx="13163695" cy="232373"/>
          </a:xfrm>
        </p:grpSpPr>
        <p:sp>
          <p:nvSpPr>
            <p:cNvPr id="4" name="Rectangle: Diagonal Corners Snipped 3">
              <a:extLst>
                <a:ext uri="{FF2B5EF4-FFF2-40B4-BE49-F238E27FC236}">
                  <a16:creationId xmlns:a16="http://schemas.microsoft.com/office/drawing/2014/main" id="{BBFB3757-0253-4621-711C-21BBBAA3B3FF}"/>
                </a:ext>
              </a:extLst>
            </p:cNvPr>
            <p:cNvSpPr/>
            <p:nvPr/>
          </p:nvSpPr>
          <p:spPr>
            <a:xfrm flipV="1">
              <a:off x="1552950" y="5219888"/>
              <a:ext cx="13163695" cy="232373"/>
            </a:xfrm>
            <a:prstGeom prst="snip2DiagRect">
              <a:avLst>
                <a:gd name="adj1" fmla="val 18972"/>
                <a:gd name="adj2" fmla="val 0"/>
              </a:avLst>
            </a:prstGeom>
            <a:gradFill>
              <a:gsLst>
                <a:gs pos="17000">
                  <a:srgbClr val="3EB3DF"/>
                </a:gs>
                <a:gs pos="54000">
                  <a:srgbClr val="3997D3"/>
                </a:gs>
                <a:gs pos="79000">
                  <a:srgbClr val="337AC7"/>
                </a:gs>
              </a:gsLst>
              <a:lin ang="16800000" scaled="0"/>
            </a:gradFill>
            <a:ln>
              <a:solidFill>
                <a:schemeClr val="accent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9B23BA0-3083-D7D7-F232-9A4331B25B8A}"/>
                </a:ext>
              </a:extLst>
            </p:cNvPr>
            <p:cNvSpPr txBox="1"/>
            <p:nvPr/>
          </p:nvSpPr>
          <p:spPr>
            <a:xfrm>
              <a:off x="1887273" y="5250548"/>
              <a:ext cx="12425337" cy="194344"/>
            </a:xfrm>
            <a:prstGeom prst="rect">
              <a:avLst/>
            </a:prstGeom>
            <a:noFill/>
          </p:spPr>
          <p:txBody>
            <a:bodyPr wrap="square" rtlCol="0">
              <a:spAutoFit/>
            </a:bodyPr>
            <a:lstStyle/>
            <a:p>
              <a:pPr algn="ctr"/>
              <a:r>
                <a:rPr lang="en-US" sz="4800" b="1" dirty="0">
                  <a:solidFill>
                    <a:schemeClr val="bg1"/>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rPr>
                <a:t>LẤY NGƯỜI DÙNG LÀM TRUNG TÂM</a:t>
              </a:r>
              <a:endParaRPr lang="en-US" sz="4800" b="1" dirty="0">
                <a:solidFill>
                  <a:srgbClr val="FFFF00"/>
                </a:solidFill>
                <a:effectLst>
                  <a:outerShdw blurRad="38100" dist="38100" dir="2700000" algn="tl">
                    <a:srgbClr val="000000">
                      <a:alpha val="43137"/>
                    </a:srgbClr>
                  </a:outerShdw>
                </a:effectLst>
                <a:latin typeface="Source Sans Pro" panose="020B0503030403020204" pitchFamily="34" charset="0"/>
                <a:ea typeface="Source Sans Pro" panose="020B0503030403020204" pitchFamily="34" charset="0"/>
              </a:endParaRPr>
            </a:p>
          </p:txBody>
        </p:sp>
      </p:grpSp>
    </p:spTree>
    <p:extLst>
      <p:ext uri="{BB962C8B-B14F-4D97-AF65-F5344CB8AC3E}">
        <p14:creationId xmlns:p14="http://schemas.microsoft.com/office/powerpoint/2010/main" val="234373458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572BE3B8-9E95-75F6-5031-667C9E48038F}"/>
            </a:ext>
          </a:extLst>
        </p:cNvPr>
        <p:cNvGrpSpPr/>
        <p:nvPr/>
      </p:nvGrpSpPr>
      <p:grpSpPr>
        <a:xfrm>
          <a:off x="0" y="0"/>
          <a:ext cx="0" cy="0"/>
          <a:chOff x="0" y="0"/>
          <a:chExt cx="0" cy="0"/>
        </a:xfrm>
      </p:grpSpPr>
      <p:sp>
        <p:nvSpPr>
          <p:cNvPr id="36" name="Freeform 10">
            <a:extLst>
              <a:ext uri="{FF2B5EF4-FFF2-40B4-BE49-F238E27FC236}">
                <a16:creationId xmlns:a16="http://schemas.microsoft.com/office/drawing/2014/main" id="{C8C15BD4-692B-2D6B-7BD1-30BF6D7D452E}"/>
              </a:ext>
            </a:extLst>
          </p:cNvPr>
          <p:cNvSpPr/>
          <p:nvPr/>
        </p:nvSpPr>
        <p:spPr>
          <a:xfrm rot="8289110">
            <a:off x="10269032" y="4271870"/>
            <a:ext cx="12716270" cy="6635581"/>
          </a:xfrm>
          <a:custGeom>
            <a:avLst/>
            <a:gdLst/>
            <a:ahLst/>
            <a:cxnLst/>
            <a:rect l="l" t="t" r="r" b="b"/>
            <a:pathLst>
              <a:path w="12716270" h="6635581">
                <a:moveTo>
                  <a:pt x="0" y="0"/>
                </a:moveTo>
                <a:lnTo>
                  <a:pt x="12716270" y="0"/>
                </a:lnTo>
                <a:lnTo>
                  <a:pt x="12716270" y="6635581"/>
                </a:lnTo>
                <a:lnTo>
                  <a:pt x="0" y="6635581"/>
                </a:lnTo>
                <a:lnTo>
                  <a:pt x="0" y="0"/>
                </a:lnTo>
                <a:close/>
              </a:path>
            </a:pathLst>
          </a:custGeom>
          <a:blipFill>
            <a:blip r:embed="rId2">
              <a:alphaModFix amt="87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38" name="Freeform 9">
            <a:extLst>
              <a:ext uri="{FF2B5EF4-FFF2-40B4-BE49-F238E27FC236}">
                <a16:creationId xmlns:a16="http://schemas.microsoft.com/office/drawing/2014/main" id="{54012910-39B2-25E2-80A8-FDE7AB350EB5}"/>
              </a:ext>
            </a:extLst>
          </p:cNvPr>
          <p:cNvSpPr/>
          <p:nvPr/>
        </p:nvSpPr>
        <p:spPr>
          <a:xfrm rot="6306459" flipH="1" flipV="1">
            <a:off x="12251202" y="3280798"/>
            <a:ext cx="12716270" cy="6635581"/>
          </a:xfrm>
          <a:custGeom>
            <a:avLst/>
            <a:gdLst/>
            <a:ahLst/>
            <a:cxnLst/>
            <a:rect l="l" t="t" r="r" b="b"/>
            <a:pathLst>
              <a:path w="12716270" h="6635581">
                <a:moveTo>
                  <a:pt x="12716270" y="6635581"/>
                </a:moveTo>
                <a:lnTo>
                  <a:pt x="0" y="6635581"/>
                </a:lnTo>
                <a:lnTo>
                  <a:pt x="0" y="0"/>
                </a:lnTo>
                <a:lnTo>
                  <a:pt x="12716270" y="0"/>
                </a:lnTo>
                <a:lnTo>
                  <a:pt x="12716270" y="6635581"/>
                </a:lnTo>
                <a:close/>
              </a:path>
            </a:pathLst>
          </a:custGeom>
          <a:blipFill>
            <a:blip r:embed="rId2">
              <a:alphaModFix amt="87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35" name="Picture 34" descr="A blue logo with a black background&#10;&#10;AI-generated content may be incorrect.">
            <a:extLst>
              <a:ext uri="{FF2B5EF4-FFF2-40B4-BE49-F238E27FC236}">
                <a16:creationId xmlns:a16="http://schemas.microsoft.com/office/drawing/2014/main" id="{BB1705F1-2356-A70B-1F21-8913B4F8FDB9}"/>
              </a:ext>
            </a:extLst>
          </p:cNvPr>
          <p:cNvPicPr>
            <a:picLocks noChangeAspect="1"/>
          </p:cNvPicPr>
          <p:nvPr/>
        </p:nvPicPr>
        <p:blipFill>
          <a:blip r:embed="rId4" cstate="print">
            <a:alphaModFix amt="5000"/>
            <a:extLst>
              <a:ext uri="{BEBA8EAE-BF5A-486C-A8C5-ECC9F3942E4B}">
                <a14:imgProps xmlns:a14="http://schemas.microsoft.com/office/drawing/2010/main">
                  <a14:imgLayer r:embed="rId5">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grpSp>
        <p:nvGrpSpPr>
          <p:cNvPr id="4" name="Group 4">
            <a:extLst>
              <a:ext uri="{FF2B5EF4-FFF2-40B4-BE49-F238E27FC236}">
                <a16:creationId xmlns:a16="http://schemas.microsoft.com/office/drawing/2014/main" id="{692BC320-5AD1-88D0-E363-D3512DC9774F}"/>
              </a:ext>
            </a:extLst>
          </p:cNvPr>
          <p:cNvGrpSpPr/>
          <p:nvPr/>
        </p:nvGrpSpPr>
        <p:grpSpPr>
          <a:xfrm>
            <a:off x="19364553" y="7212126"/>
            <a:ext cx="7009358" cy="1398154"/>
            <a:chOff x="0" y="0"/>
            <a:chExt cx="9345810" cy="1864205"/>
          </a:xfrm>
        </p:grpSpPr>
        <p:grpSp>
          <p:nvGrpSpPr>
            <p:cNvPr id="5" name="Group 5">
              <a:extLst>
                <a:ext uri="{FF2B5EF4-FFF2-40B4-BE49-F238E27FC236}">
                  <a16:creationId xmlns:a16="http://schemas.microsoft.com/office/drawing/2014/main" id="{E06ACB82-F38B-1D03-09C0-647D912E9804}"/>
                </a:ext>
              </a:extLst>
            </p:cNvPr>
            <p:cNvGrpSpPr/>
            <p:nvPr/>
          </p:nvGrpSpPr>
          <p:grpSpPr>
            <a:xfrm>
              <a:off x="0" y="0"/>
              <a:ext cx="9345810" cy="1546271"/>
              <a:chOff x="0" y="0"/>
              <a:chExt cx="1250766" cy="206940"/>
            </a:xfrm>
          </p:grpSpPr>
          <p:sp>
            <p:nvSpPr>
              <p:cNvPr id="6" name="Freeform 6">
                <a:extLst>
                  <a:ext uri="{FF2B5EF4-FFF2-40B4-BE49-F238E27FC236}">
                    <a16:creationId xmlns:a16="http://schemas.microsoft.com/office/drawing/2014/main" id="{1A331BEE-C942-A187-7E45-216B1D23A643}"/>
                  </a:ext>
                </a:extLst>
              </p:cNvPr>
              <p:cNvSpPr/>
              <p:nvPr/>
            </p:nvSpPr>
            <p:spPr>
              <a:xfrm>
                <a:off x="18844" y="0"/>
                <a:ext cx="1213078" cy="206940"/>
              </a:xfrm>
              <a:custGeom>
                <a:avLst/>
                <a:gdLst/>
                <a:ahLst/>
                <a:cxnLst/>
                <a:rect l="l" t="t" r="r" b="b"/>
                <a:pathLst>
                  <a:path w="1213078" h="206940">
                    <a:moveTo>
                      <a:pt x="218760" y="0"/>
                    </a:moveTo>
                    <a:lnTo>
                      <a:pt x="1197518" y="0"/>
                    </a:lnTo>
                    <a:cubicBezTo>
                      <a:pt x="1203332" y="0"/>
                      <a:pt x="1208579" y="3488"/>
                      <a:pt x="1210829" y="8850"/>
                    </a:cubicBezTo>
                    <a:cubicBezTo>
                      <a:pt x="1213078" y="14212"/>
                      <a:pt x="1211891" y="20399"/>
                      <a:pt x="1207817" y="24548"/>
                    </a:cubicBezTo>
                    <a:lnTo>
                      <a:pt x="1052827" y="182392"/>
                    </a:lnTo>
                    <a:cubicBezTo>
                      <a:pt x="1037408" y="198094"/>
                      <a:pt x="1016325" y="206940"/>
                      <a:pt x="994318" y="206940"/>
                    </a:cubicBezTo>
                    <a:lnTo>
                      <a:pt x="15560" y="206940"/>
                    </a:lnTo>
                    <a:cubicBezTo>
                      <a:pt x="9746" y="206940"/>
                      <a:pt x="4499" y="203452"/>
                      <a:pt x="2249" y="198090"/>
                    </a:cubicBezTo>
                    <a:cubicBezTo>
                      <a:pt x="0" y="192728"/>
                      <a:pt x="1187" y="186541"/>
                      <a:pt x="5261" y="182392"/>
                    </a:cubicBezTo>
                    <a:lnTo>
                      <a:pt x="160251" y="24548"/>
                    </a:lnTo>
                    <a:cubicBezTo>
                      <a:pt x="175670" y="8846"/>
                      <a:pt x="196753" y="0"/>
                      <a:pt x="218760" y="0"/>
                    </a:cubicBezTo>
                    <a:close/>
                  </a:path>
                </a:pathLst>
              </a:custGeom>
              <a:solidFill>
                <a:srgbClr val="3275C5"/>
              </a:solidFill>
            </p:spPr>
            <p:txBody>
              <a:bodyPr/>
              <a:lstStyle/>
              <a:p>
                <a:endParaRPr lang="en-US"/>
              </a:p>
            </p:txBody>
          </p:sp>
          <p:sp>
            <p:nvSpPr>
              <p:cNvPr id="7" name="TextBox 7">
                <a:extLst>
                  <a:ext uri="{FF2B5EF4-FFF2-40B4-BE49-F238E27FC236}">
                    <a16:creationId xmlns:a16="http://schemas.microsoft.com/office/drawing/2014/main" id="{5EBABB76-3400-3635-626D-39344182A231}"/>
                  </a:ext>
                </a:extLst>
              </p:cNvPr>
              <p:cNvSpPr txBox="1"/>
              <p:nvPr/>
            </p:nvSpPr>
            <p:spPr>
              <a:xfrm>
                <a:off x="101600" y="19050"/>
                <a:ext cx="1047566" cy="187890"/>
              </a:xfrm>
              <a:prstGeom prst="rect">
                <a:avLst/>
              </a:prstGeom>
            </p:spPr>
            <p:txBody>
              <a:bodyPr lIns="50800" tIns="50800" rIns="50800" bIns="50800" rtlCol="0" anchor="ctr"/>
              <a:lstStyle/>
              <a:p>
                <a:pPr algn="ctr">
                  <a:lnSpc>
                    <a:spcPts val="1993"/>
                  </a:lnSpc>
                </a:pPr>
                <a:endParaRPr/>
              </a:p>
            </p:txBody>
          </p:sp>
        </p:grpSp>
        <p:grpSp>
          <p:nvGrpSpPr>
            <p:cNvPr id="8" name="Group 8">
              <a:extLst>
                <a:ext uri="{FF2B5EF4-FFF2-40B4-BE49-F238E27FC236}">
                  <a16:creationId xmlns:a16="http://schemas.microsoft.com/office/drawing/2014/main" id="{499CF168-D3D3-0E83-42CE-E7337EB2DDFA}"/>
                </a:ext>
              </a:extLst>
            </p:cNvPr>
            <p:cNvGrpSpPr/>
            <p:nvPr/>
          </p:nvGrpSpPr>
          <p:grpSpPr>
            <a:xfrm>
              <a:off x="4451974" y="1170495"/>
              <a:ext cx="4192850" cy="693710"/>
              <a:chOff x="0" y="0"/>
              <a:chExt cx="1250766" cy="206940"/>
            </a:xfrm>
          </p:grpSpPr>
          <p:sp>
            <p:nvSpPr>
              <p:cNvPr id="9" name="Freeform 9">
                <a:extLst>
                  <a:ext uri="{FF2B5EF4-FFF2-40B4-BE49-F238E27FC236}">
                    <a16:creationId xmlns:a16="http://schemas.microsoft.com/office/drawing/2014/main" id="{2102E1A8-BDF1-3B29-5FD8-33EEAC6C6F3D}"/>
                  </a:ext>
                </a:extLst>
              </p:cNvPr>
              <p:cNvSpPr/>
              <p:nvPr/>
            </p:nvSpPr>
            <p:spPr>
              <a:xfrm>
                <a:off x="22107" y="0"/>
                <a:ext cx="1206553" cy="206940"/>
              </a:xfrm>
              <a:custGeom>
                <a:avLst/>
                <a:gdLst/>
                <a:ahLst/>
                <a:cxnLst/>
                <a:rect l="l" t="t" r="r" b="b"/>
                <a:pathLst>
                  <a:path w="1206553" h="206940">
                    <a:moveTo>
                      <a:pt x="221454" y="0"/>
                    </a:moveTo>
                    <a:lnTo>
                      <a:pt x="1188298" y="0"/>
                    </a:lnTo>
                    <a:cubicBezTo>
                      <a:pt x="1195119" y="0"/>
                      <a:pt x="1201274" y="4093"/>
                      <a:pt x="1203913" y="10382"/>
                    </a:cubicBezTo>
                    <a:cubicBezTo>
                      <a:pt x="1206552" y="16672"/>
                      <a:pt x="1205160" y="23932"/>
                      <a:pt x="1200381" y="28799"/>
                    </a:cubicBezTo>
                    <a:lnTo>
                      <a:pt x="1053737" y="178141"/>
                    </a:lnTo>
                    <a:cubicBezTo>
                      <a:pt x="1035649" y="196563"/>
                      <a:pt x="1010915" y="206940"/>
                      <a:pt x="985098" y="206940"/>
                    </a:cubicBezTo>
                    <a:lnTo>
                      <a:pt x="18254" y="206940"/>
                    </a:lnTo>
                    <a:cubicBezTo>
                      <a:pt x="11433" y="206940"/>
                      <a:pt x="5278" y="202848"/>
                      <a:pt x="2639" y="196558"/>
                    </a:cubicBezTo>
                    <a:cubicBezTo>
                      <a:pt x="0" y="190268"/>
                      <a:pt x="1392" y="183008"/>
                      <a:pt x="6171" y="178141"/>
                    </a:cubicBezTo>
                    <a:lnTo>
                      <a:pt x="152815" y="28799"/>
                    </a:lnTo>
                    <a:cubicBezTo>
                      <a:pt x="170903" y="10377"/>
                      <a:pt x="195637" y="0"/>
                      <a:pt x="221454" y="0"/>
                    </a:cubicBezTo>
                    <a:close/>
                  </a:path>
                </a:pathLst>
              </a:custGeom>
              <a:solidFill>
                <a:srgbClr val="64CAF4"/>
              </a:solidFill>
            </p:spPr>
            <p:txBody>
              <a:bodyPr/>
              <a:lstStyle/>
              <a:p>
                <a:endParaRPr lang="en-US"/>
              </a:p>
            </p:txBody>
          </p:sp>
          <p:sp>
            <p:nvSpPr>
              <p:cNvPr id="10" name="TextBox 10">
                <a:extLst>
                  <a:ext uri="{FF2B5EF4-FFF2-40B4-BE49-F238E27FC236}">
                    <a16:creationId xmlns:a16="http://schemas.microsoft.com/office/drawing/2014/main" id="{4BD9DDF1-DBCF-80DA-3205-F41AFF541859}"/>
                  </a:ext>
                </a:extLst>
              </p:cNvPr>
              <p:cNvSpPr txBox="1"/>
              <p:nvPr/>
            </p:nvSpPr>
            <p:spPr>
              <a:xfrm>
                <a:off x="101600" y="19050"/>
                <a:ext cx="1047566" cy="187890"/>
              </a:xfrm>
              <a:prstGeom prst="rect">
                <a:avLst/>
              </a:prstGeom>
            </p:spPr>
            <p:txBody>
              <a:bodyPr lIns="50800" tIns="50800" rIns="50800" bIns="50800" rtlCol="0" anchor="ctr"/>
              <a:lstStyle/>
              <a:p>
                <a:pPr algn="ctr">
                  <a:lnSpc>
                    <a:spcPts val="1993"/>
                  </a:lnSpc>
                </a:pPr>
                <a:endParaRPr/>
              </a:p>
            </p:txBody>
          </p:sp>
        </p:grpSp>
      </p:grpSp>
      <p:sp>
        <p:nvSpPr>
          <p:cNvPr id="16" name="Freeform 16">
            <a:extLst>
              <a:ext uri="{FF2B5EF4-FFF2-40B4-BE49-F238E27FC236}">
                <a16:creationId xmlns:a16="http://schemas.microsoft.com/office/drawing/2014/main" id="{B384B031-8F5E-15D1-B2DE-5FAD8F9A3EF4}"/>
              </a:ext>
            </a:extLst>
          </p:cNvPr>
          <p:cNvSpPr/>
          <p:nvPr/>
        </p:nvSpPr>
        <p:spPr>
          <a:xfrm>
            <a:off x="19334073" y="2347222"/>
            <a:ext cx="523227" cy="523227"/>
          </a:xfrm>
          <a:custGeom>
            <a:avLst/>
            <a:gdLst/>
            <a:ahLst/>
            <a:cxnLst/>
            <a:rect l="l" t="t" r="r" b="b"/>
            <a:pathLst>
              <a:path w="523227" h="523227">
                <a:moveTo>
                  <a:pt x="0" y="0"/>
                </a:moveTo>
                <a:lnTo>
                  <a:pt x="523227" y="0"/>
                </a:lnTo>
                <a:lnTo>
                  <a:pt x="523227" y="523227"/>
                </a:lnTo>
                <a:lnTo>
                  <a:pt x="0" y="5232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TextBox 17">
            <a:extLst>
              <a:ext uri="{FF2B5EF4-FFF2-40B4-BE49-F238E27FC236}">
                <a16:creationId xmlns:a16="http://schemas.microsoft.com/office/drawing/2014/main" id="{8BB99267-3FFD-C880-11D9-BDE5419635CF}"/>
              </a:ext>
            </a:extLst>
          </p:cNvPr>
          <p:cNvSpPr txBox="1"/>
          <p:nvPr/>
        </p:nvSpPr>
        <p:spPr>
          <a:xfrm>
            <a:off x="19202400" y="3009900"/>
            <a:ext cx="7004506" cy="1377949"/>
          </a:xfrm>
          <a:prstGeom prst="rect">
            <a:avLst/>
          </a:prstGeom>
        </p:spPr>
        <p:txBody>
          <a:bodyPr lIns="0" tIns="0" rIns="0" bIns="0" rtlCol="0" anchor="t">
            <a:spAutoFit/>
          </a:bodyPr>
          <a:lstStyle/>
          <a:p>
            <a:pPr algn="l">
              <a:lnSpc>
                <a:spcPts val="11200"/>
              </a:lnSpc>
            </a:pPr>
            <a:r>
              <a:rPr lang="en-US" sz="8000" b="1">
                <a:solidFill>
                  <a:srgbClr val="3275C5"/>
                </a:solidFill>
                <a:latin typeface="Source Sans Pro Bold"/>
                <a:ea typeface="Source Sans Pro Bold"/>
                <a:cs typeface="Source Sans Pro Bold"/>
                <a:sym typeface="Source Sans Pro Bold"/>
              </a:rPr>
              <a:t>BUSINESS</a:t>
            </a:r>
          </a:p>
        </p:txBody>
      </p:sp>
      <p:sp>
        <p:nvSpPr>
          <p:cNvPr id="18" name="TextBox 18">
            <a:extLst>
              <a:ext uri="{FF2B5EF4-FFF2-40B4-BE49-F238E27FC236}">
                <a16:creationId xmlns:a16="http://schemas.microsoft.com/office/drawing/2014/main" id="{F8DBE334-9857-9AF2-C484-FB0367BB9DD8}"/>
              </a:ext>
            </a:extLst>
          </p:cNvPr>
          <p:cNvSpPr txBox="1"/>
          <p:nvPr/>
        </p:nvSpPr>
        <p:spPr>
          <a:xfrm>
            <a:off x="19202648" y="3946131"/>
            <a:ext cx="8796517" cy="2057400"/>
          </a:xfrm>
          <a:prstGeom prst="rect">
            <a:avLst/>
          </a:prstGeom>
        </p:spPr>
        <p:txBody>
          <a:bodyPr lIns="0" tIns="0" rIns="0" bIns="0" rtlCol="0" anchor="t">
            <a:spAutoFit/>
          </a:bodyPr>
          <a:lstStyle/>
          <a:p>
            <a:pPr algn="l">
              <a:lnSpc>
                <a:spcPts val="16799"/>
              </a:lnSpc>
            </a:pPr>
            <a:r>
              <a:rPr lang="en-US" sz="11999" b="1" spc="47" dirty="0">
                <a:solidFill>
                  <a:srgbClr val="56AAF0"/>
                </a:solidFill>
                <a:latin typeface="Dynamo Medium"/>
                <a:ea typeface="Dynamo Medium"/>
                <a:cs typeface="Dynamo Medium"/>
                <a:sym typeface="Dynamo Medium"/>
              </a:rPr>
              <a:t>PROPOSAL</a:t>
            </a:r>
          </a:p>
        </p:txBody>
      </p:sp>
      <p:sp>
        <p:nvSpPr>
          <p:cNvPr id="19" name="TextBox 19">
            <a:extLst>
              <a:ext uri="{FF2B5EF4-FFF2-40B4-BE49-F238E27FC236}">
                <a16:creationId xmlns:a16="http://schemas.microsoft.com/office/drawing/2014/main" id="{97CD949D-9BC9-0CDB-7D67-192445C37C34}"/>
              </a:ext>
            </a:extLst>
          </p:cNvPr>
          <p:cNvSpPr txBox="1"/>
          <p:nvPr/>
        </p:nvSpPr>
        <p:spPr>
          <a:xfrm>
            <a:off x="19970031" y="2375797"/>
            <a:ext cx="2399835" cy="494652"/>
          </a:xfrm>
          <a:prstGeom prst="rect">
            <a:avLst/>
          </a:prstGeom>
        </p:spPr>
        <p:txBody>
          <a:bodyPr lIns="0" tIns="0" rIns="0" bIns="0" rtlCol="0" anchor="t">
            <a:spAutoFit/>
          </a:bodyPr>
          <a:lstStyle/>
          <a:p>
            <a:pPr algn="l">
              <a:lnSpc>
                <a:spcPts val="3895"/>
              </a:lnSpc>
            </a:pPr>
            <a:r>
              <a:rPr lang="en-US" sz="3447" b="1">
                <a:solidFill>
                  <a:srgbClr val="64CAF4"/>
                </a:solidFill>
                <a:latin typeface="Source Sans Pro Bold"/>
                <a:ea typeface="Source Sans Pro Bold"/>
                <a:cs typeface="Source Sans Pro Bold"/>
                <a:sym typeface="Source Sans Pro Bold"/>
              </a:rPr>
              <a:t>WARDIERE</a:t>
            </a:r>
          </a:p>
        </p:txBody>
      </p:sp>
      <p:sp>
        <p:nvSpPr>
          <p:cNvPr id="20" name="TextBox 20">
            <a:extLst>
              <a:ext uri="{FF2B5EF4-FFF2-40B4-BE49-F238E27FC236}">
                <a16:creationId xmlns:a16="http://schemas.microsoft.com/office/drawing/2014/main" id="{95EEBB1B-F056-2E72-28A3-737FB5216177}"/>
              </a:ext>
            </a:extLst>
          </p:cNvPr>
          <p:cNvSpPr txBox="1"/>
          <p:nvPr/>
        </p:nvSpPr>
        <p:spPr>
          <a:xfrm>
            <a:off x="20753087" y="6574653"/>
            <a:ext cx="2752431" cy="436245"/>
          </a:xfrm>
          <a:prstGeom prst="rect">
            <a:avLst/>
          </a:prstGeom>
        </p:spPr>
        <p:txBody>
          <a:bodyPr lIns="0" tIns="0" rIns="0" bIns="0" rtlCol="0" anchor="t">
            <a:spAutoFit/>
          </a:bodyPr>
          <a:lstStyle/>
          <a:p>
            <a:pPr algn="l">
              <a:lnSpc>
                <a:spcPts val="3390"/>
              </a:lnSpc>
            </a:pPr>
            <a:r>
              <a:rPr lang="en-US" sz="3000">
                <a:solidFill>
                  <a:srgbClr val="64CAF4"/>
                </a:solidFill>
                <a:latin typeface="Dynamo Medium"/>
                <a:ea typeface="Dynamo Medium"/>
                <a:cs typeface="Dynamo Medium"/>
                <a:sym typeface="Dynamo Medium"/>
              </a:rPr>
              <a:t>Presented by:</a:t>
            </a:r>
          </a:p>
        </p:txBody>
      </p:sp>
      <p:sp>
        <p:nvSpPr>
          <p:cNvPr id="21" name="TextBox 21">
            <a:extLst>
              <a:ext uri="{FF2B5EF4-FFF2-40B4-BE49-F238E27FC236}">
                <a16:creationId xmlns:a16="http://schemas.microsoft.com/office/drawing/2014/main" id="{19667F9A-A793-7A21-3935-44A7F81974EE}"/>
              </a:ext>
            </a:extLst>
          </p:cNvPr>
          <p:cNvSpPr txBox="1"/>
          <p:nvPr/>
        </p:nvSpPr>
        <p:spPr>
          <a:xfrm>
            <a:off x="20753087" y="7399246"/>
            <a:ext cx="4622964" cy="720725"/>
          </a:xfrm>
          <a:prstGeom prst="rect">
            <a:avLst/>
          </a:prstGeom>
        </p:spPr>
        <p:txBody>
          <a:bodyPr lIns="0" tIns="0" rIns="0" bIns="0" rtlCol="0" anchor="t">
            <a:spAutoFit/>
          </a:bodyPr>
          <a:lstStyle/>
          <a:p>
            <a:pPr algn="l">
              <a:lnSpc>
                <a:spcPts val="5650"/>
              </a:lnSpc>
            </a:pPr>
            <a:r>
              <a:rPr lang="en-US" sz="5000" b="1">
                <a:solidFill>
                  <a:srgbClr val="FCFEFF"/>
                </a:solidFill>
                <a:latin typeface="Source Sans Pro Bold"/>
                <a:ea typeface="Source Sans Pro Bold"/>
                <a:cs typeface="Source Sans Pro Bold"/>
                <a:sym typeface="Source Sans Pro Bold"/>
              </a:rPr>
              <a:t>Aaroon Loeb</a:t>
            </a:r>
          </a:p>
        </p:txBody>
      </p:sp>
      <p:sp>
        <p:nvSpPr>
          <p:cNvPr id="22" name="Freeform 22">
            <a:extLst>
              <a:ext uri="{FF2B5EF4-FFF2-40B4-BE49-F238E27FC236}">
                <a16:creationId xmlns:a16="http://schemas.microsoft.com/office/drawing/2014/main" id="{46FF7051-B2D2-EA6E-1CC3-29AA968EC53B}"/>
              </a:ext>
            </a:extLst>
          </p:cNvPr>
          <p:cNvSpPr/>
          <p:nvPr/>
        </p:nvSpPr>
        <p:spPr>
          <a:xfrm rot="5808836">
            <a:off x="-6914419" y="655315"/>
            <a:ext cx="12716270" cy="6635581"/>
          </a:xfrm>
          <a:custGeom>
            <a:avLst/>
            <a:gdLst/>
            <a:ahLst/>
            <a:cxnLst/>
            <a:rect l="l" t="t" r="r" b="b"/>
            <a:pathLst>
              <a:path w="12716270" h="6635581">
                <a:moveTo>
                  <a:pt x="0" y="0"/>
                </a:moveTo>
                <a:lnTo>
                  <a:pt x="12716270" y="0"/>
                </a:lnTo>
                <a:lnTo>
                  <a:pt x="12716270" y="6635580"/>
                </a:lnTo>
                <a:lnTo>
                  <a:pt x="0" y="6635580"/>
                </a:lnTo>
                <a:lnTo>
                  <a:pt x="0" y="0"/>
                </a:lnTo>
                <a:close/>
              </a:path>
            </a:pathLst>
          </a:custGeom>
          <a:blipFill>
            <a:blip r:embed="rId8">
              <a:alphaModFix amt="87000"/>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
        <p:nvSpPr>
          <p:cNvPr id="23" name="Freeform 23">
            <a:extLst>
              <a:ext uri="{FF2B5EF4-FFF2-40B4-BE49-F238E27FC236}">
                <a16:creationId xmlns:a16="http://schemas.microsoft.com/office/drawing/2014/main" id="{D38449D3-19AF-8E77-B025-AE05967A3600}"/>
              </a:ext>
            </a:extLst>
          </p:cNvPr>
          <p:cNvSpPr/>
          <p:nvPr/>
        </p:nvSpPr>
        <p:spPr>
          <a:xfrm rot="8289110" flipH="1" flipV="1">
            <a:off x="-5329435" y="255850"/>
            <a:ext cx="12716270" cy="6635581"/>
          </a:xfrm>
          <a:custGeom>
            <a:avLst/>
            <a:gdLst/>
            <a:ahLst/>
            <a:cxnLst/>
            <a:rect l="l" t="t" r="r" b="b"/>
            <a:pathLst>
              <a:path w="12716270" h="6635581">
                <a:moveTo>
                  <a:pt x="12716270" y="6635581"/>
                </a:moveTo>
                <a:lnTo>
                  <a:pt x="0" y="6635581"/>
                </a:lnTo>
                <a:lnTo>
                  <a:pt x="0" y="0"/>
                </a:lnTo>
                <a:lnTo>
                  <a:pt x="12716270" y="0"/>
                </a:lnTo>
                <a:lnTo>
                  <a:pt x="12716270" y="6635581"/>
                </a:lnTo>
                <a:close/>
              </a:path>
            </a:pathLst>
          </a:custGeom>
          <a:blipFill>
            <a:blip r:embed="rId2">
              <a:alphaModFix amt="87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24" name="Picture 23" descr="A black background with blue text&#10;&#10;AI-generated content may be incorrect.">
            <a:extLst>
              <a:ext uri="{FF2B5EF4-FFF2-40B4-BE49-F238E27FC236}">
                <a16:creationId xmlns:a16="http://schemas.microsoft.com/office/drawing/2014/main" id="{A66D6A34-5D9A-0512-8FBC-779AFC4FF1EE}"/>
              </a:ext>
            </a:extLst>
          </p:cNvPr>
          <p:cNvPicPr>
            <a:picLocks noChangeAspect="1"/>
          </p:cNvPicPr>
          <p:nvPr/>
        </p:nvPicPr>
        <p:blipFill>
          <a:blip r:embed="rId10" cstate="print">
            <a:extLst>
              <a:ext uri="{28A0092B-C50C-407E-A947-70E740481C1C}">
                <a14:useLocalDpi xmlns:a14="http://schemas.microsoft.com/office/drawing/2010/main" val="0"/>
              </a:ext>
            </a:extLst>
          </a:blip>
          <a:srcRect t="30827" b="32770"/>
          <a:stretch/>
        </p:blipFill>
        <p:spPr>
          <a:xfrm>
            <a:off x="5754173" y="419620"/>
            <a:ext cx="6779653" cy="1170669"/>
          </a:xfrm>
          <a:prstGeom prst="rect">
            <a:avLst/>
          </a:prstGeom>
        </p:spPr>
      </p:pic>
      <p:sp>
        <p:nvSpPr>
          <p:cNvPr id="2" name="TextBox 3">
            <a:extLst>
              <a:ext uri="{FF2B5EF4-FFF2-40B4-BE49-F238E27FC236}">
                <a16:creationId xmlns:a16="http://schemas.microsoft.com/office/drawing/2014/main" id="{605C9174-99ED-5BEC-2377-F56CA9E006DD}"/>
              </a:ext>
            </a:extLst>
          </p:cNvPr>
          <p:cNvSpPr txBox="1"/>
          <p:nvPr/>
        </p:nvSpPr>
        <p:spPr>
          <a:xfrm>
            <a:off x="1876737" y="3957578"/>
            <a:ext cx="14534526" cy="2862322"/>
          </a:xfrm>
          <a:prstGeom prst="rect">
            <a:avLst/>
          </a:prstGeom>
        </p:spPr>
        <p:txBody>
          <a:bodyPr wrap="square" lIns="0" tIns="0" rIns="0" bIns="0" rtlCol="0" anchor="ctr">
            <a:spAutoFit/>
          </a:bodyPr>
          <a:lstStyle/>
          <a:p>
            <a:pPr algn="ctr">
              <a:spcAft>
                <a:spcPts val="1200"/>
              </a:spcAft>
            </a:pPr>
            <a:r>
              <a:rPr lang="en-US" sz="8800" b="1" spc="300" dirty="0">
                <a:solidFill>
                  <a:srgbClr val="002060"/>
                </a:solidFill>
                <a:effectLst>
                  <a:outerShdw blurRad="38100" dist="38100" dir="2700000" algn="tl">
                    <a:srgbClr val="000000">
                      <a:alpha val="43137"/>
                    </a:srgbClr>
                  </a:outerShdw>
                </a:effectLst>
                <a:latin typeface="DC-Monument Extended Ultrabold" pitchFamily="50" charset="0"/>
                <a:ea typeface="HK Gothic Bold"/>
                <a:cs typeface="HK Gothic Bold"/>
                <a:sym typeface="HK Gothic Bold"/>
              </a:rPr>
              <a:t>CẢM ƠN </a:t>
            </a:r>
          </a:p>
          <a:p>
            <a:pPr algn="ctr">
              <a:spcAft>
                <a:spcPts val="1200"/>
              </a:spcAft>
            </a:pPr>
            <a:r>
              <a:rPr lang="en-US" sz="8800" b="1" spc="300" dirty="0">
                <a:solidFill>
                  <a:srgbClr val="002060"/>
                </a:solidFill>
                <a:effectLst>
                  <a:outerShdw blurRad="38100" dist="38100" dir="2700000" algn="tl">
                    <a:srgbClr val="000000">
                      <a:alpha val="43137"/>
                    </a:srgbClr>
                  </a:outerShdw>
                </a:effectLst>
                <a:latin typeface="DC-Monument Extended Ultrabold" pitchFamily="50" charset="0"/>
                <a:ea typeface="HK Gothic Bold"/>
                <a:cs typeface="HK Gothic Bold"/>
                <a:sym typeface="HK Gothic Bold"/>
              </a:rPr>
              <a:t>VÌ ĐÃ LẮNG NGHE</a:t>
            </a:r>
          </a:p>
        </p:txBody>
      </p:sp>
    </p:spTree>
    <p:extLst>
      <p:ext uri="{BB962C8B-B14F-4D97-AF65-F5344CB8AC3E}">
        <p14:creationId xmlns:p14="http://schemas.microsoft.com/office/powerpoint/2010/main" val="197309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id="{82B68133-555B-A29E-63AA-48292E141647}"/>
            </a:ext>
          </a:extLst>
        </p:cNvPr>
        <p:cNvGrpSpPr/>
        <p:nvPr/>
      </p:nvGrpSpPr>
      <p:grpSpPr>
        <a:xfrm>
          <a:off x="0" y="0"/>
          <a:ext cx="0" cy="0"/>
          <a:chOff x="0" y="0"/>
          <a:chExt cx="0" cy="0"/>
        </a:xfrm>
      </p:grpSpPr>
      <p:sp>
        <p:nvSpPr>
          <p:cNvPr id="36" name="Freeform 10">
            <a:extLst>
              <a:ext uri="{FF2B5EF4-FFF2-40B4-BE49-F238E27FC236}">
                <a16:creationId xmlns:a16="http://schemas.microsoft.com/office/drawing/2014/main" id="{7D9BE573-3101-50C7-3460-386A1991CEDC}"/>
              </a:ext>
            </a:extLst>
          </p:cNvPr>
          <p:cNvSpPr/>
          <p:nvPr/>
        </p:nvSpPr>
        <p:spPr>
          <a:xfrm rot="8289110">
            <a:off x="10269032" y="4271870"/>
            <a:ext cx="12716270" cy="6635581"/>
          </a:xfrm>
          <a:custGeom>
            <a:avLst/>
            <a:gdLst/>
            <a:ahLst/>
            <a:cxnLst/>
            <a:rect l="l" t="t" r="r" b="b"/>
            <a:pathLst>
              <a:path w="12716270" h="6635581">
                <a:moveTo>
                  <a:pt x="0" y="0"/>
                </a:moveTo>
                <a:lnTo>
                  <a:pt x="12716270" y="0"/>
                </a:lnTo>
                <a:lnTo>
                  <a:pt x="12716270" y="6635581"/>
                </a:lnTo>
                <a:lnTo>
                  <a:pt x="0" y="6635581"/>
                </a:lnTo>
                <a:lnTo>
                  <a:pt x="0" y="0"/>
                </a:lnTo>
                <a:close/>
              </a:path>
            </a:pathLst>
          </a:custGeom>
          <a:blipFill>
            <a:blip r:embed="rId2">
              <a:alphaModFix amt="87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38" name="Freeform 9">
            <a:extLst>
              <a:ext uri="{FF2B5EF4-FFF2-40B4-BE49-F238E27FC236}">
                <a16:creationId xmlns:a16="http://schemas.microsoft.com/office/drawing/2014/main" id="{2C1CFF69-EC12-0CB0-D34A-45E33CFFC7CC}"/>
              </a:ext>
            </a:extLst>
          </p:cNvPr>
          <p:cNvSpPr/>
          <p:nvPr/>
        </p:nvSpPr>
        <p:spPr>
          <a:xfrm rot="6306459" flipH="1" flipV="1">
            <a:off x="12251202" y="3280798"/>
            <a:ext cx="12716270" cy="6635581"/>
          </a:xfrm>
          <a:custGeom>
            <a:avLst/>
            <a:gdLst/>
            <a:ahLst/>
            <a:cxnLst/>
            <a:rect l="l" t="t" r="r" b="b"/>
            <a:pathLst>
              <a:path w="12716270" h="6635581">
                <a:moveTo>
                  <a:pt x="12716270" y="6635581"/>
                </a:moveTo>
                <a:lnTo>
                  <a:pt x="0" y="6635581"/>
                </a:lnTo>
                <a:lnTo>
                  <a:pt x="0" y="0"/>
                </a:lnTo>
                <a:lnTo>
                  <a:pt x="12716270" y="0"/>
                </a:lnTo>
                <a:lnTo>
                  <a:pt x="12716270" y="6635581"/>
                </a:lnTo>
                <a:close/>
              </a:path>
            </a:pathLst>
          </a:custGeom>
          <a:blipFill>
            <a:blip r:embed="rId2">
              <a:alphaModFix amt="87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35" name="Picture 34" descr="A blue logo with a black background&#10;&#10;AI-generated content may be incorrect.">
            <a:extLst>
              <a:ext uri="{FF2B5EF4-FFF2-40B4-BE49-F238E27FC236}">
                <a16:creationId xmlns:a16="http://schemas.microsoft.com/office/drawing/2014/main" id="{656C469A-3323-5253-0EFD-B65ACFF4FF4A}"/>
              </a:ext>
            </a:extLst>
          </p:cNvPr>
          <p:cNvPicPr>
            <a:picLocks noChangeAspect="1"/>
          </p:cNvPicPr>
          <p:nvPr/>
        </p:nvPicPr>
        <p:blipFill>
          <a:blip r:embed="rId4" cstate="print">
            <a:alphaModFix amt="5000"/>
            <a:extLst>
              <a:ext uri="{BEBA8EAE-BF5A-486C-A8C5-ECC9F3942E4B}">
                <a14:imgProps xmlns:a14="http://schemas.microsoft.com/office/drawing/2010/main">
                  <a14:imgLayer r:embed="rId5">
                    <a14:imgEffect>
                      <a14:saturation sat="200000"/>
                    </a14:imgEffect>
                  </a14:imgLayer>
                </a14:imgProps>
              </a:ext>
              <a:ext uri="{28A0092B-C50C-407E-A947-70E740481C1C}">
                <a14:useLocalDpi xmlns:a14="http://schemas.microsoft.com/office/drawing/2010/main" val="0"/>
              </a:ext>
            </a:extLst>
          </a:blip>
          <a:stretch>
            <a:fillRect/>
          </a:stretch>
        </p:blipFill>
        <p:spPr>
          <a:xfrm>
            <a:off x="4784837" y="1623476"/>
            <a:ext cx="8718326" cy="7040047"/>
          </a:xfrm>
          <a:prstGeom prst="rect">
            <a:avLst/>
          </a:prstGeom>
        </p:spPr>
      </p:pic>
      <p:grpSp>
        <p:nvGrpSpPr>
          <p:cNvPr id="4" name="Group 4">
            <a:extLst>
              <a:ext uri="{FF2B5EF4-FFF2-40B4-BE49-F238E27FC236}">
                <a16:creationId xmlns:a16="http://schemas.microsoft.com/office/drawing/2014/main" id="{0DEAD7E3-6CFF-F777-5E94-E84E20C353A1}"/>
              </a:ext>
            </a:extLst>
          </p:cNvPr>
          <p:cNvGrpSpPr/>
          <p:nvPr/>
        </p:nvGrpSpPr>
        <p:grpSpPr>
          <a:xfrm>
            <a:off x="19364553" y="7212126"/>
            <a:ext cx="7009358" cy="1398154"/>
            <a:chOff x="0" y="0"/>
            <a:chExt cx="9345810" cy="1864205"/>
          </a:xfrm>
        </p:grpSpPr>
        <p:grpSp>
          <p:nvGrpSpPr>
            <p:cNvPr id="5" name="Group 5">
              <a:extLst>
                <a:ext uri="{FF2B5EF4-FFF2-40B4-BE49-F238E27FC236}">
                  <a16:creationId xmlns:a16="http://schemas.microsoft.com/office/drawing/2014/main" id="{A7D712FF-D9F3-3D53-712F-E335F82D6A7C}"/>
                </a:ext>
              </a:extLst>
            </p:cNvPr>
            <p:cNvGrpSpPr/>
            <p:nvPr/>
          </p:nvGrpSpPr>
          <p:grpSpPr>
            <a:xfrm>
              <a:off x="0" y="0"/>
              <a:ext cx="9345810" cy="1546271"/>
              <a:chOff x="0" y="0"/>
              <a:chExt cx="1250766" cy="206940"/>
            </a:xfrm>
          </p:grpSpPr>
          <p:sp>
            <p:nvSpPr>
              <p:cNvPr id="6" name="Freeform 6">
                <a:extLst>
                  <a:ext uri="{FF2B5EF4-FFF2-40B4-BE49-F238E27FC236}">
                    <a16:creationId xmlns:a16="http://schemas.microsoft.com/office/drawing/2014/main" id="{FE5B4DFE-0371-707B-2D98-78907512B202}"/>
                  </a:ext>
                </a:extLst>
              </p:cNvPr>
              <p:cNvSpPr/>
              <p:nvPr/>
            </p:nvSpPr>
            <p:spPr>
              <a:xfrm>
                <a:off x="18844" y="0"/>
                <a:ext cx="1213078" cy="206940"/>
              </a:xfrm>
              <a:custGeom>
                <a:avLst/>
                <a:gdLst/>
                <a:ahLst/>
                <a:cxnLst/>
                <a:rect l="l" t="t" r="r" b="b"/>
                <a:pathLst>
                  <a:path w="1213078" h="206940">
                    <a:moveTo>
                      <a:pt x="218760" y="0"/>
                    </a:moveTo>
                    <a:lnTo>
                      <a:pt x="1197518" y="0"/>
                    </a:lnTo>
                    <a:cubicBezTo>
                      <a:pt x="1203332" y="0"/>
                      <a:pt x="1208579" y="3488"/>
                      <a:pt x="1210829" y="8850"/>
                    </a:cubicBezTo>
                    <a:cubicBezTo>
                      <a:pt x="1213078" y="14212"/>
                      <a:pt x="1211891" y="20399"/>
                      <a:pt x="1207817" y="24548"/>
                    </a:cubicBezTo>
                    <a:lnTo>
                      <a:pt x="1052827" y="182392"/>
                    </a:lnTo>
                    <a:cubicBezTo>
                      <a:pt x="1037408" y="198094"/>
                      <a:pt x="1016325" y="206940"/>
                      <a:pt x="994318" y="206940"/>
                    </a:cubicBezTo>
                    <a:lnTo>
                      <a:pt x="15560" y="206940"/>
                    </a:lnTo>
                    <a:cubicBezTo>
                      <a:pt x="9746" y="206940"/>
                      <a:pt x="4499" y="203452"/>
                      <a:pt x="2249" y="198090"/>
                    </a:cubicBezTo>
                    <a:cubicBezTo>
                      <a:pt x="0" y="192728"/>
                      <a:pt x="1187" y="186541"/>
                      <a:pt x="5261" y="182392"/>
                    </a:cubicBezTo>
                    <a:lnTo>
                      <a:pt x="160251" y="24548"/>
                    </a:lnTo>
                    <a:cubicBezTo>
                      <a:pt x="175670" y="8846"/>
                      <a:pt x="196753" y="0"/>
                      <a:pt x="218760" y="0"/>
                    </a:cubicBezTo>
                    <a:close/>
                  </a:path>
                </a:pathLst>
              </a:custGeom>
              <a:solidFill>
                <a:srgbClr val="3275C5"/>
              </a:solidFill>
            </p:spPr>
            <p:txBody>
              <a:bodyPr/>
              <a:lstStyle/>
              <a:p>
                <a:endParaRPr lang="en-US"/>
              </a:p>
            </p:txBody>
          </p:sp>
          <p:sp>
            <p:nvSpPr>
              <p:cNvPr id="7" name="TextBox 7">
                <a:extLst>
                  <a:ext uri="{FF2B5EF4-FFF2-40B4-BE49-F238E27FC236}">
                    <a16:creationId xmlns:a16="http://schemas.microsoft.com/office/drawing/2014/main" id="{1C18B964-33A9-36CD-CAF4-999966A7C9AE}"/>
                  </a:ext>
                </a:extLst>
              </p:cNvPr>
              <p:cNvSpPr txBox="1"/>
              <p:nvPr/>
            </p:nvSpPr>
            <p:spPr>
              <a:xfrm>
                <a:off x="101600" y="19050"/>
                <a:ext cx="1047566" cy="187890"/>
              </a:xfrm>
              <a:prstGeom prst="rect">
                <a:avLst/>
              </a:prstGeom>
            </p:spPr>
            <p:txBody>
              <a:bodyPr lIns="50800" tIns="50800" rIns="50800" bIns="50800" rtlCol="0" anchor="ctr"/>
              <a:lstStyle/>
              <a:p>
                <a:pPr algn="ctr">
                  <a:lnSpc>
                    <a:spcPts val="1993"/>
                  </a:lnSpc>
                </a:pPr>
                <a:endParaRPr/>
              </a:p>
            </p:txBody>
          </p:sp>
        </p:grpSp>
        <p:grpSp>
          <p:nvGrpSpPr>
            <p:cNvPr id="8" name="Group 8">
              <a:extLst>
                <a:ext uri="{FF2B5EF4-FFF2-40B4-BE49-F238E27FC236}">
                  <a16:creationId xmlns:a16="http://schemas.microsoft.com/office/drawing/2014/main" id="{F0EF36C2-CAE1-D1D4-A91C-3302BA7F61D8}"/>
                </a:ext>
              </a:extLst>
            </p:cNvPr>
            <p:cNvGrpSpPr/>
            <p:nvPr/>
          </p:nvGrpSpPr>
          <p:grpSpPr>
            <a:xfrm>
              <a:off x="4451974" y="1170495"/>
              <a:ext cx="4192850" cy="693710"/>
              <a:chOff x="0" y="0"/>
              <a:chExt cx="1250766" cy="206940"/>
            </a:xfrm>
          </p:grpSpPr>
          <p:sp>
            <p:nvSpPr>
              <p:cNvPr id="9" name="Freeform 9">
                <a:extLst>
                  <a:ext uri="{FF2B5EF4-FFF2-40B4-BE49-F238E27FC236}">
                    <a16:creationId xmlns:a16="http://schemas.microsoft.com/office/drawing/2014/main" id="{F38D706D-2D47-D8AC-E92F-E8D62716358D}"/>
                  </a:ext>
                </a:extLst>
              </p:cNvPr>
              <p:cNvSpPr/>
              <p:nvPr/>
            </p:nvSpPr>
            <p:spPr>
              <a:xfrm>
                <a:off x="22107" y="0"/>
                <a:ext cx="1206553" cy="206940"/>
              </a:xfrm>
              <a:custGeom>
                <a:avLst/>
                <a:gdLst/>
                <a:ahLst/>
                <a:cxnLst/>
                <a:rect l="l" t="t" r="r" b="b"/>
                <a:pathLst>
                  <a:path w="1206553" h="206940">
                    <a:moveTo>
                      <a:pt x="221454" y="0"/>
                    </a:moveTo>
                    <a:lnTo>
                      <a:pt x="1188298" y="0"/>
                    </a:lnTo>
                    <a:cubicBezTo>
                      <a:pt x="1195119" y="0"/>
                      <a:pt x="1201274" y="4093"/>
                      <a:pt x="1203913" y="10382"/>
                    </a:cubicBezTo>
                    <a:cubicBezTo>
                      <a:pt x="1206552" y="16672"/>
                      <a:pt x="1205160" y="23932"/>
                      <a:pt x="1200381" y="28799"/>
                    </a:cubicBezTo>
                    <a:lnTo>
                      <a:pt x="1053737" y="178141"/>
                    </a:lnTo>
                    <a:cubicBezTo>
                      <a:pt x="1035649" y="196563"/>
                      <a:pt x="1010915" y="206940"/>
                      <a:pt x="985098" y="206940"/>
                    </a:cubicBezTo>
                    <a:lnTo>
                      <a:pt x="18254" y="206940"/>
                    </a:lnTo>
                    <a:cubicBezTo>
                      <a:pt x="11433" y="206940"/>
                      <a:pt x="5278" y="202848"/>
                      <a:pt x="2639" y="196558"/>
                    </a:cubicBezTo>
                    <a:cubicBezTo>
                      <a:pt x="0" y="190268"/>
                      <a:pt x="1392" y="183008"/>
                      <a:pt x="6171" y="178141"/>
                    </a:cubicBezTo>
                    <a:lnTo>
                      <a:pt x="152815" y="28799"/>
                    </a:lnTo>
                    <a:cubicBezTo>
                      <a:pt x="170903" y="10377"/>
                      <a:pt x="195637" y="0"/>
                      <a:pt x="221454" y="0"/>
                    </a:cubicBezTo>
                    <a:close/>
                  </a:path>
                </a:pathLst>
              </a:custGeom>
              <a:solidFill>
                <a:srgbClr val="64CAF4"/>
              </a:solidFill>
            </p:spPr>
            <p:txBody>
              <a:bodyPr/>
              <a:lstStyle/>
              <a:p>
                <a:endParaRPr lang="en-US"/>
              </a:p>
            </p:txBody>
          </p:sp>
          <p:sp>
            <p:nvSpPr>
              <p:cNvPr id="10" name="TextBox 10">
                <a:extLst>
                  <a:ext uri="{FF2B5EF4-FFF2-40B4-BE49-F238E27FC236}">
                    <a16:creationId xmlns:a16="http://schemas.microsoft.com/office/drawing/2014/main" id="{B72879CA-7343-B6D0-E8C0-86706B87ADF9}"/>
                  </a:ext>
                </a:extLst>
              </p:cNvPr>
              <p:cNvSpPr txBox="1"/>
              <p:nvPr/>
            </p:nvSpPr>
            <p:spPr>
              <a:xfrm>
                <a:off x="101600" y="19050"/>
                <a:ext cx="1047566" cy="187890"/>
              </a:xfrm>
              <a:prstGeom prst="rect">
                <a:avLst/>
              </a:prstGeom>
            </p:spPr>
            <p:txBody>
              <a:bodyPr lIns="50800" tIns="50800" rIns="50800" bIns="50800" rtlCol="0" anchor="ctr"/>
              <a:lstStyle/>
              <a:p>
                <a:pPr algn="ctr">
                  <a:lnSpc>
                    <a:spcPts val="1993"/>
                  </a:lnSpc>
                </a:pPr>
                <a:endParaRPr/>
              </a:p>
            </p:txBody>
          </p:sp>
        </p:grpSp>
      </p:grpSp>
      <p:sp>
        <p:nvSpPr>
          <p:cNvPr id="16" name="Freeform 16">
            <a:extLst>
              <a:ext uri="{FF2B5EF4-FFF2-40B4-BE49-F238E27FC236}">
                <a16:creationId xmlns:a16="http://schemas.microsoft.com/office/drawing/2014/main" id="{000C631E-39BB-66EC-B1A1-224F58E68D83}"/>
              </a:ext>
            </a:extLst>
          </p:cNvPr>
          <p:cNvSpPr/>
          <p:nvPr/>
        </p:nvSpPr>
        <p:spPr>
          <a:xfrm>
            <a:off x="19334073" y="2347222"/>
            <a:ext cx="523227" cy="523227"/>
          </a:xfrm>
          <a:custGeom>
            <a:avLst/>
            <a:gdLst/>
            <a:ahLst/>
            <a:cxnLst/>
            <a:rect l="l" t="t" r="r" b="b"/>
            <a:pathLst>
              <a:path w="523227" h="523227">
                <a:moveTo>
                  <a:pt x="0" y="0"/>
                </a:moveTo>
                <a:lnTo>
                  <a:pt x="523227" y="0"/>
                </a:lnTo>
                <a:lnTo>
                  <a:pt x="523227" y="523227"/>
                </a:lnTo>
                <a:lnTo>
                  <a:pt x="0" y="5232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TextBox 17">
            <a:extLst>
              <a:ext uri="{FF2B5EF4-FFF2-40B4-BE49-F238E27FC236}">
                <a16:creationId xmlns:a16="http://schemas.microsoft.com/office/drawing/2014/main" id="{567F7029-8909-A186-977D-F8CA3EFEF34D}"/>
              </a:ext>
            </a:extLst>
          </p:cNvPr>
          <p:cNvSpPr txBox="1"/>
          <p:nvPr/>
        </p:nvSpPr>
        <p:spPr>
          <a:xfrm>
            <a:off x="19202400" y="3009900"/>
            <a:ext cx="7004506" cy="1377949"/>
          </a:xfrm>
          <a:prstGeom prst="rect">
            <a:avLst/>
          </a:prstGeom>
        </p:spPr>
        <p:txBody>
          <a:bodyPr lIns="0" tIns="0" rIns="0" bIns="0" rtlCol="0" anchor="t">
            <a:spAutoFit/>
          </a:bodyPr>
          <a:lstStyle/>
          <a:p>
            <a:pPr algn="l">
              <a:lnSpc>
                <a:spcPts val="11200"/>
              </a:lnSpc>
            </a:pPr>
            <a:r>
              <a:rPr lang="en-US" sz="8000" b="1">
                <a:solidFill>
                  <a:srgbClr val="3275C5"/>
                </a:solidFill>
                <a:latin typeface="Source Sans Pro Bold"/>
                <a:ea typeface="Source Sans Pro Bold"/>
                <a:cs typeface="Source Sans Pro Bold"/>
                <a:sym typeface="Source Sans Pro Bold"/>
              </a:rPr>
              <a:t>BUSINESS</a:t>
            </a:r>
          </a:p>
        </p:txBody>
      </p:sp>
      <p:sp>
        <p:nvSpPr>
          <p:cNvPr id="18" name="TextBox 18">
            <a:extLst>
              <a:ext uri="{FF2B5EF4-FFF2-40B4-BE49-F238E27FC236}">
                <a16:creationId xmlns:a16="http://schemas.microsoft.com/office/drawing/2014/main" id="{6C4D64F6-694B-5BCB-9652-F528C5BEA773}"/>
              </a:ext>
            </a:extLst>
          </p:cNvPr>
          <p:cNvSpPr txBox="1"/>
          <p:nvPr/>
        </p:nvSpPr>
        <p:spPr>
          <a:xfrm>
            <a:off x="19202648" y="3946131"/>
            <a:ext cx="8796517" cy="2057400"/>
          </a:xfrm>
          <a:prstGeom prst="rect">
            <a:avLst/>
          </a:prstGeom>
        </p:spPr>
        <p:txBody>
          <a:bodyPr lIns="0" tIns="0" rIns="0" bIns="0" rtlCol="0" anchor="t">
            <a:spAutoFit/>
          </a:bodyPr>
          <a:lstStyle/>
          <a:p>
            <a:pPr algn="l">
              <a:lnSpc>
                <a:spcPts val="16799"/>
              </a:lnSpc>
            </a:pPr>
            <a:r>
              <a:rPr lang="en-US" sz="11999" b="1" spc="47" dirty="0">
                <a:solidFill>
                  <a:srgbClr val="56AAF0"/>
                </a:solidFill>
                <a:latin typeface="Dynamo Medium"/>
                <a:ea typeface="Dynamo Medium"/>
                <a:cs typeface="Dynamo Medium"/>
                <a:sym typeface="Dynamo Medium"/>
              </a:rPr>
              <a:t>PROPOSAL</a:t>
            </a:r>
          </a:p>
        </p:txBody>
      </p:sp>
      <p:sp>
        <p:nvSpPr>
          <p:cNvPr id="19" name="TextBox 19">
            <a:extLst>
              <a:ext uri="{FF2B5EF4-FFF2-40B4-BE49-F238E27FC236}">
                <a16:creationId xmlns:a16="http://schemas.microsoft.com/office/drawing/2014/main" id="{EE6BBE71-53A0-D030-318A-AC1E8BEB9689}"/>
              </a:ext>
            </a:extLst>
          </p:cNvPr>
          <p:cNvSpPr txBox="1"/>
          <p:nvPr/>
        </p:nvSpPr>
        <p:spPr>
          <a:xfrm>
            <a:off x="19970031" y="2375797"/>
            <a:ext cx="2399835" cy="494652"/>
          </a:xfrm>
          <a:prstGeom prst="rect">
            <a:avLst/>
          </a:prstGeom>
        </p:spPr>
        <p:txBody>
          <a:bodyPr lIns="0" tIns="0" rIns="0" bIns="0" rtlCol="0" anchor="t">
            <a:spAutoFit/>
          </a:bodyPr>
          <a:lstStyle/>
          <a:p>
            <a:pPr algn="l">
              <a:lnSpc>
                <a:spcPts val="3895"/>
              </a:lnSpc>
            </a:pPr>
            <a:r>
              <a:rPr lang="en-US" sz="3447" b="1">
                <a:solidFill>
                  <a:srgbClr val="64CAF4"/>
                </a:solidFill>
                <a:latin typeface="Source Sans Pro Bold"/>
                <a:ea typeface="Source Sans Pro Bold"/>
                <a:cs typeface="Source Sans Pro Bold"/>
                <a:sym typeface="Source Sans Pro Bold"/>
              </a:rPr>
              <a:t>WARDIERE</a:t>
            </a:r>
          </a:p>
        </p:txBody>
      </p:sp>
      <p:sp>
        <p:nvSpPr>
          <p:cNvPr id="20" name="TextBox 20">
            <a:extLst>
              <a:ext uri="{FF2B5EF4-FFF2-40B4-BE49-F238E27FC236}">
                <a16:creationId xmlns:a16="http://schemas.microsoft.com/office/drawing/2014/main" id="{2A62DDA8-4E69-30EB-2B1B-7ADCC40ECB1B}"/>
              </a:ext>
            </a:extLst>
          </p:cNvPr>
          <p:cNvSpPr txBox="1"/>
          <p:nvPr/>
        </p:nvSpPr>
        <p:spPr>
          <a:xfrm>
            <a:off x="20753087" y="6574653"/>
            <a:ext cx="2752431" cy="436245"/>
          </a:xfrm>
          <a:prstGeom prst="rect">
            <a:avLst/>
          </a:prstGeom>
        </p:spPr>
        <p:txBody>
          <a:bodyPr lIns="0" tIns="0" rIns="0" bIns="0" rtlCol="0" anchor="t">
            <a:spAutoFit/>
          </a:bodyPr>
          <a:lstStyle/>
          <a:p>
            <a:pPr algn="l">
              <a:lnSpc>
                <a:spcPts val="3390"/>
              </a:lnSpc>
            </a:pPr>
            <a:r>
              <a:rPr lang="en-US" sz="3000">
                <a:solidFill>
                  <a:srgbClr val="64CAF4"/>
                </a:solidFill>
                <a:latin typeface="Dynamo Medium"/>
                <a:ea typeface="Dynamo Medium"/>
                <a:cs typeface="Dynamo Medium"/>
                <a:sym typeface="Dynamo Medium"/>
              </a:rPr>
              <a:t>Presented by:</a:t>
            </a:r>
          </a:p>
        </p:txBody>
      </p:sp>
      <p:sp>
        <p:nvSpPr>
          <p:cNvPr id="21" name="TextBox 21">
            <a:extLst>
              <a:ext uri="{FF2B5EF4-FFF2-40B4-BE49-F238E27FC236}">
                <a16:creationId xmlns:a16="http://schemas.microsoft.com/office/drawing/2014/main" id="{0C9CDB8E-DE64-525A-C599-9B69B7869528}"/>
              </a:ext>
            </a:extLst>
          </p:cNvPr>
          <p:cNvSpPr txBox="1"/>
          <p:nvPr/>
        </p:nvSpPr>
        <p:spPr>
          <a:xfrm>
            <a:off x="20753087" y="7399246"/>
            <a:ext cx="4622964" cy="720725"/>
          </a:xfrm>
          <a:prstGeom prst="rect">
            <a:avLst/>
          </a:prstGeom>
        </p:spPr>
        <p:txBody>
          <a:bodyPr lIns="0" tIns="0" rIns="0" bIns="0" rtlCol="0" anchor="t">
            <a:spAutoFit/>
          </a:bodyPr>
          <a:lstStyle/>
          <a:p>
            <a:pPr algn="l">
              <a:lnSpc>
                <a:spcPts val="5650"/>
              </a:lnSpc>
            </a:pPr>
            <a:r>
              <a:rPr lang="en-US" sz="5000" b="1">
                <a:solidFill>
                  <a:srgbClr val="FCFEFF"/>
                </a:solidFill>
                <a:latin typeface="Source Sans Pro Bold"/>
                <a:ea typeface="Source Sans Pro Bold"/>
                <a:cs typeface="Source Sans Pro Bold"/>
                <a:sym typeface="Source Sans Pro Bold"/>
              </a:rPr>
              <a:t>Aaroon Loeb</a:t>
            </a:r>
          </a:p>
        </p:txBody>
      </p:sp>
      <p:sp>
        <p:nvSpPr>
          <p:cNvPr id="22" name="Freeform 22">
            <a:extLst>
              <a:ext uri="{FF2B5EF4-FFF2-40B4-BE49-F238E27FC236}">
                <a16:creationId xmlns:a16="http://schemas.microsoft.com/office/drawing/2014/main" id="{0121A20E-128F-B2C1-6A03-0D8BBA21856B}"/>
              </a:ext>
            </a:extLst>
          </p:cNvPr>
          <p:cNvSpPr/>
          <p:nvPr/>
        </p:nvSpPr>
        <p:spPr>
          <a:xfrm rot="5808836">
            <a:off x="-6914419" y="655315"/>
            <a:ext cx="12716270" cy="6635581"/>
          </a:xfrm>
          <a:custGeom>
            <a:avLst/>
            <a:gdLst/>
            <a:ahLst/>
            <a:cxnLst/>
            <a:rect l="l" t="t" r="r" b="b"/>
            <a:pathLst>
              <a:path w="12716270" h="6635581">
                <a:moveTo>
                  <a:pt x="0" y="0"/>
                </a:moveTo>
                <a:lnTo>
                  <a:pt x="12716270" y="0"/>
                </a:lnTo>
                <a:lnTo>
                  <a:pt x="12716270" y="6635580"/>
                </a:lnTo>
                <a:lnTo>
                  <a:pt x="0" y="6635580"/>
                </a:lnTo>
                <a:lnTo>
                  <a:pt x="0" y="0"/>
                </a:lnTo>
                <a:close/>
              </a:path>
            </a:pathLst>
          </a:custGeom>
          <a:blipFill>
            <a:blip r:embed="rId8">
              <a:alphaModFix amt="87000"/>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
        <p:nvSpPr>
          <p:cNvPr id="23" name="Freeform 23">
            <a:extLst>
              <a:ext uri="{FF2B5EF4-FFF2-40B4-BE49-F238E27FC236}">
                <a16:creationId xmlns:a16="http://schemas.microsoft.com/office/drawing/2014/main" id="{D5503E49-A24F-6CC4-E8F5-6B45CBCF7AC7}"/>
              </a:ext>
            </a:extLst>
          </p:cNvPr>
          <p:cNvSpPr/>
          <p:nvPr/>
        </p:nvSpPr>
        <p:spPr>
          <a:xfrm rot="8289110" flipH="1" flipV="1">
            <a:off x="-5329435" y="255850"/>
            <a:ext cx="12716270" cy="6635581"/>
          </a:xfrm>
          <a:custGeom>
            <a:avLst/>
            <a:gdLst/>
            <a:ahLst/>
            <a:cxnLst/>
            <a:rect l="l" t="t" r="r" b="b"/>
            <a:pathLst>
              <a:path w="12716270" h="6635581">
                <a:moveTo>
                  <a:pt x="12716270" y="6635581"/>
                </a:moveTo>
                <a:lnTo>
                  <a:pt x="0" y="6635581"/>
                </a:lnTo>
                <a:lnTo>
                  <a:pt x="0" y="0"/>
                </a:lnTo>
                <a:lnTo>
                  <a:pt x="12716270" y="0"/>
                </a:lnTo>
                <a:lnTo>
                  <a:pt x="12716270" y="6635581"/>
                </a:lnTo>
                <a:close/>
              </a:path>
            </a:pathLst>
          </a:custGeom>
          <a:blipFill>
            <a:blip r:embed="rId2">
              <a:alphaModFix amt="87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24" name="Picture 23" descr="A black background with blue text&#10;&#10;AI-generated content may be incorrect.">
            <a:extLst>
              <a:ext uri="{FF2B5EF4-FFF2-40B4-BE49-F238E27FC236}">
                <a16:creationId xmlns:a16="http://schemas.microsoft.com/office/drawing/2014/main" id="{E9BBF53E-7A03-8D86-FE66-FE975A033D5C}"/>
              </a:ext>
            </a:extLst>
          </p:cNvPr>
          <p:cNvPicPr>
            <a:picLocks noChangeAspect="1"/>
          </p:cNvPicPr>
          <p:nvPr/>
        </p:nvPicPr>
        <p:blipFill>
          <a:blip r:embed="rId10" cstate="print">
            <a:extLst>
              <a:ext uri="{28A0092B-C50C-407E-A947-70E740481C1C}">
                <a14:useLocalDpi xmlns:a14="http://schemas.microsoft.com/office/drawing/2010/main" val="0"/>
              </a:ext>
            </a:extLst>
          </a:blip>
          <a:srcRect t="30827" b="32770"/>
          <a:stretch/>
        </p:blipFill>
        <p:spPr>
          <a:xfrm>
            <a:off x="5754173" y="419620"/>
            <a:ext cx="6779653" cy="1170669"/>
          </a:xfrm>
          <a:prstGeom prst="rect">
            <a:avLst/>
          </a:prstGeom>
        </p:spPr>
      </p:pic>
      <p:sp>
        <p:nvSpPr>
          <p:cNvPr id="2" name="TextBox 3">
            <a:extLst>
              <a:ext uri="{FF2B5EF4-FFF2-40B4-BE49-F238E27FC236}">
                <a16:creationId xmlns:a16="http://schemas.microsoft.com/office/drawing/2014/main" id="{83CBBEA6-897D-2997-5E15-F7684E759B94}"/>
              </a:ext>
            </a:extLst>
          </p:cNvPr>
          <p:cNvSpPr txBox="1"/>
          <p:nvPr/>
        </p:nvSpPr>
        <p:spPr>
          <a:xfrm>
            <a:off x="1876737" y="4711630"/>
            <a:ext cx="14534526" cy="1354217"/>
          </a:xfrm>
          <a:prstGeom prst="rect">
            <a:avLst/>
          </a:prstGeom>
        </p:spPr>
        <p:txBody>
          <a:bodyPr wrap="square" lIns="0" tIns="0" rIns="0" bIns="0" rtlCol="0" anchor="ctr">
            <a:spAutoFit/>
          </a:bodyPr>
          <a:lstStyle/>
          <a:p>
            <a:pPr algn="ctr">
              <a:spcAft>
                <a:spcPts val="1200"/>
              </a:spcAft>
            </a:pPr>
            <a:r>
              <a:rPr lang="en-US" sz="8800" b="1" spc="300" dirty="0">
                <a:solidFill>
                  <a:srgbClr val="002060"/>
                </a:solidFill>
                <a:effectLst>
                  <a:outerShdw blurRad="38100" dist="38100" dir="2700000" algn="tl">
                    <a:srgbClr val="000000">
                      <a:alpha val="43137"/>
                    </a:srgbClr>
                  </a:outerShdw>
                </a:effectLst>
                <a:latin typeface="DC-Monument Extended Ultrabold" pitchFamily="50" charset="0"/>
                <a:ea typeface="HK Gothic Bold"/>
                <a:cs typeface="HK Gothic Bold"/>
                <a:sym typeface="HK Gothic Bold"/>
              </a:rPr>
              <a:t>Q&amp;A</a:t>
            </a:r>
          </a:p>
        </p:txBody>
      </p:sp>
    </p:spTree>
    <p:extLst>
      <p:ext uri="{BB962C8B-B14F-4D97-AF65-F5344CB8AC3E}">
        <p14:creationId xmlns:p14="http://schemas.microsoft.com/office/powerpoint/2010/main" val="34981708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CFEFF"/>
        </a:solidFill>
        <a:effectLst/>
      </p:bgPr>
    </p:bg>
    <p:spTree>
      <p:nvGrpSpPr>
        <p:cNvPr id="1" name=""/>
        <p:cNvGrpSpPr/>
        <p:nvPr/>
      </p:nvGrpSpPr>
      <p:grpSpPr>
        <a:xfrm>
          <a:off x="0" y="0"/>
          <a:ext cx="0" cy="0"/>
          <a:chOff x="0" y="0"/>
          <a:chExt cx="0" cy="0"/>
        </a:xfrm>
      </p:grpSpPr>
      <p:grpSp>
        <p:nvGrpSpPr>
          <p:cNvPr id="2" name="Group 2"/>
          <p:cNvGrpSpPr/>
          <p:nvPr/>
        </p:nvGrpSpPr>
        <p:grpSpPr>
          <a:xfrm>
            <a:off x="2755198" y="2645211"/>
            <a:ext cx="4197072" cy="5530059"/>
            <a:chOff x="0" y="0"/>
            <a:chExt cx="1105402" cy="1456476"/>
          </a:xfrm>
        </p:grpSpPr>
        <p:sp>
          <p:nvSpPr>
            <p:cNvPr id="3" name="Freeform 3"/>
            <p:cNvSpPr/>
            <p:nvPr/>
          </p:nvSpPr>
          <p:spPr>
            <a:xfrm>
              <a:off x="0" y="0"/>
              <a:ext cx="1105402" cy="1456476"/>
            </a:xfrm>
            <a:custGeom>
              <a:avLst/>
              <a:gdLst/>
              <a:ahLst/>
              <a:cxnLst/>
              <a:rect l="l" t="t" r="r" b="b"/>
              <a:pathLst>
                <a:path w="1105402" h="1456476">
                  <a:moveTo>
                    <a:pt x="151257" y="0"/>
                  </a:moveTo>
                  <a:lnTo>
                    <a:pt x="954144" y="0"/>
                  </a:lnTo>
                  <a:cubicBezTo>
                    <a:pt x="994260" y="0"/>
                    <a:pt x="1032733" y="15936"/>
                    <a:pt x="1061099" y="44302"/>
                  </a:cubicBezTo>
                  <a:cubicBezTo>
                    <a:pt x="1089466" y="72668"/>
                    <a:pt x="1105402" y="111141"/>
                    <a:pt x="1105402" y="151257"/>
                  </a:cubicBezTo>
                  <a:lnTo>
                    <a:pt x="1105402" y="1305219"/>
                  </a:lnTo>
                  <a:cubicBezTo>
                    <a:pt x="1105402" y="1388756"/>
                    <a:pt x="1037681" y="1456476"/>
                    <a:pt x="954144" y="1456476"/>
                  </a:cubicBezTo>
                  <a:lnTo>
                    <a:pt x="151257" y="1456476"/>
                  </a:lnTo>
                  <a:cubicBezTo>
                    <a:pt x="111141" y="1456476"/>
                    <a:pt x="72668" y="1440540"/>
                    <a:pt x="44302" y="1412174"/>
                  </a:cubicBezTo>
                  <a:cubicBezTo>
                    <a:pt x="15936" y="1383808"/>
                    <a:pt x="0" y="1345335"/>
                    <a:pt x="0" y="1305219"/>
                  </a:cubicBezTo>
                  <a:lnTo>
                    <a:pt x="0" y="151257"/>
                  </a:lnTo>
                  <a:cubicBezTo>
                    <a:pt x="0" y="111141"/>
                    <a:pt x="15936" y="72668"/>
                    <a:pt x="44302" y="44302"/>
                  </a:cubicBezTo>
                  <a:cubicBezTo>
                    <a:pt x="72668" y="15936"/>
                    <a:pt x="111141" y="0"/>
                    <a:pt x="151257" y="0"/>
                  </a:cubicBezTo>
                  <a:close/>
                </a:path>
              </a:pathLst>
            </a:custGeom>
            <a:gradFill rotWithShape="1">
              <a:gsLst>
                <a:gs pos="0">
                  <a:srgbClr val="777979">
                    <a:alpha val="100000"/>
                  </a:srgbClr>
                </a:gs>
                <a:gs pos="20000">
                  <a:srgbClr val="A6A7A7">
                    <a:alpha val="100000"/>
                  </a:srgbClr>
                </a:gs>
                <a:gs pos="40000">
                  <a:srgbClr val="BEBEBE">
                    <a:alpha val="100000"/>
                  </a:srgbClr>
                </a:gs>
                <a:gs pos="60000">
                  <a:srgbClr val="BEBEBE">
                    <a:alpha val="100000"/>
                  </a:srgbClr>
                </a:gs>
                <a:gs pos="80000">
                  <a:srgbClr val="A6A7A7">
                    <a:alpha val="100000"/>
                  </a:srgbClr>
                </a:gs>
                <a:gs pos="100000">
                  <a:srgbClr val="777979">
                    <a:alpha val="100000"/>
                  </a:srgbClr>
                </a:gs>
              </a:gsLst>
              <a:lin ang="2700000"/>
            </a:gradFill>
            <a:ln cap="rnd">
              <a:noFill/>
              <a:prstDash val="solid"/>
              <a:round/>
            </a:ln>
          </p:spPr>
          <p:txBody>
            <a:bodyPr/>
            <a:lstStyle/>
            <a:p>
              <a:endParaRPr lang="en-US"/>
            </a:p>
          </p:txBody>
        </p:sp>
        <p:sp>
          <p:nvSpPr>
            <p:cNvPr id="4" name="TextBox 4"/>
            <p:cNvSpPr txBox="1"/>
            <p:nvPr/>
          </p:nvSpPr>
          <p:spPr>
            <a:xfrm>
              <a:off x="0" y="19050"/>
              <a:ext cx="1105402" cy="1437426"/>
            </a:xfrm>
            <a:prstGeom prst="rect">
              <a:avLst/>
            </a:prstGeom>
          </p:spPr>
          <p:txBody>
            <a:bodyPr lIns="50800" tIns="50800" rIns="50800" bIns="50800" rtlCol="0" anchor="ctr"/>
            <a:lstStyle/>
            <a:p>
              <a:pPr algn="ctr">
                <a:lnSpc>
                  <a:spcPts val="1993"/>
                </a:lnSpc>
              </a:pPr>
              <a:endParaRPr/>
            </a:p>
          </p:txBody>
        </p:sp>
      </p:grpSp>
      <p:sp>
        <p:nvSpPr>
          <p:cNvPr id="5" name="TextBox 5"/>
          <p:cNvSpPr txBox="1"/>
          <p:nvPr/>
        </p:nvSpPr>
        <p:spPr>
          <a:xfrm>
            <a:off x="7811046" y="3936645"/>
            <a:ext cx="7721756" cy="4238625"/>
          </a:xfrm>
          <a:prstGeom prst="rect">
            <a:avLst/>
          </a:prstGeom>
        </p:spPr>
        <p:txBody>
          <a:bodyPr lIns="0" tIns="0" rIns="0" bIns="0" rtlCol="0" anchor="t">
            <a:spAutoFit/>
          </a:bodyPr>
          <a:lstStyle/>
          <a:p>
            <a:pPr algn="l">
              <a:lnSpc>
                <a:spcPts val="4199"/>
              </a:lnSpc>
            </a:pPr>
            <a:r>
              <a:rPr lang="en-US" sz="2999" spc="11" dirty="0">
                <a:solidFill>
                  <a:srgbClr val="3275C5"/>
                </a:solidFill>
                <a:latin typeface="Source Sans Pro"/>
                <a:ea typeface="Source Sans Pro"/>
                <a:cs typeface="Source Sans Pro"/>
                <a:sym typeface="Source Sans Pro"/>
              </a:rPr>
              <a:t>Lorem ipsum dolor sit </a:t>
            </a:r>
            <a:r>
              <a:rPr lang="en-US" sz="2999" spc="11" dirty="0" err="1">
                <a:solidFill>
                  <a:srgbClr val="3275C5"/>
                </a:solidFill>
                <a:latin typeface="Source Sans Pro"/>
                <a:ea typeface="Source Sans Pro"/>
                <a:cs typeface="Source Sans Pro"/>
                <a:sym typeface="Source Sans Pro"/>
              </a:rPr>
              <a:t>amet</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consectetur</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adipiscing</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elit</a:t>
            </a:r>
            <a:r>
              <a:rPr lang="en-US" sz="2999" spc="11" dirty="0">
                <a:solidFill>
                  <a:srgbClr val="3275C5"/>
                </a:solidFill>
                <a:latin typeface="Source Sans Pro"/>
                <a:ea typeface="Source Sans Pro"/>
                <a:cs typeface="Source Sans Pro"/>
                <a:sym typeface="Source Sans Pro"/>
              </a:rPr>
              <a:t>, sed do </a:t>
            </a:r>
            <a:r>
              <a:rPr lang="en-US" sz="2999" spc="11" dirty="0" err="1">
                <a:solidFill>
                  <a:srgbClr val="3275C5"/>
                </a:solidFill>
                <a:latin typeface="Source Sans Pro"/>
                <a:ea typeface="Source Sans Pro"/>
                <a:cs typeface="Source Sans Pro"/>
                <a:sym typeface="Source Sans Pro"/>
              </a:rPr>
              <a:t>eiusmod</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tempor</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incididunt</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ut</a:t>
            </a:r>
            <a:r>
              <a:rPr lang="en-US" sz="2999" spc="11" dirty="0">
                <a:solidFill>
                  <a:srgbClr val="3275C5"/>
                </a:solidFill>
                <a:latin typeface="Source Sans Pro"/>
                <a:ea typeface="Source Sans Pro"/>
                <a:cs typeface="Source Sans Pro"/>
                <a:sym typeface="Source Sans Pro"/>
              </a:rPr>
              <a:t> labore et dolore magna </a:t>
            </a:r>
            <a:r>
              <a:rPr lang="en-US" sz="2999" spc="11" dirty="0" err="1">
                <a:solidFill>
                  <a:srgbClr val="3275C5"/>
                </a:solidFill>
                <a:latin typeface="Source Sans Pro"/>
                <a:ea typeface="Source Sans Pro"/>
                <a:cs typeface="Source Sans Pro"/>
                <a:sym typeface="Source Sans Pro"/>
              </a:rPr>
              <a:t>aliqua</a:t>
            </a:r>
            <a:r>
              <a:rPr lang="en-US" sz="2999" spc="11" dirty="0">
                <a:solidFill>
                  <a:srgbClr val="3275C5"/>
                </a:solidFill>
                <a:latin typeface="Source Sans Pro"/>
                <a:ea typeface="Source Sans Pro"/>
                <a:cs typeface="Source Sans Pro"/>
                <a:sym typeface="Source Sans Pro"/>
              </a:rPr>
              <a:t>. Ut </a:t>
            </a:r>
            <a:r>
              <a:rPr lang="en-US" sz="2999" spc="11" dirty="0" err="1">
                <a:solidFill>
                  <a:srgbClr val="3275C5"/>
                </a:solidFill>
                <a:latin typeface="Source Sans Pro"/>
                <a:ea typeface="Source Sans Pro"/>
                <a:cs typeface="Source Sans Pro"/>
                <a:sym typeface="Source Sans Pro"/>
              </a:rPr>
              <a:t>enim</a:t>
            </a:r>
            <a:r>
              <a:rPr lang="en-US" sz="2999" spc="11" dirty="0">
                <a:solidFill>
                  <a:srgbClr val="3275C5"/>
                </a:solidFill>
                <a:latin typeface="Source Sans Pro"/>
                <a:ea typeface="Source Sans Pro"/>
                <a:cs typeface="Source Sans Pro"/>
                <a:sym typeface="Source Sans Pro"/>
              </a:rPr>
              <a:t> ad minim </a:t>
            </a:r>
            <a:r>
              <a:rPr lang="en-US" sz="2999" spc="11" dirty="0" err="1">
                <a:solidFill>
                  <a:srgbClr val="3275C5"/>
                </a:solidFill>
                <a:latin typeface="Source Sans Pro"/>
                <a:ea typeface="Source Sans Pro"/>
                <a:cs typeface="Source Sans Pro"/>
                <a:sym typeface="Source Sans Pro"/>
              </a:rPr>
              <a:t>veniam</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quis</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nostrud</a:t>
            </a:r>
            <a:r>
              <a:rPr lang="en-US" sz="2999" spc="11" dirty="0">
                <a:solidFill>
                  <a:srgbClr val="3275C5"/>
                </a:solidFill>
                <a:latin typeface="Source Sans Pro"/>
                <a:ea typeface="Source Sans Pro"/>
                <a:cs typeface="Source Sans Pro"/>
                <a:sym typeface="Source Sans Pro"/>
              </a:rPr>
              <a:t> exercitation </a:t>
            </a:r>
            <a:r>
              <a:rPr lang="en-US" sz="2999" spc="11" dirty="0" err="1">
                <a:solidFill>
                  <a:srgbClr val="3275C5"/>
                </a:solidFill>
                <a:latin typeface="Source Sans Pro"/>
                <a:ea typeface="Source Sans Pro"/>
                <a:cs typeface="Source Sans Pro"/>
                <a:sym typeface="Source Sans Pro"/>
              </a:rPr>
              <a:t>ullamco</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laboris</a:t>
            </a:r>
            <a:r>
              <a:rPr lang="en-US" sz="2999" spc="11" dirty="0">
                <a:solidFill>
                  <a:srgbClr val="3275C5"/>
                </a:solidFill>
                <a:latin typeface="Source Sans Pro"/>
                <a:ea typeface="Source Sans Pro"/>
                <a:cs typeface="Source Sans Pro"/>
                <a:sym typeface="Source Sans Pro"/>
              </a:rPr>
              <a:t> nisi </a:t>
            </a:r>
            <a:r>
              <a:rPr lang="en-US" sz="2999" spc="11" dirty="0" err="1">
                <a:solidFill>
                  <a:srgbClr val="3275C5"/>
                </a:solidFill>
                <a:latin typeface="Source Sans Pro"/>
                <a:ea typeface="Source Sans Pro"/>
                <a:cs typeface="Source Sans Pro"/>
                <a:sym typeface="Source Sans Pro"/>
              </a:rPr>
              <a:t>ut</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aliquip</a:t>
            </a:r>
            <a:r>
              <a:rPr lang="en-US" sz="2999" spc="11" dirty="0">
                <a:solidFill>
                  <a:srgbClr val="3275C5"/>
                </a:solidFill>
                <a:latin typeface="Source Sans Pro"/>
                <a:ea typeface="Source Sans Pro"/>
                <a:cs typeface="Source Sans Pro"/>
                <a:sym typeface="Source Sans Pro"/>
              </a:rPr>
              <a:t> ex </a:t>
            </a:r>
            <a:r>
              <a:rPr lang="en-US" sz="2999" spc="11" dirty="0" err="1">
                <a:solidFill>
                  <a:srgbClr val="3275C5"/>
                </a:solidFill>
                <a:latin typeface="Source Sans Pro"/>
                <a:ea typeface="Source Sans Pro"/>
                <a:cs typeface="Source Sans Pro"/>
                <a:sym typeface="Source Sans Pro"/>
              </a:rPr>
              <a:t>ea</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commodo</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consequat</a:t>
            </a:r>
            <a:r>
              <a:rPr lang="en-US" sz="2999" spc="11" dirty="0">
                <a:solidFill>
                  <a:srgbClr val="3275C5"/>
                </a:solidFill>
                <a:latin typeface="Source Sans Pro"/>
                <a:ea typeface="Source Sans Pro"/>
                <a:cs typeface="Source Sans Pro"/>
                <a:sym typeface="Source Sans Pro"/>
              </a:rPr>
              <a:t>. Duis </a:t>
            </a:r>
            <a:r>
              <a:rPr lang="en-US" sz="2999" spc="11" dirty="0" err="1">
                <a:solidFill>
                  <a:srgbClr val="3275C5"/>
                </a:solidFill>
                <a:latin typeface="Source Sans Pro"/>
                <a:ea typeface="Source Sans Pro"/>
                <a:cs typeface="Source Sans Pro"/>
                <a:sym typeface="Source Sans Pro"/>
              </a:rPr>
              <a:t>aute</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irure</a:t>
            </a:r>
            <a:r>
              <a:rPr lang="en-US" sz="2999" spc="11" dirty="0">
                <a:solidFill>
                  <a:srgbClr val="3275C5"/>
                </a:solidFill>
                <a:latin typeface="Source Sans Pro"/>
                <a:ea typeface="Source Sans Pro"/>
                <a:cs typeface="Source Sans Pro"/>
                <a:sym typeface="Source Sans Pro"/>
              </a:rPr>
              <a:t> dolor in </a:t>
            </a:r>
            <a:r>
              <a:rPr lang="en-US" sz="2999" spc="11" dirty="0" err="1">
                <a:solidFill>
                  <a:srgbClr val="3275C5"/>
                </a:solidFill>
                <a:latin typeface="Source Sans Pro"/>
                <a:ea typeface="Source Sans Pro"/>
                <a:cs typeface="Source Sans Pro"/>
                <a:sym typeface="Source Sans Pro"/>
              </a:rPr>
              <a:t>reprehenderit</a:t>
            </a:r>
            <a:r>
              <a:rPr lang="en-US" sz="2999" spc="11" dirty="0">
                <a:solidFill>
                  <a:srgbClr val="3275C5"/>
                </a:solidFill>
                <a:latin typeface="Source Sans Pro"/>
                <a:ea typeface="Source Sans Pro"/>
                <a:cs typeface="Source Sans Pro"/>
                <a:sym typeface="Source Sans Pro"/>
              </a:rPr>
              <a:t> in </a:t>
            </a:r>
            <a:r>
              <a:rPr lang="en-US" sz="2999" spc="11" dirty="0" err="1">
                <a:solidFill>
                  <a:srgbClr val="3275C5"/>
                </a:solidFill>
                <a:latin typeface="Source Sans Pro"/>
                <a:ea typeface="Source Sans Pro"/>
                <a:cs typeface="Source Sans Pro"/>
                <a:sym typeface="Source Sans Pro"/>
              </a:rPr>
              <a:t>voluptate</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velit</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esse</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cillum</a:t>
            </a:r>
            <a:r>
              <a:rPr lang="en-US" sz="2999" spc="11" dirty="0">
                <a:solidFill>
                  <a:srgbClr val="3275C5"/>
                </a:solidFill>
                <a:latin typeface="Source Sans Pro"/>
                <a:ea typeface="Source Sans Pro"/>
                <a:cs typeface="Source Sans Pro"/>
                <a:sym typeface="Source Sans Pro"/>
              </a:rPr>
              <a:t> dolore </a:t>
            </a:r>
            <a:r>
              <a:rPr lang="en-US" sz="2999" spc="11" dirty="0" err="1">
                <a:solidFill>
                  <a:srgbClr val="3275C5"/>
                </a:solidFill>
                <a:latin typeface="Source Sans Pro"/>
                <a:ea typeface="Source Sans Pro"/>
                <a:cs typeface="Source Sans Pro"/>
                <a:sym typeface="Source Sans Pro"/>
              </a:rPr>
              <a:t>eu</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fugiat</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nulla</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pariatur</a:t>
            </a:r>
            <a:r>
              <a:rPr lang="en-US" sz="2999" spc="11" dirty="0">
                <a:solidFill>
                  <a:srgbClr val="3275C5"/>
                </a:solidFill>
                <a:latin typeface="Source Sans Pro"/>
                <a:ea typeface="Source Sans Pro"/>
                <a:cs typeface="Source Sans Pro"/>
                <a:sym typeface="Source Sans Pro"/>
              </a:rPr>
              <a:t>.</a:t>
            </a:r>
          </a:p>
        </p:txBody>
      </p:sp>
      <p:grpSp>
        <p:nvGrpSpPr>
          <p:cNvPr id="6" name="Group 6"/>
          <p:cNvGrpSpPr/>
          <p:nvPr/>
        </p:nvGrpSpPr>
        <p:grpSpPr>
          <a:xfrm>
            <a:off x="2973344" y="2844279"/>
            <a:ext cx="3728277" cy="5089424"/>
            <a:chOff x="0" y="0"/>
            <a:chExt cx="577608" cy="788485"/>
          </a:xfrm>
        </p:grpSpPr>
        <p:sp>
          <p:nvSpPr>
            <p:cNvPr id="7" name="Freeform 7"/>
            <p:cNvSpPr/>
            <p:nvPr/>
          </p:nvSpPr>
          <p:spPr>
            <a:xfrm flipH="1">
              <a:off x="0" y="0"/>
              <a:ext cx="577608" cy="788485"/>
            </a:xfrm>
            <a:custGeom>
              <a:avLst/>
              <a:gdLst/>
              <a:ahLst/>
              <a:cxnLst/>
              <a:rect l="l" t="t" r="r" b="b"/>
              <a:pathLst>
                <a:path w="577608" h="788485">
                  <a:moveTo>
                    <a:pt x="436403" y="0"/>
                  </a:moveTo>
                  <a:lnTo>
                    <a:pt x="141205" y="0"/>
                  </a:lnTo>
                  <a:cubicBezTo>
                    <a:pt x="63220" y="0"/>
                    <a:pt x="0" y="63220"/>
                    <a:pt x="0" y="141205"/>
                  </a:cubicBezTo>
                  <a:lnTo>
                    <a:pt x="0" y="647280"/>
                  </a:lnTo>
                  <a:cubicBezTo>
                    <a:pt x="0" y="684730"/>
                    <a:pt x="14877" y="720646"/>
                    <a:pt x="41358" y="747127"/>
                  </a:cubicBezTo>
                  <a:cubicBezTo>
                    <a:pt x="67839" y="773608"/>
                    <a:pt x="103755" y="788485"/>
                    <a:pt x="141205" y="788485"/>
                  </a:cubicBezTo>
                  <a:lnTo>
                    <a:pt x="436403" y="788485"/>
                  </a:lnTo>
                  <a:cubicBezTo>
                    <a:pt x="514388" y="788485"/>
                    <a:pt x="577608" y="725265"/>
                    <a:pt x="577608" y="647280"/>
                  </a:cubicBezTo>
                  <a:lnTo>
                    <a:pt x="577608" y="141205"/>
                  </a:lnTo>
                  <a:cubicBezTo>
                    <a:pt x="577608" y="63220"/>
                    <a:pt x="514388" y="0"/>
                    <a:pt x="436403" y="0"/>
                  </a:cubicBezTo>
                  <a:close/>
                </a:path>
              </a:pathLst>
            </a:custGeom>
            <a:blipFill>
              <a:blip r:embed="rId2"/>
              <a:stretch>
                <a:fillRect l="-52445" r="-52445"/>
              </a:stretch>
            </a:blipFill>
            <a:ln w="142875" cap="rnd">
              <a:solidFill>
                <a:srgbClr val="000000"/>
              </a:solidFill>
              <a:prstDash val="solid"/>
              <a:round/>
            </a:ln>
          </p:spPr>
          <p:txBody>
            <a:bodyPr/>
            <a:lstStyle/>
            <a:p>
              <a:endParaRPr lang="en-US"/>
            </a:p>
          </p:txBody>
        </p:sp>
      </p:grpSp>
      <p:sp>
        <p:nvSpPr>
          <p:cNvPr id="8" name="TextBox 8"/>
          <p:cNvSpPr txBox="1"/>
          <p:nvPr/>
        </p:nvSpPr>
        <p:spPr>
          <a:xfrm>
            <a:off x="7811046" y="2194676"/>
            <a:ext cx="7721756" cy="1377949"/>
          </a:xfrm>
          <a:prstGeom prst="rect">
            <a:avLst/>
          </a:prstGeom>
        </p:spPr>
        <p:txBody>
          <a:bodyPr lIns="0" tIns="0" rIns="0" bIns="0" rtlCol="0" anchor="t">
            <a:spAutoFit/>
          </a:bodyPr>
          <a:lstStyle/>
          <a:p>
            <a:pPr algn="l">
              <a:lnSpc>
                <a:spcPts val="11200"/>
              </a:lnSpc>
            </a:pPr>
            <a:r>
              <a:rPr lang="en-US" sz="8000" b="1">
                <a:solidFill>
                  <a:srgbClr val="56AAF0"/>
                </a:solidFill>
                <a:latin typeface="Dynamo Medium"/>
                <a:ea typeface="Dynamo Medium"/>
                <a:cs typeface="Dynamo Medium"/>
                <a:sym typeface="Dynamo Medium"/>
              </a:rPr>
              <a:t>INTRODUCTION</a:t>
            </a:r>
          </a:p>
        </p:txBody>
      </p:sp>
      <p:sp>
        <p:nvSpPr>
          <p:cNvPr id="9" name="Freeform 9"/>
          <p:cNvSpPr/>
          <p:nvPr/>
        </p:nvSpPr>
        <p:spPr>
          <a:xfrm rot="8289110" flipH="1" flipV="1">
            <a:off x="-4932604" y="254834"/>
            <a:ext cx="12716270" cy="6635581"/>
          </a:xfrm>
          <a:custGeom>
            <a:avLst/>
            <a:gdLst/>
            <a:ahLst/>
            <a:cxnLst/>
            <a:rect l="l" t="t" r="r" b="b"/>
            <a:pathLst>
              <a:path w="12716270" h="6635581">
                <a:moveTo>
                  <a:pt x="12716270" y="6635581"/>
                </a:moveTo>
                <a:lnTo>
                  <a:pt x="0" y="6635581"/>
                </a:lnTo>
                <a:lnTo>
                  <a:pt x="0" y="0"/>
                </a:lnTo>
                <a:lnTo>
                  <a:pt x="12716270" y="0"/>
                </a:lnTo>
                <a:lnTo>
                  <a:pt x="12716270" y="6635581"/>
                </a:lnTo>
                <a:close/>
              </a:path>
            </a:pathLst>
          </a:custGeom>
          <a:blipFill>
            <a:blip r:embed="rId3">
              <a:alphaModFix amt="87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10" name="Freeform 10"/>
          <p:cNvSpPr/>
          <p:nvPr/>
        </p:nvSpPr>
        <p:spPr>
          <a:xfrm rot="8289110">
            <a:off x="10504334" y="3395569"/>
            <a:ext cx="12716270" cy="6635581"/>
          </a:xfrm>
          <a:custGeom>
            <a:avLst/>
            <a:gdLst/>
            <a:ahLst/>
            <a:cxnLst/>
            <a:rect l="l" t="t" r="r" b="b"/>
            <a:pathLst>
              <a:path w="12716270" h="6635581">
                <a:moveTo>
                  <a:pt x="0" y="0"/>
                </a:moveTo>
                <a:lnTo>
                  <a:pt x="12716270" y="0"/>
                </a:lnTo>
                <a:lnTo>
                  <a:pt x="12716270" y="6635581"/>
                </a:lnTo>
                <a:lnTo>
                  <a:pt x="0" y="6635581"/>
                </a:lnTo>
                <a:lnTo>
                  <a:pt x="0" y="0"/>
                </a:lnTo>
                <a:close/>
              </a:path>
            </a:pathLst>
          </a:custGeom>
          <a:blipFill>
            <a:blip r:embed="rId3">
              <a:alphaModFix amt="87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8A5BB23-62D3-5A53-C3A6-65A0CFF2D2A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0D7C3B4-9C34-A5BD-AF81-655E8319CA76}"/>
              </a:ext>
            </a:extLst>
          </p:cNvPr>
          <p:cNvSpPr/>
          <p:nvPr/>
        </p:nvSpPr>
        <p:spPr>
          <a:xfrm>
            <a:off x="1736927" y="2961871"/>
            <a:ext cx="6615043" cy="3018865"/>
          </a:xfrm>
          <a:custGeom>
            <a:avLst/>
            <a:gdLst/>
            <a:ahLst/>
            <a:cxnLst/>
            <a:rect l="l" t="t" r="r" b="b"/>
            <a:pathLst>
              <a:path w="6615043" h="3018865">
                <a:moveTo>
                  <a:pt x="0" y="0"/>
                </a:moveTo>
                <a:lnTo>
                  <a:pt x="6615043" y="0"/>
                </a:lnTo>
                <a:lnTo>
                  <a:pt x="6615043" y="3018865"/>
                </a:lnTo>
                <a:lnTo>
                  <a:pt x="0" y="30188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grpSp>
        <p:nvGrpSpPr>
          <p:cNvPr id="3" name="Group 3">
            <a:extLst>
              <a:ext uri="{FF2B5EF4-FFF2-40B4-BE49-F238E27FC236}">
                <a16:creationId xmlns:a16="http://schemas.microsoft.com/office/drawing/2014/main" id="{42E617B4-A62A-93DD-9A6F-F4EDB3C9CC45}"/>
              </a:ext>
            </a:extLst>
          </p:cNvPr>
          <p:cNvGrpSpPr/>
          <p:nvPr/>
        </p:nvGrpSpPr>
        <p:grpSpPr>
          <a:xfrm>
            <a:off x="2415702" y="3545148"/>
            <a:ext cx="2070265" cy="1792757"/>
            <a:chOff x="0" y="0"/>
            <a:chExt cx="4282440" cy="3708400"/>
          </a:xfrm>
        </p:grpSpPr>
        <p:sp>
          <p:nvSpPr>
            <p:cNvPr id="4" name="Freeform 4">
              <a:extLst>
                <a:ext uri="{FF2B5EF4-FFF2-40B4-BE49-F238E27FC236}">
                  <a16:creationId xmlns:a16="http://schemas.microsoft.com/office/drawing/2014/main" id="{942A57A6-BFF6-1BAB-4148-5E53CACE6DA3}"/>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l="-26973" r="-26973"/>
              </a:stretch>
            </a:blipFill>
          </p:spPr>
          <p:txBody>
            <a:bodyPr/>
            <a:lstStyle/>
            <a:p>
              <a:endParaRPr lang="en-US" dirty="0"/>
            </a:p>
          </p:txBody>
        </p:sp>
      </p:grpSp>
      <p:sp>
        <p:nvSpPr>
          <p:cNvPr id="5" name="Freeform 5">
            <a:extLst>
              <a:ext uri="{FF2B5EF4-FFF2-40B4-BE49-F238E27FC236}">
                <a16:creationId xmlns:a16="http://schemas.microsoft.com/office/drawing/2014/main" id="{0E003674-B06C-6F72-8DD2-FD4A22BA4C51}"/>
              </a:ext>
            </a:extLst>
          </p:cNvPr>
          <p:cNvSpPr/>
          <p:nvPr/>
        </p:nvSpPr>
        <p:spPr>
          <a:xfrm>
            <a:off x="9843697" y="2961871"/>
            <a:ext cx="6615043" cy="3018865"/>
          </a:xfrm>
          <a:custGeom>
            <a:avLst/>
            <a:gdLst/>
            <a:ahLst/>
            <a:cxnLst/>
            <a:rect l="l" t="t" r="r" b="b"/>
            <a:pathLst>
              <a:path w="6615043" h="3018865">
                <a:moveTo>
                  <a:pt x="0" y="0"/>
                </a:moveTo>
                <a:lnTo>
                  <a:pt x="6615043" y="0"/>
                </a:lnTo>
                <a:lnTo>
                  <a:pt x="6615043" y="3018865"/>
                </a:lnTo>
                <a:lnTo>
                  <a:pt x="0" y="30188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a:extLst>
              <a:ext uri="{FF2B5EF4-FFF2-40B4-BE49-F238E27FC236}">
                <a16:creationId xmlns:a16="http://schemas.microsoft.com/office/drawing/2014/main" id="{6A881FE7-7E6B-C77B-EF66-5732A879BB07}"/>
              </a:ext>
            </a:extLst>
          </p:cNvPr>
          <p:cNvGrpSpPr/>
          <p:nvPr/>
        </p:nvGrpSpPr>
        <p:grpSpPr>
          <a:xfrm>
            <a:off x="10522472" y="3545148"/>
            <a:ext cx="2070265" cy="1792757"/>
            <a:chOff x="0" y="0"/>
            <a:chExt cx="4282440" cy="3708400"/>
          </a:xfrm>
        </p:grpSpPr>
        <p:sp>
          <p:nvSpPr>
            <p:cNvPr id="7" name="Freeform 7">
              <a:extLst>
                <a:ext uri="{FF2B5EF4-FFF2-40B4-BE49-F238E27FC236}">
                  <a16:creationId xmlns:a16="http://schemas.microsoft.com/office/drawing/2014/main" id="{1136AAC6-5521-F9B0-D946-BF8A06364614}"/>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5"/>
              <a:stretch>
                <a:fillRect l="-14865" r="-14865"/>
              </a:stretch>
            </a:blipFill>
          </p:spPr>
          <p:txBody>
            <a:bodyPr/>
            <a:lstStyle/>
            <a:p>
              <a:endParaRPr lang="en-US"/>
            </a:p>
          </p:txBody>
        </p:sp>
      </p:grpSp>
      <p:sp>
        <p:nvSpPr>
          <p:cNvPr id="8" name="Freeform 8">
            <a:extLst>
              <a:ext uri="{FF2B5EF4-FFF2-40B4-BE49-F238E27FC236}">
                <a16:creationId xmlns:a16="http://schemas.microsoft.com/office/drawing/2014/main" id="{D79CFDCF-3C2E-262F-62FC-010E64109F1C}"/>
              </a:ext>
            </a:extLst>
          </p:cNvPr>
          <p:cNvSpPr/>
          <p:nvPr/>
        </p:nvSpPr>
        <p:spPr>
          <a:xfrm rot="-10800000">
            <a:off x="12592738" y="-611740"/>
            <a:ext cx="5871820" cy="3280879"/>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6">
              <a:alphaModFix amt="69000"/>
            </a:blip>
            <a:stretch>
              <a:fillRect/>
            </a:stretch>
          </a:blipFill>
        </p:spPr>
        <p:txBody>
          <a:bodyPr/>
          <a:lstStyle/>
          <a:p>
            <a:endParaRPr lang="en-US"/>
          </a:p>
        </p:txBody>
      </p:sp>
      <p:sp>
        <p:nvSpPr>
          <p:cNvPr id="9" name="TextBox 9">
            <a:extLst>
              <a:ext uri="{FF2B5EF4-FFF2-40B4-BE49-F238E27FC236}">
                <a16:creationId xmlns:a16="http://schemas.microsoft.com/office/drawing/2014/main" id="{E375151F-A1BE-0D53-641D-25A99032BF1A}"/>
              </a:ext>
            </a:extLst>
          </p:cNvPr>
          <p:cNvSpPr txBox="1"/>
          <p:nvPr/>
        </p:nvSpPr>
        <p:spPr>
          <a:xfrm>
            <a:off x="2732255" y="6028361"/>
            <a:ext cx="5619715" cy="2105025"/>
          </a:xfrm>
          <a:prstGeom prst="rect">
            <a:avLst/>
          </a:prstGeom>
        </p:spPr>
        <p:txBody>
          <a:bodyPr lIns="0" tIns="0" rIns="0" bIns="0" rtlCol="0" anchor="t">
            <a:spAutoFit/>
          </a:bodyPr>
          <a:lstStyle/>
          <a:p>
            <a:pPr algn="l">
              <a:lnSpc>
                <a:spcPts val="4199"/>
              </a:lnSpc>
            </a:pPr>
            <a:r>
              <a:rPr lang="en-US" sz="2999" spc="11" dirty="0">
                <a:solidFill>
                  <a:srgbClr val="3275C5"/>
                </a:solidFill>
                <a:latin typeface="Source Sans Pro"/>
                <a:ea typeface="Source Sans Pro"/>
                <a:cs typeface="Source Sans Pro"/>
                <a:sym typeface="Source Sans Pro"/>
              </a:rPr>
              <a:t>Lorem ipsum dolor sit </a:t>
            </a:r>
            <a:r>
              <a:rPr lang="en-US" sz="2999" spc="11" dirty="0" err="1">
                <a:solidFill>
                  <a:srgbClr val="3275C5"/>
                </a:solidFill>
                <a:latin typeface="Source Sans Pro"/>
                <a:ea typeface="Source Sans Pro"/>
                <a:cs typeface="Source Sans Pro"/>
                <a:sym typeface="Source Sans Pro"/>
              </a:rPr>
              <a:t>amet</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consectetur</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adipiscing</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elit</a:t>
            </a:r>
            <a:r>
              <a:rPr lang="en-US" sz="2999" spc="11" dirty="0">
                <a:solidFill>
                  <a:srgbClr val="3275C5"/>
                </a:solidFill>
                <a:latin typeface="Source Sans Pro"/>
                <a:ea typeface="Source Sans Pro"/>
                <a:cs typeface="Source Sans Pro"/>
                <a:sym typeface="Source Sans Pro"/>
              </a:rPr>
              <a:t>, sed do </a:t>
            </a:r>
            <a:r>
              <a:rPr lang="en-US" sz="2999" spc="11" dirty="0" err="1">
                <a:solidFill>
                  <a:srgbClr val="3275C5"/>
                </a:solidFill>
                <a:latin typeface="Source Sans Pro"/>
                <a:ea typeface="Source Sans Pro"/>
                <a:cs typeface="Source Sans Pro"/>
                <a:sym typeface="Source Sans Pro"/>
              </a:rPr>
              <a:t>eiusmod</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tempor</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incididunt</a:t>
            </a:r>
            <a:r>
              <a:rPr lang="en-US" sz="2999" spc="11" dirty="0">
                <a:solidFill>
                  <a:srgbClr val="3275C5"/>
                </a:solidFill>
                <a:latin typeface="Source Sans Pro"/>
                <a:ea typeface="Source Sans Pro"/>
                <a:cs typeface="Source Sans Pro"/>
                <a:sym typeface="Source Sans Pro"/>
              </a:rPr>
              <a:t> </a:t>
            </a:r>
            <a:r>
              <a:rPr lang="en-US" sz="2999" spc="11" dirty="0" err="1">
                <a:solidFill>
                  <a:srgbClr val="3275C5"/>
                </a:solidFill>
                <a:latin typeface="Source Sans Pro"/>
                <a:ea typeface="Source Sans Pro"/>
                <a:cs typeface="Source Sans Pro"/>
                <a:sym typeface="Source Sans Pro"/>
              </a:rPr>
              <a:t>ut</a:t>
            </a:r>
            <a:r>
              <a:rPr lang="en-US" sz="2999" spc="11" dirty="0">
                <a:solidFill>
                  <a:srgbClr val="3275C5"/>
                </a:solidFill>
                <a:latin typeface="Source Sans Pro"/>
                <a:ea typeface="Source Sans Pro"/>
                <a:cs typeface="Source Sans Pro"/>
                <a:sym typeface="Source Sans Pro"/>
              </a:rPr>
              <a:t> labore et dolore magna </a:t>
            </a:r>
            <a:r>
              <a:rPr lang="en-US" sz="2999" spc="11" dirty="0" err="1">
                <a:solidFill>
                  <a:srgbClr val="3275C5"/>
                </a:solidFill>
                <a:latin typeface="Source Sans Pro"/>
                <a:ea typeface="Source Sans Pro"/>
                <a:cs typeface="Source Sans Pro"/>
                <a:sym typeface="Source Sans Pro"/>
              </a:rPr>
              <a:t>aliqua</a:t>
            </a:r>
            <a:r>
              <a:rPr lang="en-US" sz="2999" spc="11" dirty="0">
                <a:solidFill>
                  <a:srgbClr val="3275C5"/>
                </a:solidFill>
                <a:latin typeface="Source Sans Pro"/>
                <a:ea typeface="Source Sans Pro"/>
                <a:cs typeface="Source Sans Pro"/>
                <a:sym typeface="Source Sans Pro"/>
              </a:rPr>
              <a:t>. </a:t>
            </a:r>
          </a:p>
        </p:txBody>
      </p:sp>
      <p:sp>
        <p:nvSpPr>
          <p:cNvPr id="10" name="Freeform 10">
            <a:extLst>
              <a:ext uri="{FF2B5EF4-FFF2-40B4-BE49-F238E27FC236}">
                <a16:creationId xmlns:a16="http://schemas.microsoft.com/office/drawing/2014/main" id="{783D8F06-1C35-14AF-8616-3C771CBD3F40}"/>
              </a:ext>
            </a:extLst>
          </p:cNvPr>
          <p:cNvSpPr/>
          <p:nvPr/>
        </p:nvSpPr>
        <p:spPr>
          <a:xfrm rot="-10800000" flipH="1" flipV="1">
            <a:off x="-203655" y="7617860"/>
            <a:ext cx="5871820" cy="3280879"/>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6">
              <a:alphaModFix amt="69000"/>
            </a:blip>
            <a:stretch>
              <a:fillRect/>
            </a:stretch>
          </a:blipFill>
        </p:spPr>
        <p:txBody>
          <a:bodyPr/>
          <a:lstStyle/>
          <a:p>
            <a:endParaRPr lang="en-US"/>
          </a:p>
        </p:txBody>
      </p:sp>
      <p:sp>
        <p:nvSpPr>
          <p:cNvPr id="11" name="TextBox 11">
            <a:extLst>
              <a:ext uri="{FF2B5EF4-FFF2-40B4-BE49-F238E27FC236}">
                <a16:creationId xmlns:a16="http://schemas.microsoft.com/office/drawing/2014/main" id="{13CA9284-3C10-B889-A3D6-BFE330D82A16}"/>
              </a:ext>
            </a:extLst>
          </p:cNvPr>
          <p:cNvSpPr txBox="1"/>
          <p:nvPr/>
        </p:nvSpPr>
        <p:spPr>
          <a:xfrm>
            <a:off x="5044448" y="3977591"/>
            <a:ext cx="2707346" cy="873125"/>
          </a:xfrm>
          <a:prstGeom prst="rect">
            <a:avLst/>
          </a:prstGeom>
        </p:spPr>
        <p:txBody>
          <a:bodyPr lIns="0" tIns="0" rIns="0" bIns="0" rtlCol="0" anchor="t">
            <a:spAutoFit/>
          </a:bodyPr>
          <a:lstStyle/>
          <a:p>
            <a:pPr algn="ctr">
              <a:lnSpc>
                <a:spcPts val="7000"/>
              </a:lnSpc>
            </a:pPr>
            <a:r>
              <a:rPr lang="en-US" sz="5000" spc="250">
                <a:solidFill>
                  <a:srgbClr val="FCFEFF"/>
                </a:solidFill>
                <a:latin typeface="Dynamo Medium"/>
                <a:ea typeface="Dynamo Medium"/>
                <a:cs typeface="Dynamo Medium"/>
                <a:sym typeface="Dynamo Medium"/>
              </a:rPr>
              <a:t>VISION</a:t>
            </a:r>
          </a:p>
        </p:txBody>
      </p:sp>
      <p:sp>
        <p:nvSpPr>
          <p:cNvPr id="12" name="TextBox 12">
            <a:extLst>
              <a:ext uri="{FF2B5EF4-FFF2-40B4-BE49-F238E27FC236}">
                <a16:creationId xmlns:a16="http://schemas.microsoft.com/office/drawing/2014/main" id="{8D254B02-48BE-F854-3AAB-95E09CB66A9B}"/>
              </a:ext>
            </a:extLst>
          </p:cNvPr>
          <p:cNvSpPr txBox="1"/>
          <p:nvPr/>
        </p:nvSpPr>
        <p:spPr>
          <a:xfrm>
            <a:off x="13004878" y="3947814"/>
            <a:ext cx="2971665" cy="873125"/>
          </a:xfrm>
          <a:prstGeom prst="rect">
            <a:avLst/>
          </a:prstGeom>
        </p:spPr>
        <p:txBody>
          <a:bodyPr lIns="0" tIns="0" rIns="0" bIns="0" rtlCol="0" anchor="t">
            <a:spAutoFit/>
          </a:bodyPr>
          <a:lstStyle/>
          <a:p>
            <a:pPr algn="ctr">
              <a:lnSpc>
                <a:spcPts val="7000"/>
              </a:lnSpc>
            </a:pPr>
            <a:r>
              <a:rPr lang="en-US" sz="5000" spc="250">
                <a:solidFill>
                  <a:srgbClr val="FCFEFF"/>
                </a:solidFill>
                <a:latin typeface="Dynamo Medium"/>
                <a:ea typeface="Dynamo Medium"/>
                <a:cs typeface="Dynamo Medium"/>
                <a:sym typeface="Dynamo Medium"/>
              </a:rPr>
              <a:t>MISSION</a:t>
            </a:r>
          </a:p>
        </p:txBody>
      </p:sp>
      <p:sp>
        <p:nvSpPr>
          <p:cNvPr id="13" name="TextBox 13">
            <a:extLst>
              <a:ext uri="{FF2B5EF4-FFF2-40B4-BE49-F238E27FC236}">
                <a16:creationId xmlns:a16="http://schemas.microsoft.com/office/drawing/2014/main" id="{7AC1CFAC-834C-8F5A-B8D2-0A75078B1A4D}"/>
              </a:ext>
            </a:extLst>
          </p:cNvPr>
          <p:cNvSpPr txBox="1"/>
          <p:nvPr/>
        </p:nvSpPr>
        <p:spPr>
          <a:xfrm>
            <a:off x="10839024" y="6028361"/>
            <a:ext cx="5619715" cy="2105025"/>
          </a:xfrm>
          <a:prstGeom prst="rect">
            <a:avLst/>
          </a:prstGeom>
        </p:spPr>
        <p:txBody>
          <a:bodyPr lIns="0" tIns="0" rIns="0" bIns="0" rtlCol="0" anchor="t">
            <a:spAutoFit/>
          </a:bodyPr>
          <a:lstStyle/>
          <a:p>
            <a:pPr algn="l">
              <a:lnSpc>
                <a:spcPts val="4199"/>
              </a:lnSpc>
            </a:pPr>
            <a:r>
              <a:rPr lang="en-US" sz="2999" spc="11">
                <a:solidFill>
                  <a:srgbClr val="3275C5"/>
                </a:solidFill>
                <a:latin typeface="Source Sans Pro"/>
                <a:ea typeface="Source Sans Pro"/>
                <a:cs typeface="Source Sans Pro"/>
                <a:sym typeface="Source Sans Pro"/>
              </a:rPr>
              <a:t>Lorem ipsum dolor sit amet, consectetur adipiscing elit, sed do eiusmod tempor incididunt ut labore et dolore magna aliqua. </a:t>
            </a:r>
          </a:p>
        </p:txBody>
      </p:sp>
      <p:sp>
        <p:nvSpPr>
          <p:cNvPr id="14" name="TextBox 14">
            <a:extLst>
              <a:ext uri="{FF2B5EF4-FFF2-40B4-BE49-F238E27FC236}">
                <a16:creationId xmlns:a16="http://schemas.microsoft.com/office/drawing/2014/main" id="{6633C31E-13C5-CE47-8271-3B83538A51E3}"/>
              </a:ext>
            </a:extLst>
          </p:cNvPr>
          <p:cNvSpPr txBox="1"/>
          <p:nvPr/>
        </p:nvSpPr>
        <p:spPr>
          <a:xfrm>
            <a:off x="5283122" y="866775"/>
            <a:ext cx="7721756" cy="1377949"/>
          </a:xfrm>
          <a:prstGeom prst="rect">
            <a:avLst/>
          </a:prstGeom>
        </p:spPr>
        <p:txBody>
          <a:bodyPr lIns="0" tIns="0" rIns="0" bIns="0" rtlCol="0" anchor="t">
            <a:spAutoFit/>
          </a:bodyPr>
          <a:lstStyle/>
          <a:p>
            <a:pPr algn="ctr">
              <a:lnSpc>
                <a:spcPts val="11200"/>
              </a:lnSpc>
            </a:pPr>
            <a:r>
              <a:rPr lang="en-US" sz="8000" dirty="0">
                <a:solidFill>
                  <a:srgbClr val="56AAF0"/>
                </a:solidFill>
                <a:latin typeface="Dynamo Medium"/>
                <a:ea typeface="Dynamo Medium"/>
                <a:cs typeface="Dynamo Medium"/>
                <a:sym typeface="Dynamo Medium"/>
              </a:rPr>
              <a:t>OUR VALUES</a:t>
            </a:r>
          </a:p>
        </p:txBody>
      </p:sp>
    </p:spTree>
    <p:extLst>
      <p:ext uri="{BB962C8B-B14F-4D97-AF65-F5344CB8AC3E}">
        <p14:creationId xmlns:p14="http://schemas.microsoft.com/office/powerpoint/2010/main" val="62275977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flipH="1">
            <a:off x="-1427411" y="3096937"/>
            <a:ext cx="27505786" cy="6212866"/>
          </a:xfrm>
          <a:custGeom>
            <a:avLst/>
            <a:gdLst/>
            <a:ahLst/>
            <a:cxnLst/>
            <a:rect l="l" t="t" r="r" b="b"/>
            <a:pathLst>
              <a:path w="27505786" h="6212866">
                <a:moveTo>
                  <a:pt x="27505786" y="0"/>
                </a:moveTo>
                <a:lnTo>
                  <a:pt x="0" y="0"/>
                </a:lnTo>
                <a:lnTo>
                  <a:pt x="0" y="6212866"/>
                </a:lnTo>
                <a:lnTo>
                  <a:pt x="27505786" y="6212866"/>
                </a:lnTo>
                <a:lnTo>
                  <a:pt x="27505786" y="0"/>
                </a:lnTo>
                <a:close/>
              </a:path>
            </a:pathLst>
          </a:custGeom>
          <a:blipFill>
            <a:blip r:embed="rId2">
              <a:alphaModFix amt="87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grpSp>
        <p:nvGrpSpPr>
          <p:cNvPr id="3" name="Group 3"/>
          <p:cNvGrpSpPr/>
          <p:nvPr/>
        </p:nvGrpSpPr>
        <p:grpSpPr>
          <a:xfrm>
            <a:off x="1172099" y="3086960"/>
            <a:ext cx="4113080" cy="411308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EFF"/>
            </a:solidFill>
          </p:spPr>
          <p:txBody>
            <a:bodyPr/>
            <a:lstStyle/>
            <a:p>
              <a:endParaRPr lang="en-US"/>
            </a:p>
          </p:txBody>
        </p:sp>
        <p:sp>
          <p:nvSpPr>
            <p:cNvPr id="5" name="TextBox 5"/>
            <p:cNvSpPr txBox="1"/>
            <p:nvPr/>
          </p:nvSpPr>
          <p:spPr>
            <a:xfrm>
              <a:off x="76200" y="95250"/>
              <a:ext cx="660400" cy="641350"/>
            </a:xfrm>
            <a:prstGeom prst="rect">
              <a:avLst/>
            </a:prstGeom>
          </p:spPr>
          <p:txBody>
            <a:bodyPr lIns="42222" tIns="42222" rIns="42222" bIns="42222" rtlCol="0" anchor="ctr"/>
            <a:lstStyle/>
            <a:p>
              <a:pPr algn="ctr">
                <a:lnSpc>
                  <a:spcPts val="1993"/>
                </a:lnSpc>
              </a:pPr>
              <a:endParaRPr/>
            </a:p>
          </p:txBody>
        </p:sp>
      </p:grpSp>
      <p:grpSp>
        <p:nvGrpSpPr>
          <p:cNvPr id="6" name="Group 6"/>
          <p:cNvGrpSpPr/>
          <p:nvPr/>
        </p:nvGrpSpPr>
        <p:grpSpPr>
          <a:xfrm>
            <a:off x="1295071" y="3216209"/>
            <a:ext cx="3854598" cy="3854582"/>
            <a:chOff x="0" y="0"/>
            <a:chExt cx="6350000" cy="6349975"/>
          </a:xfrm>
        </p:grpSpPr>
        <p:sp>
          <p:nvSpPr>
            <p:cNvPr id="7" name="Freeform 7"/>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25046" r="-25046"/>
              </a:stretch>
            </a:blipFill>
          </p:spPr>
          <p:txBody>
            <a:bodyPr/>
            <a:lstStyle/>
            <a:p>
              <a:endParaRPr lang="en-US"/>
            </a:p>
          </p:txBody>
        </p:sp>
      </p:grpSp>
      <p:grpSp>
        <p:nvGrpSpPr>
          <p:cNvPr id="8" name="Group 8"/>
          <p:cNvGrpSpPr/>
          <p:nvPr/>
        </p:nvGrpSpPr>
        <p:grpSpPr>
          <a:xfrm>
            <a:off x="7089517" y="3086960"/>
            <a:ext cx="4113080" cy="411308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EFF"/>
            </a:solidFill>
          </p:spPr>
          <p:txBody>
            <a:bodyPr/>
            <a:lstStyle/>
            <a:p>
              <a:endParaRPr lang="en-US"/>
            </a:p>
          </p:txBody>
        </p:sp>
        <p:sp>
          <p:nvSpPr>
            <p:cNvPr id="10" name="TextBox 10"/>
            <p:cNvSpPr txBox="1"/>
            <p:nvPr/>
          </p:nvSpPr>
          <p:spPr>
            <a:xfrm>
              <a:off x="76200" y="95250"/>
              <a:ext cx="660400" cy="641350"/>
            </a:xfrm>
            <a:prstGeom prst="rect">
              <a:avLst/>
            </a:prstGeom>
          </p:spPr>
          <p:txBody>
            <a:bodyPr lIns="42222" tIns="42222" rIns="42222" bIns="42222" rtlCol="0" anchor="ctr"/>
            <a:lstStyle/>
            <a:p>
              <a:pPr algn="ctr">
                <a:lnSpc>
                  <a:spcPts val="1993"/>
                </a:lnSpc>
              </a:pPr>
              <a:endParaRPr/>
            </a:p>
          </p:txBody>
        </p:sp>
      </p:grpSp>
      <p:grpSp>
        <p:nvGrpSpPr>
          <p:cNvPr id="11" name="Group 11"/>
          <p:cNvGrpSpPr/>
          <p:nvPr/>
        </p:nvGrpSpPr>
        <p:grpSpPr>
          <a:xfrm>
            <a:off x="7212489" y="3216209"/>
            <a:ext cx="3854598" cy="3854582"/>
            <a:chOff x="0" y="0"/>
            <a:chExt cx="6350000" cy="6349975"/>
          </a:xfrm>
        </p:grpSpPr>
        <p:sp>
          <p:nvSpPr>
            <p:cNvPr id="12" name="Freeform 12"/>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l="-25046" r="-25046"/>
              </a:stretch>
            </a:blipFill>
          </p:spPr>
          <p:txBody>
            <a:bodyPr/>
            <a:lstStyle/>
            <a:p>
              <a:endParaRPr lang="en-US"/>
            </a:p>
          </p:txBody>
        </p:sp>
      </p:grpSp>
      <p:grpSp>
        <p:nvGrpSpPr>
          <p:cNvPr id="13" name="Group 13"/>
          <p:cNvGrpSpPr/>
          <p:nvPr/>
        </p:nvGrpSpPr>
        <p:grpSpPr>
          <a:xfrm>
            <a:off x="13002821" y="3045434"/>
            <a:ext cx="4113080" cy="411308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EFF"/>
            </a:solidFill>
          </p:spPr>
          <p:txBody>
            <a:bodyPr/>
            <a:lstStyle/>
            <a:p>
              <a:endParaRPr lang="en-US"/>
            </a:p>
          </p:txBody>
        </p:sp>
        <p:sp>
          <p:nvSpPr>
            <p:cNvPr id="15" name="TextBox 15"/>
            <p:cNvSpPr txBox="1"/>
            <p:nvPr/>
          </p:nvSpPr>
          <p:spPr>
            <a:xfrm>
              <a:off x="76200" y="95250"/>
              <a:ext cx="660400" cy="641350"/>
            </a:xfrm>
            <a:prstGeom prst="rect">
              <a:avLst/>
            </a:prstGeom>
          </p:spPr>
          <p:txBody>
            <a:bodyPr lIns="42222" tIns="42222" rIns="42222" bIns="42222" rtlCol="0" anchor="ctr"/>
            <a:lstStyle/>
            <a:p>
              <a:pPr algn="ctr">
                <a:lnSpc>
                  <a:spcPts val="1993"/>
                </a:lnSpc>
              </a:pPr>
              <a:endParaRPr/>
            </a:p>
          </p:txBody>
        </p:sp>
      </p:grpSp>
      <p:grpSp>
        <p:nvGrpSpPr>
          <p:cNvPr id="16" name="Group 16"/>
          <p:cNvGrpSpPr/>
          <p:nvPr/>
        </p:nvGrpSpPr>
        <p:grpSpPr>
          <a:xfrm>
            <a:off x="13125794" y="3174683"/>
            <a:ext cx="3854598" cy="3854582"/>
            <a:chOff x="0" y="0"/>
            <a:chExt cx="6350000" cy="6349975"/>
          </a:xfrm>
        </p:grpSpPr>
        <p:sp>
          <p:nvSpPr>
            <p:cNvPr id="17" name="Freeform 17"/>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l="-25046" r="-25046"/>
              </a:stretch>
            </a:blipFill>
          </p:spPr>
          <p:txBody>
            <a:bodyPr/>
            <a:lstStyle/>
            <a:p>
              <a:endParaRPr lang="en-US"/>
            </a:p>
          </p:txBody>
        </p:sp>
      </p:grpSp>
      <p:sp>
        <p:nvSpPr>
          <p:cNvPr id="18" name="TextBox 18"/>
          <p:cNvSpPr txBox="1"/>
          <p:nvPr/>
        </p:nvSpPr>
        <p:spPr>
          <a:xfrm>
            <a:off x="5283122" y="866775"/>
            <a:ext cx="7721756" cy="1377949"/>
          </a:xfrm>
          <a:prstGeom prst="rect">
            <a:avLst/>
          </a:prstGeom>
        </p:spPr>
        <p:txBody>
          <a:bodyPr lIns="0" tIns="0" rIns="0" bIns="0" rtlCol="0" anchor="t">
            <a:spAutoFit/>
          </a:bodyPr>
          <a:lstStyle/>
          <a:p>
            <a:pPr algn="ctr">
              <a:lnSpc>
                <a:spcPts val="11200"/>
              </a:lnSpc>
            </a:pPr>
            <a:r>
              <a:rPr lang="en-US" sz="8000" b="1">
                <a:solidFill>
                  <a:srgbClr val="56AAF0"/>
                </a:solidFill>
                <a:latin typeface="Dynamo Medium"/>
                <a:ea typeface="Dynamo Medium"/>
                <a:cs typeface="Dynamo Medium"/>
                <a:sym typeface="Dynamo Medium"/>
              </a:rPr>
              <a:t>OUR TEAM</a:t>
            </a:r>
          </a:p>
        </p:txBody>
      </p:sp>
      <p:sp>
        <p:nvSpPr>
          <p:cNvPr id="19" name="TextBox 19"/>
          <p:cNvSpPr txBox="1"/>
          <p:nvPr/>
        </p:nvSpPr>
        <p:spPr>
          <a:xfrm>
            <a:off x="6829616" y="7814378"/>
            <a:ext cx="5114123" cy="504825"/>
          </a:xfrm>
          <a:prstGeom prst="rect">
            <a:avLst/>
          </a:prstGeom>
        </p:spPr>
        <p:txBody>
          <a:bodyPr lIns="0" tIns="0" rIns="0" bIns="0" rtlCol="0" anchor="t">
            <a:spAutoFit/>
          </a:bodyPr>
          <a:lstStyle/>
          <a:p>
            <a:pPr algn="ctr">
              <a:lnSpc>
                <a:spcPts val="4199"/>
              </a:lnSpc>
            </a:pPr>
            <a:r>
              <a:rPr lang="en-US" sz="2999" b="1" spc="11">
                <a:solidFill>
                  <a:srgbClr val="3275C5"/>
                </a:solidFill>
                <a:latin typeface="Source Sans Pro Bold"/>
                <a:ea typeface="Source Sans Pro Bold"/>
                <a:cs typeface="Source Sans Pro Bold"/>
                <a:sym typeface="Source Sans Pro Bold"/>
              </a:rPr>
              <a:t>Noah Schumacher</a:t>
            </a:r>
          </a:p>
        </p:txBody>
      </p:sp>
      <p:sp>
        <p:nvSpPr>
          <p:cNvPr id="20" name="TextBox 20"/>
          <p:cNvSpPr txBox="1"/>
          <p:nvPr/>
        </p:nvSpPr>
        <p:spPr>
          <a:xfrm>
            <a:off x="6829616" y="8271578"/>
            <a:ext cx="5114123" cy="504825"/>
          </a:xfrm>
          <a:prstGeom prst="rect">
            <a:avLst/>
          </a:prstGeom>
        </p:spPr>
        <p:txBody>
          <a:bodyPr lIns="0" tIns="0" rIns="0" bIns="0" rtlCol="0" anchor="t">
            <a:spAutoFit/>
          </a:bodyPr>
          <a:lstStyle/>
          <a:p>
            <a:pPr algn="ctr">
              <a:lnSpc>
                <a:spcPts val="4199"/>
              </a:lnSpc>
            </a:pPr>
            <a:r>
              <a:rPr lang="en-US" sz="2999" spc="11">
                <a:solidFill>
                  <a:srgbClr val="3275C5"/>
                </a:solidFill>
                <a:latin typeface="Source Sans Pro"/>
                <a:ea typeface="Source Sans Pro"/>
                <a:cs typeface="Source Sans Pro"/>
                <a:sym typeface="Source Sans Pro"/>
              </a:rPr>
              <a:t>Project Manager</a:t>
            </a:r>
          </a:p>
        </p:txBody>
      </p:sp>
      <p:sp>
        <p:nvSpPr>
          <p:cNvPr id="21" name="TextBox 21"/>
          <p:cNvSpPr txBox="1"/>
          <p:nvPr/>
        </p:nvSpPr>
        <p:spPr>
          <a:xfrm>
            <a:off x="564731" y="7814378"/>
            <a:ext cx="5114123" cy="504825"/>
          </a:xfrm>
          <a:prstGeom prst="rect">
            <a:avLst/>
          </a:prstGeom>
        </p:spPr>
        <p:txBody>
          <a:bodyPr lIns="0" tIns="0" rIns="0" bIns="0" rtlCol="0" anchor="t">
            <a:spAutoFit/>
          </a:bodyPr>
          <a:lstStyle/>
          <a:p>
            <a:pPr algn="ctr">
              <a:lnSpc>
                <a:spcPts val="4199"/>
              </a:lnSpc>
            </a:pPr>
            <a:r>
              <a:rPr lang="en-US" sz="2999" b="1" spc="11">
                <a:solidFill>
                  <a:srgbClr val="3275C5"/>
                </a:solidFill>
                <a:latin typeface="Source Sans Pro Bold"/>
                <a:ea typeface="Source Sans Pro Bold"/>
                <a:cs typeface="Source Sans Pro Bold"/>
                <a:sym typeface="Source Sans Pro Bold"/>
              </a:rPr>
              <a:t>Muhammad Patel</a:t>
            </a:r>
          </a:p>
        </p:txBody>
      </p:sp>
      <p:sp>
        <p:nvSpPr>
          <p:cNvPr id="22" name="TextBox 22"/>
          <p:cNvSpPr txBox="1"/>
          <p:nvPr/>
        </p:nvSpPr>
        <p:spPr>
          <a:xfrm>
            <a:off x="564731" y="8338253"/>
            <a:ext cx="5114123" cy="876300"/>
          </a:xfrm>
          <a:prstGeom prst="rect">
            <a:avLst/>
          </a:prstGeom>
        </p:spPr>
        <p:txBody>
          <a:bodyPr lIns="0" tIns="0" rIns="0" bIns="0" rtlCol="0" anchor="t">
            <a:spAutoFit/>
          </a:bodyPr>
          <a:lstStyle/>
          <a:p>
            <a:pPr algn="ctr">
              <a:lnSpc>
                <a:spcPts val="3449"/>
              </a:lnSpc>
            </a:pPr>
            <a:r>
              <a:rPr lang="en-US" sz="2999" spc="11">
                <a:solidFill>
                  <a:srgbClr val="3275C5"/>
                </a:solidFill>
                <a:latin typeface="Source Sans Pro"/>
                <a:ea typeface="Source Sans Pro"/>
                <a:cs typeface="Source Sans Pro"/>
                <a:sym typeface="Source Sans Pro"/>
              </a:rPr>
              <a:t>Business Development Manager</a:t>
            </a:r>
          </a:p>
        </p:txBody>
      </p:sp>
      <p:sp>
        <p:nvSpPr>
          <p:cNvPr id="23" name="TextBox 23"/>
          <p:cNvSpPr txBox="1"/>
          <p:nvPr/>
        </p:nvSpPr>
        <p:spPr>
          <a:xfrm>
            <a:off x="12845395" y="7814378"/>
            <a:ext cx="5114123" cy="504825"/>
          </a:xfrm>
          <a:prstGeom prst="rect">
            <a:avLst/>
          </a:prstGeom>
        </p:spPr>
        <p:txBody>
          <a:bodyPr lIns="0" tIns="0" rIns="0" bIns="0" rtlCol="0" anchor="t">
            <a:spAutoFit/>
          </a:bodyPr>
          <a:lstStyle/>
          <a:p>
            <a:pPr algn="ctr">
              <a:lnSpc>
                <a:spcPts val="4199"/>
              </a:lnSpc>
            </a:pPr>
            <a:r>
              <a:rPr lang="en-US" sz="2999" b="1" spc="11">
                <a:solidFill>
                  <a:srgbClr val="3275C5"/>
                </a:solidFill>
                <a:latin typeface="Source Sans Pro Bold"/>
                <a:ea typeface="Source Sans Pro Bold"/>
                <a:cs typeface="Source Sans Pro Bold"/>
                <a:sym typeface="Source Sans Pro Bold"/>
              </a:rPr>
              <a:t>Aaron Loeb</a:t>
            </a:r>
          </a:p>
        </p:txBody>
      </p:sp>
      <p:sp>
        <p:nvSpPr>
          <p:cNvPr id="24" name="TextBox 24"/>
          <p:cNvSpPr txBox="1"/>
          <p:nvPr/>
        </p:nvSpPr>
        <p:spPr>
          <a:xfrm>
            <a:off x="12845395" y="8271578"/>
            <a:ext cx="5114123" cy="1038225"/>
          </a:xfrm>
          <a:prstGeom prst="rect">
            <a:avLst/>
          </a:prstGeom>
        </p:spPr>
        <p:txBody>
          <a:bodyPr lIns="0" tIns="0" rIns="0" bIns="0" rtlCol="0" anchor="t">
            <a:spAutoFit/>
          </a:bodyPr>
          <a:lstStyle/>
          <a:p>
            <a:pPr algn="ctr">
              <a:lnSpc>
                <a:spcPts val="4199"/>
              </a:lnSpc>
            </a:pPr>
            <a:r>
              <a:rPr lang="en-US" sz="2999" spc="11">
                <a:solidFill>
                  <a:srgbClr val="3275C5"/>
                </a:solidFill>
                <a:latin typeface="Source Sans Pro"/>
                <a:ea typeface="Source Sans Pro"/>
                <a:cs typeface="Source Sans Pro"/>
                <a:sym typeface="Source Sans Pro"/>
              </a:rPr>
              <a:t>Marketing Manager</a:t>
            </a:r>
          </a:p>
          <a:p>
            <a:pPr algn="ctr">
              <a:lnSpc>
                <a:spcPts val="4199"/>
              </a:lnSpc>
            </a:pPr>
            <a:endParaRPr lang="en-US" sz="2999" spc="11">
              <a:solidFill>
                <a:srgbClr val="3275C5"/>
              </a:solidFill>
              <a:latin typeface="Source Sans Pro"/>
              <a:ea typeface="Source Sans Pro"/>
              <a:cs typeface="Source Sans Pro"/>
              <a:sym typeface="Source Sans Pro"/>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426448D-A638-2FD3-986B-0135DB8DCCC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BEF62EE-6B6A-1598-2DB8-5962B3D00DFE}"/>
              </a:ext>
            </a:extLst>
          </p:cNvPr>
          <p:cNvSpPr/>
          <p:nvPr/>
        </p:nvSpPr>
        <p:spPr>
          <a:xfrm>
            <a:off x="1801085" y="3805214"/>
            <a:ext cx="3685128" cy="5522671"/>
          </a:xfrm>
          <a:custGeom>
            <a:avLst/>
            <a:gdLst/>
            <a:ahLst/>
            <a:cxnLst/>
            <a:rect l="l" t="t" r="r" b="b"/>
            <a:pathLst>
              <a:path w="3685128" h="5522671">
                <a:moveTo>
                  <a:pt x="0" y="0"/>
                </a:moveTo>
                <a:lnTo>
                  <a:pt x="3685127" y="0"/>
                </a:lnTo>
                <a:lnTo>
                  <a:pt x="3685127" y="5522671"/>
                </a:lnTo>
                <a:lnTo>
                  <a:pt x="0" y="55226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A4DAD0FB-F33F-6C02-3C25-F53D2774A923}"/>
              </a:ext>
            </a:extLst>
          </p:cNvPr>
          <p:cNvSpPr/>
          <p:nvPr/>
        </p:nvSpPr>
        <p:spPr>
          <a:xfrm>
            <a:off x="7296365" y="2848250"/>
            <a:ext cx="3695269" cy="5537869"/>
          </a:xfrm>
          <a:custGeom>
            <a:avLst/>
            <a:gdLst/>
            <a:ahLst/>
            <a:cxnLst/>
            <a:rect l="l" t="t" r="r" b="b"/>
            <a:pathLst>
              <a:path w="3695269" h="5537869">
                <a:moveTo>
                  <a:pt x="0" y="0"/>
                </a:moveTo>
                <a:lnTo>
                  <a:pt x="3695270" y="0"/>
                </a:lnTo>
                <a:lnTo>
                  <a:pt x="3695270" y="5537870"/>
                </a:lnTo>
                <a:lnTo>
                  <a:pt x="0" y="55378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5409424B-2E43-B652-F3A7-159F28B2AB0F}"/>
              </a:ext>
            </a:extLst>
          </p:cNvPr>
          <p:cNvSpPr/>
          <p:nvPr/>
        </p:nvSpPr>
        <p:spPr>
          <a:xfrm>
            <a:off x="12801385" y="3840006"/>
            <a:ext cx="3638696" cy="5453086"/>
          </a:xfrm>
          <a:custGeom>
            <a:avLst/>
            <a:gdLst/>
            <a:ahLst/>
            <a:cxnLst/>
            <a:rect l="l" t="t" r="r" b="b"/>
            <a:pathLst>
              <a:path w="3638696" h="5453086">
                <a:moveTo>
                  <a:pt x="0" y="0"/>
                </a:moveTo>
                <a:lnTo>
                  <a:pt x="3638695" y="0"/>
                </a:lnTo>
                <a:lnTo>
                  <a:pt x="3638695" y="5453086"/>
                </a:lnTo>
                <a:lnTo>
                  <a:pt x="0" y="54530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E1B29C29-8552-4117-20FD-2AD216C61633}"/>
              </a:ext>
            </a:extLst>
          </p:cNvPr>
          <p:cNvSpPr/>
          <p:nvPr/>
        </p:nvSpPr>
        <p:spPr>
          <a:xfrm>
            <a:off x="3002783" y="4420667"/>
            <a:ext cx="1281730" cy="1223470"/>
          </a:xfrm>
          <a:custGeom>
            <a:avLst/>
            <a:gdLst/>
            <a:ahLst/>
            <a:cxnLst/>
            <a:rect l="l" t="t" r="r" b="b"/>
            <a:pathLst>
              <a:path w="1281730" h="1223470">
                <a:moveTo>
                  <a:pt x="0" y="0"/>
                </a:moveTo>
                <a:lnTo>
                  <a:pt x="1281731" y="0"/>
                </a:lnTo>
                <a:lnTo>
                  <a:pt x="1281731" y="1223470"/>
                </a:lnTo>
                <a:lnTo>
                  <a:pt x="0" y="12234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a:extLst>
              <a:ext uri="{FF2B5EF4-FFF2-40B4-BE49-F238E27FC236}">
                <a16:creationId xmlns:a16="http://schemas.microsoft.com/office/drawing/2014/main" id="{2FC1CD8C-0FDD-1D3D-D12B-F8624507AFCB}"/>
              </a:ext>
            </a:extLst>
          </p:cNvPr>
          <p:cNvSpPr/>
          <p:nvPr/>
        </p:nvSpPr>
        <p:spPr>
          <a:xfrm>
            <a:off x="8489971" y="3543112"/>
            <a:ext cx="1251359" cy="1251359"/>
          </a:xfrm>
          <a:custGeom>
            <a:avLst/>
            <a:gdLst/>
            <a:ahLst/>
            <a:cxnLst/>
            <a:rect l="l" t="t" r="r" b="b"/>
            <a:pathLst>
              <a:path w="1251359" h="1251359">
                <a:moveTo>
                  <a:pt x="0" y="0"/>
                </a:moveTo>
                <a:lnTo>
                  <a:pt x="1251360" y="0"/>
                </a:lnTo>
                <a:lnTo>
                  <a:pt x="1251360" y="1251359"/>
                </a:lnTo>
                <a:lnTo>
                  <a:pt x="0" y="12513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AE4A49FF-A215-7F8C-1E03-0B9296FA285F}"/>
              </a:ext>
            </a:extLst>
          </p:cNvPr>
          <p:cNvSpPr/>
          <p:nvPr/>
        </p:nvSpPr>
        <p:spPr>
          <a:xfrm>
            <a:off x="14001535" y="4551860"/>
            <a:ext cx="1312104" cy="1183279"/>
          </a:xfrm>
          <a:custGeom>
            <a:avLst/>
            <a:gdLst/>
            <a:ahLst/>
            <a:cxnLst/>
            <a:rect l="l" t="t" r="r" b="b"/>
            <a:pathLst>
              <a:path w="1312104" h="1183279">
                <a:moveTo>
                  <a:pt x="0" y="0"/>
                </a:moveTo>
                <a:lnTo>
                  <a:pt x="1312104" y="0"/>
                </a:lnTo>
                <a:lnTo>
                  <a:pt x="1312104" y="1183280"/>
                </a:lnTo>
                <a:lnTo>
                  <a:pt x="0" y="118328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8" name="TextBox 8">
            <a:extLst>
              <a:ext uri="{FF2B5EF4-FFF2-40B4-BE49-F238E27FC236}">
                <a16:creationId xmlns:a16="http://schemas.microsoft.com/office/drawing/2014/main" id="{728B32B7-3DEF-31E4-62B8-3D12CABAD699}"/>
              </a:ext>
            </a:extLst>
          </p:cNvPr>
          <p:cNvSpPr txBox="1"/>
          <p:nvPr/>
        </p:nvSpPr>
        <p:spPr>
          <a:xfrm>
            <a:off x="2334380" y="6649950"/>
            <a:ext cx="2618537" cy="2111375"/>
          </a:xfrm>
          <a:prstGeom prst="rect">
            <a:avLst/>
          </a:prstGeom>
        </p:spPr>
        <p:txBody>
          <a:bodyPr lIns="0" tIns="0" rIns="0" bIns="0" rtlCol="0" anchor="t">
            <a:spAutoFit/>
          </a:bodyPr>
          <a:lstStyle/>
          <a:p>
            <a:pPr algn="ctr">
              <a:lnSpc>
                <a:spcPts val="2800"/>
              </a:lnSpc>
            </a:pPr>
            <a:r>
              <a:rPr lang="en-US" sz="2000" spc="8" dirty="0">
                <a:solidFill>
                  <a:srgbClr val="3275C5"/>
                </a:solidFill>
                <a:latin typeface="Source Sans Pro"/>
                <a:ea typeface="Source Sans Pro"/>
                <a:cs typeface="Source Sans Pro"/>
                <a:sym typeface="Source Sans Pro"/>
              </a:rPr>
              <a:t>Lorem ipsum dolor sit </a:t>
            </a:r>
            <a:r>
              <a:rPr lang="en-US" sz="2000" spc="8" dirty="0" err="1">
                <a:solidFill>
                  <a:srgbClr val="3275C5"/>
                </a:solidFill>
                <a:latin typeface="Source Sans Pro"/>
                <a:ea typeface="Source Sans Pro"/>
                <a:cs typeface="Source Sans Pro"/>
                <a:sym typeface="Source Sans Pro"/>
              </a:rPr>
              <a:t>amet</a:t>
            </a:r>
            <a:r>
              <a:rPr lang="en-US" sz="2000" spc="8" dirty="0">
                <a:solidFill>
                  <a:srgbClr val="3275C5"/>
                </a:solidFill>
                <a:latin typeface="Source Sans Pro"/>
                <a:ea typeface="Source Sans Pro"/>
                <a:cs typeface="Source Sans Pro"/>
                <a:sym typeface="Source Sans Pro"/>
              </a:rPr>
              <a:t>, </a:t>
            </a:r>
            <a:r>
              <a:rPr lang="en-US" sz="2000" spc="8" dirty="0" err="1">
                <a:solidFill>
                  <a:srgbClr val="3275C5"/>
                </a:solidFill>
                <a:latin typeface="Source Sans Pro"/>
                <a:ea typeface="Source Sans Pro"/>
                <a:cs typeface="Source Sans Pro"/>
                <a:sym typeface="Source Sans Pro"/>
              </a:rPr>
              <a:t>consectetur</a:t>
            </a:r>
            <a:r>
              <a:rPr lang="en-US" sz="2000" spc="8" dirty="0">
                <a:solidFill>
                  <a:srgbClr val="3275C5"/>
                </a:solidFill>
                <a:latin typeface="Source Sans Pro"/>
                <a:ea typeface="Source Sans Pro"/>
                <a:cs typeface="Source Sans Pro"/>
                <a:sym typeface="Source Sans Pro"/>
              </a:rPr>
              <a:t> </a:t>
            </a:r>
            <a:r>
              <a:rPr lang="en-US" sz="2000" spc="8" dirty="0" err="1">
                <a:solidFill>
                  <a:srgbClr val="3275C5"/>
                </a:solidFill>
                <a:latin typeface="Source Sans Pro"/>
                <a:ea typeface="Source Sans Pro"/>
                <a:cs typeface="Source Sans Pro"/>
                <a:sym typeface="Source Sans Pro"/>
              </a:rPr>
              <a:t>adipiscing</a:t>
            </a:r>
            <a:r>
              <a:rPr lang="en-US" sz="2000" spc="8" dirty="0">
                <a:solidFill>
                  <a:srgbClr val="3275C5"/>
                </a:solidFill>
                <a:latin typeface="Source Sans Pro"/>
                <a:ea typeface="Source Sans Pro"/>
                <a:cs typeface="Source Sans Pro"/>
                <a:sym typeface="Source Sans Pro"/>
              </a:rPr>
              <a:t> </a:t>
            </a:r>
            <a:r>
              <a:rPr lang="en-US" sz="2000" spc="8" dirty="0" err="1">
                <a:solidFill>
                  <a:srgbClr val="3275C5"/>
                </a:solidFill>
                <a:latin typeface="Source Sans Pro"/>
                <a:ea typeface="Source Sans Pro"/>
                <a:cs typeface="Source Sans Pro"/>
                <a:sym typeface="Source Sans Pro"/>
              </a:rPr>
              <a:t>elit</a:t>
            </a:r>
            <a:r>
              <a:rPr lang="en-US" sz="2000" spc="8" dirty="0">
                <a:solidFill>
                  <a:srgbClr val="3275C5"/>
                </a:solidFill>
                <a:latin typeface="Source Sans Pro"/>
                <a:ea typeface="Source Sans Pro"/>
                <a:cs typeface="Source Sans Pro"/>
                <a:sym typeface="Source Sans Pro"/>
              </a:rPr>
              <a:t>, sed do </a:t>
            </a:r>
            <a:r>
              <a:rPr lang="en-US" sz="2000" spc="8" dirty="0" err="1">
                <a:solidFill>
                  <a:srgbClr val="3275C5"/>
                </a:solidFill>
                <a:latin typeface="Source Sans Pro"/>
                <a:ea typeface="Source Sans Pro"/>
                <a:cs typeface="Source Sans Pro"/>
                <a:sym typeface="Source Sans Pro"/>
              </a:rPr>
              <a:t>eiusmod</a:t>
            </a:r>
            <a:r>
              <a:rPr lang="en-US" sz="2000" spc="8" dirty="0">
                <a:solidFill>
                  <a:srgbClr val="3275C5"/>
                </a:solidFill>
                <a:latin typeface="Source Sans Pro"/>
                <a:ea typeface="Source Sans Pro"/>
                <a:cs typeface="Source Sans Pro"/>
                <a:sym typeface="Source Sans Pro"/>
              </a:rPr>
              <a:t> </a:t>
            </a:r>
            <a:r>
              <a:rPr lang="en-US" sz="2000" spc="8" dirty="0" err="1">
                <a:solidFill>
                  <a:srgbClr val="3275C5"/>
                </a:solidFill>
                <a:latin typeface="Source Sans Pro"/>
                <a:ea typeface="Source Sans Pro"/>
                <a:cs typeface="Source Sans Pro"/>
                <a:sym typeface="Source Sans Pro"/>
              </a:rPr>
              <a:t>tempor</a:t>
            </a:r>
            <a:r>
              <a:rPr lang="en-US" sz="2000" spc="8" dirty="0">
                <a:solidFill>
                  <a:srgbClr val="3275C5"/>
                </a:solidFill>
                <a:latin typeface="Source Sans Pro"/>
                <a:ea typeface="Source Sans Pro"/>
                <a:cs typeface="Source Sans Pro"/>
                <a:sym typeface="Source Sans Pro"/>
              </a:rPr>
              <a:t> </a:t>
            </a:r>
            <a:r>
              <a:rPr lang="en-US" sz="2000" spc="8" dirty="0" err="1">
                <a:solidFill>
                  <a:srgbClr val="3275C5"/>
                </a:solidFill>
                <a:latin typeface="Source Sans Pro"/>
                <a:ea typeface="Source Sans Pro"/>
                <a:cs typeface="Source Sans Pro"/>
                <a:sym typeface="Source Sans Pro"/>
              </a:rPr>
              <a:t>incididunt</a:t>
            </a:r>
            <a:r>
              <a:rPr lang="en-US" sz="2000" spc="8" dirty="0">
                <a:solidFill>
                  <a:srgbClr val="3275C5"/>
                </a:solidFill>
                <a:latin typeface="Source Sans Pro"/>
                <a:ea typeface="Source Sans Pro"/>
                <a:cs typeface="Source Sans Pro"/>
                <a:sym typeface="Source Sans Pro"/>
              </a:rPr>
              <a:t> </a:t>
            </a:r>
            <a:r>
              <a:rPr lang="en-US" sz="2000" spc="8" dirty="0" err="1">
                <a:solidFill>
                  <a:srgbClr val="3275C5"/>
                </a:solidFill>
                <a:latin typeface="Source Sans Pro"/>
                <a:ea typeface="Source Sans Pro"/>
                <a:cs typeface="Source Sans Pro"/>
                <a:sym typeface="Source Sans Pro"/>
              </a:rPr>
              <a:t>ut</a:t>
            </a:r>
            <a:r>
              <a:rPr lang="en-US" sz="2000" spc="8" dirty="0">
                <a:solidFill>
                  <a:srgbClr val="3275C5"/>
                </a:solidFill>
                <a:latin typeface="Source Sans Pro"/>
                <a:ea typeface="Source Sans Pro"/>
                <a:cs typeface="Source Sans Pro"/>
                <a:sym typeface="Source Sans Pro"/>
              </a:rPr>
              <a:t> labore et dolore magna </a:t>
            </a:r>
            <a:r>
              <a:rPr lang="en-US" sz="2000" spc="8" dirty="0" err="1">
                <a:solidFill>
                  <a:srgbClr val="3275C5"/>
                </a:solidFill>
                <a:latin typeface="Source Sans Pro"/>
                <a:ea typeface="Source Sans Pro"/>
                <a:cs typeface="Source Sans Pro"/>
                <a:sym typeface="Source Sans Pro"/>
              </a:rPr>
              <a:t>aliqua</a:t>
            </a:r>
            <a:r>
              <a:rPr lang="en-US" sz="2000" spc="8" dirty="0">
                <a:solidFill>
                  <a:srgbClr val="3275C5"/>
                </a:solidFill>
                <a:latin typeface="Source Sans Pro"/>
                <a:ea typeface="Source Sans Pro"/>
                <a:cs typeface="Source Sans Pro"/>
                <a:sym typeface="Source Sans Pro"/>
              </a:rPr>
              <a:t>.</a:t>
            </a:r>
          </a:p>
        </p:txBody>
      </p:sp>
      <p:sp>
        <p:nvSpPr>
          <p:cNvPr id="9" name="TextBox 9">
            <a:extLst>
              <a:ext uri="{FF2B5EF4-FFF2-40B4-BE49-F238E27FC236}">
                <a16:creationId xmlns:a16="http://schemas.microsoft.com/office/drawing/2014/main" id="{F900B86B-7107-D348-DEE9-639343259290}"/>
              </a:ext>
            </a:extLst>
          </p:cNvPr>
          <p:cNvSpPr txBox="1"/>
          <p:nvPr/>
        </p:nvSpPr>
        <p:spPr>
          <a:xfrm>
            <a:off x="3763698" y="866775"/>
            <a:ext cx="10760605" cy="1377949"/>
          </a:xfrm>
          <a:prstGeom prst="rect">
            <a:avLst/>
          </a:prstGeom>
        </p:spPr>
        <p:txBody>
          <a:bodyPr lIns="0" tIns="0" rIns="0" bIns="0" rtlCol="0" anchor="t">
            <a:spAutoFit/>
          </a:bodyPr>
          <a:lstStyle/>
          <a:p>
            <a:pPr algn="ctr">
              <a:lnSpc>
                <a:spcPts val="11200"/>
              </a:lnSpc>
            </a:pPr>
            <a:r>
              <a:rPr lang="en-US" sz="8000" b="1">
                <a:solidFill>
                  <a:srgbClr val="56AAF0"/>
                </a:solidFill>
                <a:latin typeface="Dynamo Medium"/>
                <a:ea typeface="Dynamo Medium"/>
                <a:cs typeface="Dynamo Medium"/>
                <a:sym typeface="Dynamo Medium"/>
              </a:rPr>
              <a:t>GOALS AND OBJECTIVES</a:t>
            </a:r>
          </a:p>
        </p:txBody>
      </p:sp>
      <p:sp>
        <p:nvSpPr>
          <p:cNvPr id="10" name="TextBox 10">
            <a:extLst>
              <a:ext uri="{FF2B5EF4-FFF2-40B4-BE49-F238E27FC236}">
                <a16:creationId xmlns:a16="http://schemas.microsoft.com/office/drawing/2014/main" id="{D0D1AD30-8E39-12AD-226E-59F98A7AC6A0}"/>
              </a:ext>
            </a:extLst>
          </p:cNvPr>
          <p:cNvSpPr txBox="1"/>
          <p:nvPr/>
        </p:nvSpPr>
        <p:spPr>
          <a:xfrm>
            <a:off x="7834731" y="5703800"/>
            <a:ext cx="2618537" cy="2111375"/>
          </a:xfrm>
          <a:prstGeom prst="rect">
            <a:avLst/>
          </a:prstGeom>
        </p:spPr>
        <p:txBody>
          <a:bodyPr lIns="0" tIns="0" rIns="0" bIns="0" rtlCol="0" anchor="t">
            <a:spAutoFit/>
          </a:bodyPr>
          <a:lstStyle/>
          <a:p>
            <a:pPr algn="ctr">
              <a:lnSpc>
                <a:spcPts val="2800"/>
              </a:lnSpc>
            </a:pPr>
            <a:r>
              <a:rPr lang="en-US" sz="2000" spc="8">
                <a:solidFill>
                  <a:srgbClr val="3275C5"/>
                </a:solidFill>
                <a:latin typeface="Source Sans Pro"/>
                <a:ea typeface="Source Sans Pro"/>
                <a:cs typeface="Source Sans Pro"/>
                <a:sym typeface="Source Sans Pro"/>
              </a:rPr>
              <a:t>Lorem ipsum dolor sit amet, consectetur adipiscing elit, sed do eiusmod tempor incididunt ut labore et dolore magna aliqua.</a:t>
            </a:r>
          </a:p>
        </p:txBody>
      </p:sp>
      <p:sp>
        <p:nvSpPr>
          <p:cNvPr id="11" name="TextBox 11">
            <a:extLst>
              <a:ext uri="{FF2B5EF4-FFF2-40B4-BE49-F238E27FC236}">
                <a16:creationId xmlns:a16="http://schemas.microsoft.com/office/drawing/2014/main" id="{500D244D-FC9E-A744-461F-27FB4116F13F}"/>
              </a:ext>
            </a:extLst>
          </p:cNvPr>
          <p:cNvSpPr txBox="1"/>
          <p:nvPr/>
        </p:nvSpPr>
        <p:spPr>
          <a:xfrm>
            <a:off x="13311464" y="6735675"/>
            <a:ext cx="2618537" cy="2111375"/>
          </a:xfrm>
          <a:prstGeom prst="rect">
            <a:avLst/>
          </a:prstGeom>
        </p:spPr>
        <p:txBody>
          <a:bodyPr lIns="0" tIns="0" rIns="0" bIns="0" rtlCol="0" anchor="t">
            <a:spAutoFit/>
          </a:bodyPr>
          <a:lstStyle/>
          <a:p>
            <a:pPr algn="ctr">
              <a:lnSpc>
                <a:spcPts val="2800"/>
              </a:lnSpc>
            </a:pPr>
            <a:r>
              <a:rPr lang="en-US" sz="2000" spc="8">
                <a:solidFill>
                  <a:srgbClr val="3275C5"/>
                </a:solidFill>
                <a:latin typeface="Source Sans Pro"/>
                <a:ea typeface="Source Sans Pro"/>
                <a:cs typeface="Source Sans Pro"/>
                <a:sym typeface="Source Sans Pro"/>
              </a:rPr>
              <a:t>Lorem ipsum dolor sit amet, consectetur adipiscing elit, sed do eiusmod tempor incididunt ut labore et dolore magna aliqua.</a:t>
            </a:r>
          </a:p>
        </p:txBody>
      </p:sp>
      <p:grpSp>
        <p:nvGrpSpPr>
          <p:cNvPr id="12" name="Group 12">
            <a:extLst>
              <a:ext uri="{FF2B5EF4-FFF2-40B4-BE49-F238E27FC236}">
                <a16:creationId xmlns:a16="http://schemas.microsoft.com/office/drawing/2014/main" id="{792349CC-09A1-8E23-F8FA-43983765A8A4}"/>
              </a:ext>
            </a:extLst>
          </p:cNvPr>
          <p:cNvGrpSpPr/>
          <p:nvPr/>
        </p:nvGrpSpPr>
        <p:grpSpPr>
          <a:xfrm>
            <a:off x="-4006574" y="-369454"/>
            <a:ext cx="7009358" cy="1159703"/>
            <a:chOff x="0" y="0"/>
            <a:chExt cx="1250766" cy="206940"/>
          </a:xfrm>
        </p:grpSpPr>
        <p:sp>
          <p:nvSpPr>
            <p:cNvPr id="13" name="Freeform 13">
              <a:extLst>
                <a:ext uri="{FF2B5EF4-FFF2-40B4-BE49-F238E27FC236}">
                  <a16:creationId xmlns:a16="http://schemas.microsoft.com/office/drawing/2014/main" id="{1DC8394C-8946-B2B4-32AE-8E553B2A60BD}"/>
                </a:ext>
              </a:extLst>
            </p:cNvPr>
            <p:cNvSpPr/>
            <p:nvPr/>
          </p:nvSpPr>
          <p:spPr>
            <a:xfrm>
              <a:off x="11494" y="0"/>
              <a:ext cx="1227777" cy="206940"/>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solidFill>
              <a:srgbClr val="3275C5"/>
            </a:solidFill>
          </p:spPr>
          <p:txBody>
            <a:bodyPr/>
            <a:lstStyle/>
            <a:p>
              <a:endParaRPr lang="en-US"/>
            </a:p>
          </p:txBody>
        </p:sp>
        <p:sp>
          <p:nvSpPr>
            <p:cNvPr id="14" name="TextBox 14">
              <a:extLst>
                <a:ext uri="{FF2B5EF4-FFF2-40B4-BE49-F238E27FC236}">
                  <a16:creationId xmlns:a16="http://schemas.microsoft.com/office/drawing/2014/main" id="{7FDE98C9-FC1A-7AC0-058F-D497C2CB8ADE}"/>
                </a:ext>
              </a:extLst>
            </p:cNvPr>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15" name="Group 15">
            <a:extLst>
              <a:ext uri="{FF2B5EF4-FFF2-40B4-BE49-F238E27FC236}">
                <a16:creationId xmlns:a16="http://schemas.microsoft.com/office/drawing/2014/main" id="{54270ED4-B148-9A42-60D7-2E4F29734709}"/>
              </a:ext>
            </a:extLst>
          </p:cNvPr>
          <p:cNvGrpSpPr/>
          <p:nvPr/>
        </p:nvGrpSpPr>
        <p:grpSpPr>
          <a:xfrm>
            <a:off x="-1748459" y="508418"/>
            <a:ext cx="3144637" cy="520282"/>
            <a:chOff x="0" y="0"/>
            <a:chExt cx="1250766" cy="206940"/>
          </a:xfrm>
        </p:grpSpPr>
        <p:sp>
          <p:nvSpPr>
            <p:cNvPr id="16" name="Freeform 16">
              <a:extLst>
                <a:ext uri="{FF2B5EF4-FFF2-40B4-BE49-F238E27FC236}">
                  <a16:creationId xmlns:a16="http://schemas.microsoft.com/office/drawing/2014/main" id="{EB7EEFEB-D8E3-6628-54F1-790592B9A875}"/>
                </a:ext>
              </a:extLst>
            </p:cNvPr>
            <p:cNvSpPr/>
            <p:nvPr/>
          </p:nvSpPr>
          <p:spPr>
            <a:xfrm>
              <a:off x="13485" y="0"/>
              <a:ext cx="1223797" cy="206940"/>
            </a:xfrm>
            <a:custGeom>
              <a:avLst/>
              <a:gdLst/>
              <a:ahLst/>
              <a:cxnLst/>
              <a:rect l="l" t="t" r="r" b="b"/>
              <a:pathLst>
                <a:path w="1223797" h="206940">
                  <a:moveTo>
                    <a:pt x="214334" y="0"/>
                  </a:moveTo>
                  <a:lnTo>
                    <a:pt x="1212662" y="0"/>
                  </a:lnTo>
                  <a:cubicBezTo>
                    <a:pt x="1216822" y="0"/>
                    <a:pt x="1220577" y="2496"/>
                    <a:pt x="1222187" y="6333"/>
                  </a:cubicBezTo>
                  <a:cubicBezTo>
                    <a:pt x="1223796" y="10170"/>
                    <a:pt x="1222947" y="14598"/>
                    <a:pt x="1220032" y="17567"/>
                  </a:cubicBezTo>
                  <a:lnTo>
                    <a:pt x="1051330" y="189373"/>
                  </a:lnTo>
                  <a:cubicBezTo>
                    <a:pt x="1040297" y="200610"/>
                    <a:pt x="1025210" y="206940"/>
                    <a:pt x="1009462" y="206940"/>
                  </a:cubicBezTo>
                  <a:lnTo>
                    <a:pt x="11134" y="206940"/>
                  </a:lnTo>
                  <a:cubicBezTo>
                    <a:pt x="6974" y="206940"/>
                    <a:pt x="3219" y="204444"/>
                    <a:pt x="1609" y="200607"/>
                  </a:cubicBezTo>
                  <a:cubicBezTo>
                    <a:pt x="0" y="196770"/>
                    <a:pt x="849" y="192342"/>
                    <a:pt x="3764" y="189373"/>
                  </a:cubicBezTo>
                  <a:lnTo>
                    <a:pt x="172466" y="17567"/>
                  </a:lnTo>
                  <a:cubicBezTo>
                    <a:pt x="183499" y="6330"/>
                    <a:pt x="198586" y="0"/>
                    <a:pt x="214334" y="0"/>
                  </a:cubicBezTo>
                  <a:close/>
                </a:path>
              </a:pathLst>
            </a:custGeom>
            <a:solidFill>
              <a:srgbClr val="64CAF4"/>
            </a:solidFill>
          </p:spPr>
          <p:txBody>
            <a:bodyPr/>
            <a:lstStyle/>
            <a:p>
              <a:endParaRPr lang="en-US"/>
            </a:p>
          </p:txBody>
        </p:sp>
        <p:sp>
          <p:nvSpPr>
            <p:cNvPr id="17" name="TextBox 17">
              <a:extLst>
                <a:ext uri="{FF2B5EF4-FFF2-40B4-BE49-F238E27FC236}">
                  <a16:creationId xmlns:a16="http://schemas.microsoft.com/office/drawing/2014/main" id="{A70C1682-DACB-92E5-7D3D-C8A416FA473D}"/>
                </a:ext>
              </a:extLst>
            </p:cNvPr>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18" name="Group 18">
            <a:extLst>
              <a:ext uri="{FF2B5EF4-FFF2-40B4-BE49-F238E27FC236}">
                <a16:creationId xmlns:a16="http://schemas.microsoft.com/office/drawing/2014/main" id="{51A87F25-A963-1AAD-DA46-4B5B450DE62F}"/>
              </a:ext>
            </a:extLst>
          </p:cNvPr>
          <p:cNvGrpSpPr/>
          <p:nvPr/>
        </p:nvGrpSpPr>
        <p:grpSpPr>
          <a:xfrm>
            <a:off x="14410002" y="-369454"/>
            <a:ext cx="7009358" cy="1138013"/>
            <a:chOff x="0" y="0"/>
            <a:chExt cx="812800" cy="131963"/>
          </a:xfrm>
        </p:grpSpPr>
        <p:sp>
          <p:nvSpPr>
            <p:cNvPr id="19" name="Freeform 19">
              <a:extLst>
                <a:ext uri="{FF2B5EF4-FFF2-40B4-BE49-F238E27FC236}">
                  <a16:creationId xmlns:a16="http://schemas.microsoft.com/office/drawing/2014/main" id="{802A9514-C24E-8DDA-FC33-8C6D446A6DCD}"/>
                </a:ext>
              </a:extLst>
            </p:cNvPr>
            <p:cNvSpPr/>
            <p:nvPr/>
          </p:nvSpPr>
          <p:spPr>
            <a:xfrm>
              <a:off x="14243" y="0"/>
              <a:ext cx="784313" cy="131963"/>
            </a:xfrm>
            <a:custGeom>
              <a:avLst/>
              <a:gdLst/>
              <a:ahLst/>
              <a:cxnLst/>
              <a:rect l="l" t="t" r="r" b="b"/>
              <a:pathLst>
                <a:path w="784313" h="131963">
                  <a:moveTo>
                    <a:pt x="574371" y="0"/>
                  </a:moveTo>
                  <a:lnTo>
                    <a:pt x="6743" y="0"/>
                  </a:lnTo>
                  <a:cubicBezTo>
                    <a:pt x="3990" y="0"/>
                    <a:pt x="1564" y="1811"/>
                    <a:pt x="782" y="4451"/>
                  </a:cubicBezTo>
                  <a:cubicBezTo>
                    <a:pt x="0" y="7091"/>
                    <a:pt x="1048" y="9930"/>
                    <a:pt x="3357" y="11430"/>
                  </a:cubicBezTo>
                  <a:lnTo>
                    <a:pt x="171357" y="120533"/>
                  </a:lnTo>
                  <a:cubicBezTo>
                    <a:pt x="182844" y="127993"/>
                    <a:pt x="196246" y="131963"/>
                    <a:pt x="209943" y="131963"/>
                  </a:cubicBezTo>
                  <a:lnTo>
                    <a:pt x="777571" y="131963"/>
                  </a:lnTo>
                  <a:cubicBezTo>
                    <a:pt x="780324" y="131963"/>
                    <a:pt x="782750" y="130152"/>
                    <a:pt x="783532" y="127512"/>
                  </a:cubicBezTo>
                  <a:cubicBezTo>
                    <a:pt x="784314" y="124873"/>
                    <a:pt x="783266" y="122033"/>
                    <a:pt x="780957" y="120533"/>
                  </a:cubicBezTo>
                  <a:lnTo>
                    <a:pt x="612957" y="11430"/>
                  </a:lnTo>
                  <a:cubicBezTo>
                    <a:pt x="601470" y="3970"/>
                    <a:pt x="588068" y="0"/>
                    <a:pt x="574371" y="0"/>
                  </a:cubicBezTo>
                  <a:close/>
                </a:path>
              </a:pathLst>
            </a:custGeom>
            <a:solidFill>
              <a:srgbClr val="3275C5"/>
            </a:solidFill>
          </p:spPr>
          <p:txBody>
            <a:bodyPr/>
            <a:lstStyle/>
            <a:p>
              <a:endParaRPr lang="en-US"/>
            </a:p>
          </p:txBody>
        </p:sp>
        <p:sp>
          <p:nvSpPr>
            <p:cNvPr id="20" name="TextBox 20">
              <a:extLst>
                <a:ext uri="{FF2B5EF4-FFF2-40B4-BE49-F238E27FC236}">
                  <a16:creationId xmlns:a16="http://schemas.microsoft.com/office/drawing/2014/main" id="{405730F8-B8CA-AB54-D60D-136D6AD4C6A8}"/>
                </a:ext>
              </a:extLst>
            </p:cNvPr>
            <p:cNvSpPr txBox="1"/>
            <p:nvPr/>
          </p:nvSpPr>
          <p:spPr>
            <a:xfrm>
              <a:off x="101600" y="19050"/>
              <a:ext cx="609600" cy="112913"/>
            </a:xfrm>
            <a:prstGeom prst="rect">
              <a:avLst/>
            </a:prstGeom>
          </p:spPr>
          <p:txBody>
            <a:bodyPr lIns="83282" tIns="83282" rIns="83282" bIns="83282" rtlCol="0" anchor="ctr"/>
            <a:lstStyle/>
            <a:p>
              <a:pPr algn="ctr">
                <a:lnSpc>
                  <a:spcPts val="1993"/>
                </a:lnSpc>
              </a:pPr>
              <a:endParaRPr/>
            </a:p>
          </p:txBody>
        </p:sp>
      </p:grpSp>
      <p:grpSp>
        <p:nvGrpSpPr>
          <p:cNvPr id="21" name="Group 21">
            <a:extLst>
              <a:ext uri="{FF2B5EF4-FFF2-40B4-BE49-F238E27FC236}">
                <a16:creationId xmlns:a16="http://schemas.microsoft.com/office/drawing/2014/main" id="{C35560CD-BEFD-371E-33C3-9C6E09071FDB}"/>
              </a:ext>
            </a:extLst>
          </p:cNvPr>
          <p:cNvGrpSpPr/>
          <p:nvPr/>
        </p:nvGrpSpPr>
        <p:grpSpPr>
          <a:xfrm>
            <a:off x="16629956" y="508418"/>
            <a:ext cx="3144637" cy="520282"/>
            <a:chOff x="0" y="0"/>
            <a:chExt cx="812800" cy="134478"/>
          </a:xfrm>
        </p:grpSpPr>
        <p:sp>
          <p:nvSpPr>
            <p:cNvPr id="22" name="Freeform 22">
              <a:extLst>
                <a:ext uri="{FF2B5EF4-FFF2-40B4-BE49-F238E27FC236}">
                  <a16:creationId xmlns:a16="http://schemas.microsoft.com/office/drawing/2014/main" id="{57B113D1-0ECA-0893-6257-D0E1A7684040}"/>
                </a:ext>
              </a:extLst>
            </p:cNvPr>
            <p:cNvSpPr/>
            <p:nvPr/>
          </p:nvSpPr>
          <p:spPr>
            <a:xfrm>
              <a:off x="26532" y="0"/>
              <a:ext cx="759735" cy="134478"/>
            </a:xfrm>
            <a:custGeom>
              <a:avLst/>
              <a:gdLst/>
              <a:ahLst/>
              <a:cxnLst/>
              <a:rect l="l" t="t" r="r" b="b"/>
              <a:pathLst>
                <a:path w="759735" h="134478">
                  <a:moveTo>
                    <a:pt x="543677" y="0"/>
                  </a:moveTo>
                  <a:lnTo>
                    <a:pt x="12859" y="0"/>
                  </a:lnTo>
                  <a:cubicBezTo>
                    <a:pt x="7628" y="0"/>
                    <a:pt x="3015" y="3429"/>
                    <a:pt x="1508" y="8438"/>
                  </a:cubicBezTo>
                  <a:cubicBezTo>
                    <a:pt x="0" y="13447"/>
                    <a:pt x="1955" y="18853"/>
                    <a:pt x="6317" y="21740"/>
                  </a:cubicBezTo>
                  <a:lnTo>
                    <a:pt x="143819" y="112739"/>
                  </a:lnTo>
                  <a:cubicBezTo>
                    <a:pt x="165244" y="126918"/>
                    <a:pt x="190367" y="134478"/>
                    <a:pt x="216059" y="134478"/>
                  </a:cubicBezTo>
                  <a:lnTo>
                    <a:pt x="746877" y="134478"/>
                  </a:lnTo>
                  <a:cubicBezTo>
                    <a:pt x="752108" y="134478"/>
                    <a:pt x="756721" y="131049"/>
                    <a:pt x="758228" y="126040"/>
                  </a:cubicBezTo>
                  <a:cubicBezTo>
                    <a:pt x="759736" y="121031"/>
                    <a:pt x="757781" y="115626"/>
                    <a:pt x="753419" y="112739"/>
                  </a:cubicBezTo>
                  <a:lnTo>
                    <a:pt x="615917" y="21740"/>
                  </a:lnTo>
                  <a:cubicBezTo>
                    <a:pt x="594492" y="7561"/>
                    <a:pt x="569369" y="0"/>
                    <a:pt x="543677" y="0"/>
                  </a:cubicBezTo>
                  <a:close/>
                </a:path>
              </a:pathLst>
            </a:custGeom>
            <a:solidFill>
              <a:srgbClr val="64CAF4"/>
            </a:solidFill>
          </p:spPr>
          <p:txBody>
            <a:bodyPr/>
            <a:lstStyle/>
            <a:p>
              <a:endParaRPr lang="en-US"/>
            </a:p>
          </p:txBody>
        </p:sp>
        <p:sp>
          <p:nvSpPr>
            <p:cNvPr id="23" name="TextBox 23">
              <a:extLst>
                <a:ext uri="{FF2B5EF4-FFF2-40B4-BE49-F238E27FC236}">
                  <a16:creationId xmlns:a16="http://schemas.microsoft.com/office/drawing/2014/main" id="{BBEF1D55-DCEF-4F4C-E2B6-7F03C6AE366E}"/>
                </a:ext>
              </a:extLst>
            </p:cNvPr>
            <p:cNvSpPr txBox="1"/>
            <p:nvPr/>
          </p:nvSpPr>
          <p:spPr>
            <a:xfrm>
              <a:off x="101600" y="19050"/>
              <a:ext cx="609600" cy="115428"/>
            </a:xfrm>
            <a:prstGeom prst="rect">
              <a:avLst/>
            </a:prstGeom>
          </p:spPr>
          <p:txBody>
            <a:bodyPr lIns="83282" tIns="83282" rIns="83282" bIns="83282" rtlCol="0" anchor="ctr"/>
            <a:lstStyle/>
            <a:p>
              <a:pPr algn="ctr">
                <a:lnSpc>
                  <a:spcPts val="1993"/>
                </a:lnSpc>
              </a:pPr>
              <a:endParaRPr/>
            </a:p>
          </p:txBody>
        </p:sp>
      </p:grpSp>
    </p:spTree>
    <p:extLst>
      <p:ext uri="{BB962C8B-B14F-4D97-AF65-F5344CB8AC3E}">
        <p14:creationId xmlns:p14="http://schemas.microsoft.com/office/powerpoint/2010/main" val="34255379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flipH="1" flipV="1">
            <a:off x="1028700" y="2601877"/>
            <a:ext cx="3917864" cy="1894821"/>
          </a:xfrm>
          <a:custGeom>
            <a:avLst/>
            <a:gdLst/>
            <a:ahLst/>
            <a:cxnLst/>
            <a:rect l="l" t="t" r="r" b="b"/>
            <a:pathLst>
              <a:path w="3917864" h="1894821">
                <a:moveTo>
                  <a:pt x="3917864" y="1894821"/>
                </a:moveTo>
                <a:lnTo>
                  <a:pt x="0" y="1894821"/>
                </a:lnTo>
                <a:lnTo>
                  <a:pt x="0" y="0"/>
                </a:lnTo>
                <a:lnTo>
                  <a:pt x="3917864" y="0"/>
                </a:lnTo>
                <a:lnTo>
                  <a:pt x="3917864" y="189482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flipV="1">
            <a:off x="5283122" y="4992060"/>
            <a:ext cx="3917864" cy="1894821"/>
          </a:xfrm>
          <a:custGeom>
            <a:avLst/>
            <a:gdLst/>
            <a:ahLst/>
            <a:cxnLst/>
            <a:rect l="l" t="t" r="r" b="b"/>
            <a:pathLst>
              <a:path w="3917864" h="1894821">
                <a:moveTo>
                  <a:pt x="3917864" y="1894822"/>
                </a:moveTo>
                <a:lnTo>
                  <a:pt x="0" y="1894822"/>
                </a:lnTo>
                <a:lnTo>
                  <a:pt x="0" y="0"/>
                </a:lnTo>
                <a:lnTo>
                  <a:pt x="3917864" y="0"/>
                </a:lnTo>
                <a:lnTo>
                  <a:pt x="3917864" y="189482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flipV="1">
            <a:off x="9087014" y="2688875"/>
            <a:ext cx="3917864" cy="1894821"/>
          </a:xfrm>
          <a:custGeom>
            <a:avLst/>
            <a:gdLst/>
            <a:ahLst/>
            <a:cxnLst/>
            <a:rect l="l" t="t" r="r" b="b"/>
            <a:pathLst>
              <a:path w="3917864" h="1894821">
                <a:moveTo>
                  <a:pt x="3917864" y="1894821"/>
                </a:moveTo>
                <a:lnTo>
                  <a:pt x="0" y="1894821"/>
                </a:lnTo>
                <a:lnTo>
                  <a:pt x="0" y="0"/>
                </a:lnTo>
                <a:lnTo>
                  <a:pt x="3917864" y="0"/>
                </a:lnTo>
                <a:lnTo>
                  <a:pt x="3917864" y="189482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Freeform 5"/>
          <p:cNvSpPr/>
          <p:nvPr/>
        </p:nvSpPr>
        <p:spPr>
          <a:xfrm flipH="1" flipV="1">
            <a:off x="13341436" y="4987325"/>
            <a:ext cx="3917864" cy="1894821"/>
          </a:xfrm>
          <a:custGeom>
            <a:avLst/>
            <a:gdLst/>
            <a:ahLst/>
            <a:cxnLst/>
            <a:rect l="l" t="t" r="r" b="b"/>
            <a:pathLst>
              <a:path w="3917864" h="1894821">
                <a:moveTo>
                  <a:pt x="3917864" y="1894821"/>
                </a:moveTo>
                <a:lnTo>
                  <a:pt x="0" y="1894821"/>
                </a:lnTo>
                <a:lnTo>
                  <a:pt x="0" y="0"/>
                </a:lnTo>
                <a:lnTo>
                  <a:pt x="3917864" y="0"/>
                </a:lnTo>
                <a:lnTo>
                  <a:pt x="3917864" y="189482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461333" y="3051113"/>
            <a:ext cx="913458" cy="920150"/>
          </a:xfrm>
          <a:custGeom>
            <a:avLst/>
            <a:gdLst/>
            <a:ahLst/>
            <a:cxnLst/>
            <a:rect l="l" t="t" r="r" b="b"/>
            <a:pathLst>
              <a:path w="913458" h="920150">
                <a:moveTo>
                  <a:pt x="0" y="0"/>
                </a:moveTo>
                <a:lnTo>
                  <a:pt x="913457" y="0"/>
                </a:lnTo>
                <a:lnTo>
                  <a:pt x="913457" y="920149"/>
                </a:lnTo>
                <a:lnTo>
                  <a:pt x="0" y="9201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5784031" y="5437100"/>
            <a:ext cx="812053" cy="928543"/>
          </a:xfrm>
          <a:custGeom>
            <a:avLst/>
            <a:gdLst/>
            <a:ahLst/>
            <a:cxnLst/>
            <a:rect l="l" t="t" r="r" b="b"/>
            <a:pathLst>
              <a:path w="812053" h="928543">
                <a:moveTo>
                  <a:pt x="0" y="0"/>
                </a:moveTo>
                <a:lnTo>
                  <a:pt x="812053" y="0"/>
                </a:lnTo>
                <a:lnTo>
                  <a:pt x="812053" y="928542"/>
                </a:lnTo>
                <a:lnTo>
                  <a:pt x="0" y="92854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a:off x="9523268" y="3138111"/>
            <a:ext cx="920150" cy="920150"/>
          </a:xfrm>
          <a:custGeom>
            <a:avLst/>
            <a:gdLst/>
            <a:ahLst/>
            <a:cxnLst/>
            <a:rect l="l" t="t" r="r" b="b"/>
            <a:pathLst>
              <a:path w="920150" h="920150">
                <a:moveTo>
                  <a:pt x="0" y="0"/>
                </a:moveTo>
                <a:lnTo>
                  <a:pt x="920149" y="0"/>
                </a:lnTo>
                <a:lnTo>
                  <a:pt x="920149" y="920150"/>
                </a:lnTo>
                <a:lnTo>
                  <a:pt x="0" y="9201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9" name="Freeform 9"/>
          <p:cNvSpPr/>
          <p:nvPr/>
        </p:nvSpPr>
        <p:spPr>
          <a:xfrm>
            <a:off x="13856655" y="5470464"/>
            <a:ext cx="847542" cy="850635"/>
          </a:xfrm>
          <a:custGeom>
            <a:avLst/>
            <a:gdLst/>
            <a:ahLst/>
            <a:cxnLst/>
            <a:rect l="l" t="t" r="r" b="b"/>
            <a:pathLst>
              <a:path w="847542" h="850635">
                <a:moveTo>
                  <a:pt x="0" y="0"/>
                </a:moveTo>
                <a:lnTo>
                  <a:pt x="847542" y="0"/>
                </a:lnTo>
                <a:lnTo>
                  <a:pt x="847542" y="850636"/>
                </a:lnTo>
                <a:lnTo>
                  <a:pt x="0" y="85063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0" name="TextBox 10"/>
          <p:cNvSpPr txBox="1"/>
          <p:nvPr/>
        </p:nvSpPr>
        <p:spPr>
          <a:xfrm>
            <a:off x="5283122" y="866775"/>
            <a:ext cx="7721756" cy="1377949"/>
          </a:xfrm>
          <a:prstGeom prst="rect">
            <a:avLst/>
          </a:prstGeom>
        </p:spPr>
        <p:txBody>
          <a:bodyPr lIns="0" tIns="0" rIns="0" bIns="0" rtlCol="0" anchor="t">
            <a:spAutoFit/>
          </a:bodyPr>
          <a:lstStyle/>
          <a:p>
            <a:pPr algn="ctr">
              <a:lnSpc>
                <a:spcPts val="11200"/>
              </a:lnSpc>
            </a:pPr>
            <a:r>
              <a:rPr lang="en-US" sz="8000" b="1">
                <a:solidFill>
                  <a:srgbClr val="56AAF0"/>
                </a:solidFill>
                <a:latin typeface="Dynamo Medium"/>
                <a:ea typeface="Dynamo Medium"/>
                <a:cs typeface="Dynamo Medium"/>
                <a:sym typeface="Dynamo Medium"/>
              </a:rPr>
              <a:t>OUR SERVICE</a:t>
            </a:r>
          </a:p>
        </p:txBody>
      </p:sp>
      <p:sp>
        <p:nvSpPr>
          <p:cNvPr id="11" name="TextBox 11"/>
          <p:cNvSpPr txBox="1"/>
          <p:nvPr/>
        </p:nvSpPr>
        <p:spPr>
          <a:xfrm>
            <a:off x="2468454" y="3587387"/>
            <a:ext cx="2363810" cy="494276"/>
          </a:xfrm>
          <a:prstGeom prst="rect">
            <a:avLst/>
          </a:prstGeom>
        </p:spPr>
        <p:txBody>
          <a:bodyPr lIns="0" tIns="0" rIns="0" bIns="0" rtlCol="0" anchor="t">
            <a:spAutoFit/>
          </a:bodyPr>
          <a:lstStyle/>
          <a:p>
            <a:pPr algn="ctr">
              <a:lnSpc>
                <a:spcPts val="4032"/>
              </a:lnSpc>
            </a:pPr>
            <a:r>
              <a:rPr lang="en-US" sz="2880" spc="144">
                <a:solidFill>
                  <a:srgbClr val="FCFEFF"/>
                </a:solidFill>
                <a:latin typeface="Dynamo Medium"/>
                <a:ea typeface="Dynamo Medium"/>
                <a:cs typeface="Dynamo Medium"/>
                <a:sym typeface="Dynamo Medium"/>
              </a:rPr>
              <a:t>SERVICE 01</a:t>
            </a:r>
          </a:p>
        </p:txBody>
      </p:sp>
      <p:sp>
        <p:nvSpPr>
          <p:cNvPr id="12" name="TextBox 12"/>
          <p:cNvSpPr txBox="1"/>
          <p:nvPr/>
        </p:nvSpPr>
        <p:spPr>
          <a:xfrm>
            <a:off x="6770501" y="6001380"/>
            <a:ext cx="2363810" cy="494276"/>
          </a:xfrm>
          <a:prstGeom prst="rect">
            <a:avLst/>
          </a:prstGeom>
        </p:spPr>
        <p:txBody>
          <a:bodyPr lIns="0" tIns="0" rIns="0" bIns="0" rtlCol="0" anchor="t">
            <a:spAutoFit/>
          </a:bodyPr>
          <a:lstStyle/>
          <a:p>
            <a:pPr algn="ctr">
              <a:lnSpc>
                <a:spcPts val="4032"/>
              </a:lnSpc>
            </a:pPr>
            <a:r>
              <a:rPr lang="en-US" sz="2880" spc="144">
                <a:solidFill>
                  <a:srgbClr val="FCFEFF"/>
                </a:solidFill>
                <a:latin typeface="Dynamo Medium"/>
                <a:ea typeface="Dynamo Medium"/>
                <a:cs typeface="Dynamo Medium"/>
                <a:sym typeface="Dynamo Medium"/>
              </a:rPr>
              <a:t>SERVICE 02</a:t>
            </a:r>
          </a:p>
        </p:txBody>
      </p:sp>
      <p:sp>
        <p:nvSpPr>
          <p:cNvPr id="13" name="TextBox 13"/>
          <p:cNvSpPr txBox="1"/>
          <p:nvPr/>
        </p:nvSpPr>
        <p:spPr>
          <a:xfrm>
            <a:off x="10571177" y="3674386"/>
            <a:ext cx="2363810" cy="494276"/>
          </a:xfrm>
          <a:prstGeom prst="rect">
            <a:avLst/>
          </a:prstGeom>
        </p:spPr>
        <p:txBody>
          <a:bodyPr lIns="0" tIns="0" rIns="0" bIns="0" rtlCol="0" anchor="t">
            <a:spAutoFit/>
          </a:bodyPr>
          <a:lstStyle/>
          <a:p>
            <a:pPr algn="ctr">
              <a:lnSpc>
                <a:spcPts val="4032"/>
              </a:lnSpc>
            </a:pPr>
            <a:r>
              <a:rPr lang="en-US" sz="2880" spc="144">
                <a:solidFill>
                  <a:srgbClr val="FCFEFF"/>
                </a:solidFill>
                <a:latin typeface="Dynamo Medium"/>
                <a:ea typeface="Dynamo Medium"/>
                <a:cs typeface="Dynamo Medium"/>
                <a:sym typeface="Dynamo Medium"/>
              </a:rPr>
              <a:t>SERVICE 03</a:t>
            </a:r>
          </a:p>
        </p:txBody>
      </p:sp>
      <p:sp>
        <p:nvSpPr>
          <p:cNvPr id="14" name="TextBox 14"/>
          <p:cNvSpPr txBox="1"/>
          <p:nvPr/>
        </p:nvSpPr>
        <p:spPr>
          <a:xfrm>
            <a:off x="14895490" y="5925211"/>
            <a:ext cx="2176712" cy="494276"/>
          </a:xfrm>
          <a:prstGeom prst="rect">
            <a:avLst/>
          </a:prstGeom>
        </p:spPr>
        <p:txBody>
          <a:bodyPr lIns="0" tIns="0" rIns="0" bIns="0" rtlCol="0" anchor="t">
            <a:spAutoFit/>
          </a:bodyPr>
          <a:lstStyle/>
          <a:p>
            <a:pPr algn="ctr">
              <a:lnSpc>
                <a:spcPts val="4032"/>
              </a:lnSpc>
            </a:pPr>
            <a:r>
              <a:rPr lang="en-US" sz="2880" spc="144">
                <a:solidFill>
                  <a:srgbClr val="FCFEFF"/>
                </a:solidFill>
                <a:latin typeface="Dynamo Medium"/>
                <a:ea typeface="Dynamo Medium"/>
                <a:cs typeface="Dynamo Medium"/>
                <a:sym typeface="Dynamo Medium"/>
              </a:rPr>
              <a:t>SERVICE 04</a:t>
            </a:r>
          </a:p>
        </p:txBody>
      </p:sp>
      <p:sp>
        <p:nvSpPr>
          <p:cNvPr id="15" name="TextBox 15"/>
          <p:cNvSpPr txBox="1"/>
          <p:nvPr/>
        </p:nvSpPr>
        <p:spPr>
          <a:xfrm>
            <a:off x="2137527" y="4770771"/>
            <a:ext cx="2618537" cy="2111375"/>
          </a:xfrm>
          <a:prstGeom prst="rect">
            <a:avLst/>
          </a:prstGeom>
        </p:spPr>
        <p:txBody>
          <a:bodyPr lIns="0" tIns="0" rIns="0" bIns="0" rtlCol="0" anchor="t">
            <a:spAutoFit/>
          </a:bodyPr>
          <a:lstStyle/>
          <a:p>
            <a:pPr algn="l">
              <a:lnSpc>
                <a:spcPts val="2800"/>
              </a:lnSpc>
            </a:pPr>
            <a:r>
              <a:rPr lang="en-US" sz="2000" spc="8">
                <a:solidFill>
                  <a:srgbClr val="3275C5"/>
                </a:solidFill>
                <a:latin typeface="Source Sans Pro"/>
                <a:ea typeface="Source Sans Pro"/>
                <a:cs typeface="Source Sans Pro"/>
                <a:sym typeface="Source Sans Pro"/>
              </a:rPr>
              <a:t>Lorem ipsum dolor sit amet, consectetur adipiscing elit, sed do eiusmod tempor incididunt ut labore et dolore magna aliqua.</a:t>
            </a:r>
          </a:p>
        </p:txBody>
      </p:sp>
      <p:sp>
        <p:nvSpPr>
          <p:cNvPr id="16" name="TextBox 16"/>
          <p:cNvSpPr txBox="1"/>
          <p:nvPr/>
        </p:nvSpPr>
        <p:spPr>
          <a:xfrm>
            <a:off x="6334368" y="7151660"/>
            <a:ext cx="2618537" cy="2111375"/>
          </a:xfrm>
          <a:prstGeom prst="rect">
            <a:avLst/>
          </a:prstGeom>
        </p:spPr>
        <p:txBody>
          <a:bodyPr lIns="0" tIns="0" rIns="0" bIns="0" rtlCol="0" anchor="t">
            <a:spAutoFit/>
          </a:bodyPr>
          <a:lstStyle/>
          <a:p>
            <a:pPr algn="l">
              <a:lnSpc>
                <a:spcPts val="2800"/>
              </a:lnSpc>
            </a:pPr>
            <a:r>
              <a:rPr lang="en-US" sz="2000" spc="8">
                <a:solidFill>
                  <a:srgbClr val="3275C5"/>
                </a:solidFill>
                <a:latin typeface="Source Sans Pro"/>
                <a:ea typeface="Source Sans Pro"/>
                <a:cs typeface="Source Sans Pro"/>
                <a:sym typeface="Source Sans Pro"/>
              </a:rPr>
              <a:t>Lorem ipsum dolor sit amet, consectetur adipiscing elit, sed do eiusmod tempor incididunt ut labore et dolore magna aliqua.</a:t>
            </a:r>
          </a:p>
        </p:txBody>
      </p:sp>
      <p:sp>
        <p:nvSpPr>
          <p:cNvPr id="17" name="TextBox 17"/>
          <p:cNvSpPr txBox="1"/>
          <p:nvPr/>
        </p:nvSpPr>
        <p:spPr>
          <a:xfrm>
            <a:off x="14498216" y="7146925"/>
            <a:ext cx="2618537" cy="2111375"/>
          </a:xfrm>
          <a:prstGeom prst="rect">
            <a:avLst/>
          </a:prstGeom>
        </p:spPr>
        <p:txBody>
          <a:bodyPr lIns="0" tIns="0" rIns="0" bIns="0" rtlCol="0" anchor="t">
            <a:spAutoFit/>
          </a:bodyPr>
          <a:lstStyle/>
          <a:p>
            <a:pPr algn="l">
              <a:lnSpc>
                <a:spcPts val="2800"/>
              </a:lnSpc>
            </a:pPr>
            <a:r>
              <a:rPr lang="en-US" sz="2000" spc="8">
                <a:solidFill>
                  <a:srgbClr val="3275C5"/>
                </a:solidFill>
                <a:latin typeface="Source Sans Pro"/>
                <a:ea typeface="Source Sans Pro"/>
                <a:cs typeface="Source Sans Pro"/>
                <a:sym typeface="Source Sans Pro"/>
              </a:rPr>
              <a:t>Lorem ipsum dolor sit amet, consectetur adipiscing elit, sed do eiusmod tempor incididunt ut labore et dolore magna aliqua.</a:t>
            </a:r>
          </a:p>
        </p:txBody>
      </p:sp>
      <p:sp>
        <p:nvSpPr>
          <p:cNvPr id="18" name="TextBox 18"/>
          <p:cNvSpPr txBox="1"/>
          <p:nvPr/>
        </p:nvSpPr>
        <p:spPr>
          <a:xfrm>
            <a:off x="10162566" y="4836543"/>
            <a:ext cx="2618537" cy="2111375"/>
          </a:xfrm>
          <a:prstGeom prst="rect">
            <a:avLst/>
          </a:prstGeom>
        </p:spPr>
        <p:txBody>
          <a:bodyPr lIns="0" tIns="0" rIns="0" bIns="0" rtlCol="0" anchor="t">
            <a:spAutoFit/>
          </a:bodyPr>
          <a:lstStyle/>
          <a:p>
            <a:pPr algn="l">
              <a:lnSpc>
                <a:spcPts val="2800"/>
              </a:lnSpc>
            </a:pPr>
            <a:r>
              <a:rPr lang="en-US" sz="2000" spc="8">
                <a:solidFill>
                  <a:srgbClr val="3275C5"/>
                </a:solidFill>
                <a:latin typeface="Source Sans Pro"/>
                <a:ea typeface="Source Sans Pro"/>
                <a:cs typeface="Source Sans Pro"/>
                <a:sym typeface="Source Sans Pro"/>
              </a:rPr>
              <a:t>Lorem ipsum dolor sit amet, consectetur adipiscing elit, sed do eiusmod tempor incididunt ut labore et dolore magna aliqua.</a:t>
            </a:r>
          </a:p>
        </p:txBody>
      </p:sp>
      <p:sp>
        <p:nvSpPr>
          <p:cNvPr id="19" name="Freeform 19"/>
          <p:cNvSpPr/>
          <p:nvPr/>
        </p:nvSpPr>
        <p:spPr>
          <a:xfrm rot="3213757" flipH="1">
            <a:off x="10991940" y="987080"/>
            <a:ext cx="12716270" cy="6635581"/>
          </a:xfrm>
          <a:custGeom>
            <a:avLst/>
            <a:gdLst/>
            <a:ahLst/>
            <a:cxnLst/>
            <a:rect l="l" t="t" r="r" b="b"/>
            <a:pathLst>
              <a:path w="12716270" h="6635581">
                <a:moveTo>
                  <a:pt x="12716270" y="0"/>
                </a:moveTo>
                <a:lnTo>
                  <a:pt x="0" y="0"/>
                </a:lnTo>
                <a:lnTo>
                  <a:pt x="0" y="6635581"/>
                </a:lnTo>
                <a:lnTo>
                  <a:pt x="12716270" y="6635581"/>
                </a:lnTo>
                <a:lnTo>
                  <a:pt x="12716270" y="0"/>
                </a:lnTo>
                <a:close/>
              </a:path>
            </a:pathLst>
          </a:custGeom>
          <a:blipFill>
            <a:blip r:embed="rId12">
              <a:alphaModFix amt="87000"/>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US"/>
          </a:p>
        </p:txBody>
      </p:sp>
      <p:sp>
        <p:nvSpPr>
          <p:cNvPr id="20" name="Freeform 20"/>
          <p:cNvSpPr/>
          <p:nvPr/>
        </p:nvSpPr>
        <p:spPr>
          <a:xfrm rot="3213757" flipV="1">
            <a:off x="-5420210" y="2664339"/>
            <a:ext cx="12716270" cy="6635581"/>
          </a:xfrm>
          <a:custGeom>
            <a:avLst/>
            <a:gdLst/>
            <a:ahLst/>
            <a:cxnLst/>
            <a:rect l="l" t="t" r="r" b="b"/>
            <a:pathLst>
              <a:path w="12716270" h="6635581">
                <a:moveTo>
                  <a:pt x="0" y="6635581"/>
                </a:moveTo>
                <a:lnTo>
                  <a:pt x="12716270" y="6635581"/>
                </a:lnTo>
                <a:lnTo>
                  <a:pt x="12716270" y="0"/>
                </a:lnTo>
                <a:lnTo>
                  <a:pt x="0" y="0"/>
                </a:lnTo>
                <a:lnTo>
                  <a:pt x="0" y="6635581"/>
                </a:lnTo>
                <a:close/>
              </a:path>
            </a:pathLst>
          </a:custGeom>
          <a:blipFill>
            <a:blip r:embed="rId12">
              <a:alphaModFix amt="87000"/>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rot="5400000">
            <a:off x="-4751090" y="1897973"/>
            <a:ext cx="10511830" cy="6491055"/>
          </a:xfrm>
          <a:custGeom>
            <a:avLst/>
            <a:gdLst/>
            <a:ahLst/>
            <a:cxnLst/>
            <a:rect l="l" t="t" r="r" b="b"/>
            <a:pathLst>
              <a:path w="10511830" h="6491055">
                <a:moveTo>
                  <a:pt x="0" y="0"/>
                </a:moveTo>
                <a:lnTo>
                  <a:pt x="10511830" y="0"/>
                </a:lnTo>
                <a:lnTo>
                  <a:pt x="10511830" y="6491054"/>
                </a:lnTo>
                <a:lnTo>
                  <a:pt x="0" y="6491054"/>
                </a:lnTo>
                <a:lnTo>
                  <a:pt x="0" y="0"/>
                </a:lnTo>
                <a:close/>
              </a:path>
            </a:pathLst>
          </a:custGeom>
          <a:blipFill>
            <a:blip r:embed="rId2"/>
            <a:stretch>
              <a:fillRect/>
            </a:stretch>
          </a:blipFill>
        </p:spPr>
        <p:txBody>
          <a:bodyPr/>
          <a:lstStyle/>
          <a:p>
            <a:endParaRPr lang="en-US"/>
          </a:p>
        </p:txBody>
      </p:sp>
      <p:grpSp>
        <p:nvGrpSpPr>
          <p:cNvPr id="3" name="Group 3"/>
          <p:cNvGrpSpPr>
            <a:grpSpLocks noChangeAspect="1"/>
          </p:cNvGrpSpPr>
          <p:nvPr/>
        </p:nvGrpSpPr>
        <p:grpSpPr>
          <a:xfrm>
            <a:off x="11497275" y="3669923"/>
            <a:ext cx="5762025" cy="4626279"/>
            <a:chOff x="0" y="0"/>
            <a:chExt cx="7467600" cy="5995670"/>
          </a:xfrm>
        </p:grpSpPr>
        <p:sp>
          <p:nvSpPr>
            <p:cNvPr id="4" name="Freeform 4"/>
            <p:cNvSpPr/>
            <p:nvPr/>
          </p:nvSpPr>
          <p:spPr>
            <a:xfrm>
              <a:off x="0" y="0"/>
              <a:ext cx="7467600" cy="4513580"/>
            </a:xfrm>
            <a:custGeom>
              <a:avLst/>
              <a:gdLst/>
              <a:ahLst/>
              <a:cxnLst/>
              <a:rect l="l" t="t" r="r" b="b"/>
              <a:pathLst>
                <a:path w="7467600" h="451358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txBody>
            <a:bodyPr/>
            <a:lstStyle/>
            <a:p>
              <a:endParaRPr lang="en-US"/>
            </a:p>
          </p:txBody>
        </p:sp>
        <p:sp>
          <p:nvSpPr>
            <p:cNvPr id="5" name="Freeform 5"/>
            <p:cNvSpPr/>
            <p:nvPr/>
          </p:nvSpPr>
          <p:spPr>
            <a:xfrm>
              <a:off x="0" y="4514850"/>
              <a:ext cx="7467600" cy="695960"/>
            </a:xfrm>
            <a:custGeom>
              <a:avLst/>
              <a:gdLst/>
              <a:ahLst/>
              <a:cxnLst/>
              <a:rect l="l" t="t" r="r" b="b"/>
              <a:pathLst>
                <a:path w="7467600" h="69596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txBody>
            <a:bodyPr/>
            <a:lstStyle/>
            <a:p>
              <a:endParaRPr lang="en-US"/>
            </a:p>
          </p:txBody>
        </p:sp>
        <p:sp>
          <p:nvSpPr>
            <p:cNvPr id="6" name="Freeform 6"/>
            <p:cNvSpPr/>
            <p:nvPr/>
          </p:nvSpPr>
          <p:spPr>
            <a:xfrm>
              <a:off x="2429510" y="5210810"/>
              <a:ext cx="2606040" cy="791210"/>
            </a:xfrm>
            <a:custGeom>
              <a:avLst/>
              <a:gdLst/>
              <a:ahLst/>
              <a:cxnLst/>
              <a:rect l="l" t="t" r="r" b="b"/>
              <a:pathLst>
                <a:path w="2606040" h="79121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BBBBBB"/>
            </a:solidFill>
          </p:spPr>
          <p:txBody>
            <a:bodyPr/>
            <a:lstStyle/>
            <a:p>
              <a:endParaRPr lang="en-US"/>
            </a:p>
          </p:txBody>
        </p:sp>
        <p:sp>
          <p:nvSpPr>
            <p:cNvPr id="7" name="Freeform 7"/>
            <p:cNvSpPr/>
            <p:nvPr/>
          </p:nvSpPr>
          <p:spPr>
            <a:xfrm>
              <a:off x="314960" y="353060"/>
              <a:ext cx="6827520" cy="3835400"/>
            </a:xfrm>
            <a:custGeom>
              <a:avLst/>
              <a:gdLst/>
              <a:ahLst/>
              <a:cxnLst/>
              <a:rect l="l" t="t" r="r" b="b"/>
              <a:pathLst>
                <a:path w="6827520" h="3835400">
                  <a:moveTo>
                    <a:pt x="0" y="0"/>
                  </a:moveTo>
                  <a:lnTo>
                    <a:pt x="6827520" y="0"/>
                  </a:lnTo>
                  <a:lnTo>
                    <a:pt x="6827520" y="3835400"/>
                  </a:lnTo>
                  <a:lnTo>
                    <a:pt x="0" y="3835400"/>
                  </a:lnTo>
                  <a:close/>
                </a:path>
              </a:pathLst>
            </a:custGeom>
            <a:blipFill>
              <a:blip r:embed="rId3"/>
              <a:stretch>
                <a:fillRect t="-733" b="-733"/>
              </a:stretch>
            </a:blipFill>
          </p:spPr>
          <p:txBody>
            <a:bodyPr/>
            <a:lstStyle/>
            <a:p>
              <a:endParaRPr lang="en-US"/>
            </a:p>
          </p:txBody>
        </p:sp>
      </p:grpSp>
      <p:grpSp>
        <p:nvGrpSpPr>
          <p:cNvPr id="8" name="Group 8"/>
          <p:cNvGrpSpPr/>
          <p:nvPr/>
        </p:nvGrpSpPr>
        <p:grpSpPr>
          <a:xfrm>
            <a:off x="4983780" y="1990798"/>
            <a:ext cx="6114567" cy="6305404"/>
            <a:chOff x="0" y="0"/>
            <a:chExt cx="8152755" cy="8407206"/>
          </a:xfrm>
        </p:grpSpPr>
        <p:sp>
          <p:nvSpPr>
            <p:cNvPr id="9" name="TextBox 9"/>
            <p:cNvSpPr txBox="1"/>
            <p:nvPr/>
          </p:nvSpPr>
          <p:spPr>
            <a:xfrm>
              <a:off x="0" y="-161925"/>
              <a:ext cx="8152755" cy="1783291"/>
            </a:xfrm>
            <a:prstGeom prst="rect">
              <a:avLst/>
            </a:prstGeom>
          </p:spPr>
          <p:txBody>
            <a:bodyPr lIns="0" tIns="0" rIns="0" bIns="0" rtlCol="0" anchor="t">
              <a:spAutoFit/>
            </a:bodyPr>
            <a:lstStyle/>
            <a:p>
              <a:pPr algn="l">
                <a:lnSpc>
                  <a:spcPts val="11200"/>
                </a:lnSpc>
              </a:pPr>
              <a:r>
                <a:rPr lang="en-US" sz="8000" b="1">
                  <a:solidFill>
                    <a:srgbClr val="56AAF0"/>
                  </a:solidFill>
                  <a:latin typeface="Dynamo Medium"/>
                  <a:ea typeface="Dynamo Medium"/>
                  <a:cs typeface="Dynamo Medium"/>
                  <a:sym typeface="Dynamo Medium"/>
                </a:rPr>
                <a:t>OUR PROJECT</a:t>
              </a:r>
            </a:p>
          </p:txBody>
        </p:sp>
        <p:sp>
          <p:nvSpPr>
            <p:cNvPr id="10" name="TextBox 10"/>
            <p:cNvSpPr txBox="1"/>
            <p:nvPr/>
          </p:nvSpPr>
          <p:spPr>
            <a:xfrm>
              <a:off x="0" y="2060381"/>
              <a:ext cx="7001989" cy="6346825"/>
            </a:xfrm>
            <a:prstGeom prst="rect">
              <a:avLst/>
            </a:prstGeom>
          </p:spPr>
          <p:txBody>
            <a:bodyPr lIns="0" tIns="0" rIns="0" bIns="0" rtlCol="0" anchor="t">
              <a:spAutoFit/>
            </a:bodyPr>
            <a:lstStyle/>
            <a:p>
              <a:pPr algn="l">
                <a:lnSpc>
                  <a:spcPts val="4199"/>
                </a:lnSpc>
              </a:pPr>
              <a:r>
                <a:rPr lang="en-US" sz="2999" spc="11">
                  <a:solidFill>
                    <a:srgbClr val="3275C5"/>
                  </a:solidFill>
                  <a:latin typeface="Source Sans Pro"/>
                  <a:ea typeface="Source Sans Pro"/>
                  <a:cs typeface="Source Sans Pro"/>
                  <a:sym typeface="Source Sans Pro"/>
                </a:rPr>
                <a:t>Lorem ipsum dolor sit amet, consectetur adipiscing elit, sed do eiusmod tempor incididunt ut labore et dolore magna aliqua. Ut enim ad minim veniam, quis nostrud exercitation ullamco laboris nisi ut aliquip ex ea commodo consequat. </a:t>
              </a:r>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a:off x="6529537" y="3703305"/>
            <a:ext cx="4611146" cy="4611146"/>
          </a:xfrm>
          <a:custGeom>
            <a:avLst/>
            <a:gdLst/>
            <a:ahLst/>
            <a:cxnLst/>
            <a:rect l="l" t="t" r="r" b="b"/>
            <a:pathLst>
              <a:path w="4611146" h="4611146">
                <a:moveTo>
                  <a:pt x="0" y="0"/>
                </a:moveTo>
                <a:lnTo>
                  <a:pt x="4611146" y="0"/>
                </a:lnTo>
                <a:lnTo>
                  <a:pt x="4611146" y="4611146"/>
                </a:lnTo>
                <a:lnTo>
                  <a:pt x="0" y="46111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1140683" y="2062665"/>
            <a:ext cx="608012" cy="6080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275C5"/>
            </a:solidFill>
          </p:spPr>
          <p:txBody>
            <a:bodyPr/>
            <a:lstStyle/>
            <a:p>
              <a:endParaRPr lang="en-US"/>
            </a:p>
          </p:txBody>
        </p:sp>
        <p:sp>
          <p:nvSpPr>
            <p:cNvPr id="5" name="TextBox 5"/>
            <p:cNvSpPr txBox="1"/>
            <p:nvPr/>
          </p:nvSpPr>
          <p:spPr>
            <a:xfrm>
              <a:off x="76200" y="95250"/>
              <a:ext cx="660400" cy="641350"/>
            </a:xfrm>
            <a:prstGeom prst="rect">
              <a:avLst/>
            </a:prstGeom>
          </p:spPr>
          <p:txBody>
            <a:bodyPr lIns="50800" tIns="50800" rIns="50800" bIns="50800" rtlCol="0" anchor="ctr"/>
            <a:lstStyle/>
            <a:p>
              <a:pPr algn="ctr">
                <a:lnSpc>
                  <a:spcPts val="1993"/>
                </a:lnSpc>
              </a:pPr>
              <a:endParaRPr/>
            </a:p>
          </p:txBody>
        </p:sp>
      </p:grpSp>
      <p:grpSp>
        <p:nvGrpSpPr>
          <p:cNvPr id="6" name="Group 6"/>
          <p:cNvGrpSpPr/>
          <p:nvPr/>
        </p:nvGrpSpPr>
        <p:grpSpPr>
          <a:xfrm>
            <a:off x="13208173" y="2062665"/>
            <a:ext cx="608012" cy="6080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AAF0"/>
            </a:solidFill>
          </p:spPr>
          <p:txBody>
            <a:bodyPr/>
            <a:lstStyle/>
            <a:p>
              <a:endParaRPr lang="en-US"/>
            </a:p>
          </p:txBody>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1993"/>
                </a:lnSpc>
              </a:pPr>
              <a:endParaRPr/>
            </a:p>
          </p:txBody>
        </p:sp>
      </p:grpSp>
      <p:grpSp>
        <p:nvGrpSpPr>
          <p:cNvPr id="9" name="Group 9"/>
          <p:cNvGrpSpPr/>
          <p:nvPr/>
        </p:nvGrpSpPr>
        <p:grpSpPr>
          <a:xfrm>
            <a:off x="15108770" y="2062665"/>
            <a:ext cx="608012" cy="6080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CAF4"/>
            </a:solidFill>
          </p:spPr>
          <p:txBody>
            <a:bodyPr/>
            <a:lstStyle/>
            <a:p>
              <a:endParaRPr lang="en-US"/>
            </a:p>
          </p:txBody>
        </p:sp>
        <p:sp>
          <p:nvSpPr>
            <p:cNvPr id="11" name="TextBox 11"/>
            <p:cNvSpPr txBox="1"/>
            <p:nvPr/>
          </p:nvSpPr>
          <p:spPr>
            <a:xfrm>
              <a:off x="76200" y="95250"/>
              <a:ext cx="660400" cy="641350"/>
            </a:xfrm>
            <a:prstGeom prst="rect">
              <a:avLst/>
            </a:prstGeom>
          </p:spPr>
          <p:txBody>
            <a:bodyPr lIns="50800" tIns="50800" rIns="50800" bIns="50800" rtlCol="0" anchor="ctr"/>
            <a:lstStyle/>
            <a:p>
              <a:pPr algn="ctr">
                <a:lnSpc>
                  <a:spcPts val="1993"/>
                </a:lnSpc>
              </a:pPr>
              <a:endParaRPr/>
            </a:p>
          </p:txBody>
        </p:sp>
      </p:grpSp>
      <p:sp>
        <p:nvSpPr>
          <p:cNvPr id="12" name="TextBox 12"/>
          <p:cNvSpPr txBox="1"/>
          <p:nvPr/>
        </p:nvSpPr>
        <p:spPr>
          <a:xfrm>
            <a:off x="1645154" y="1825334"/>
            <a:ext cx="7721756" cy="1377949"/>
          </a:xfrm>
          <a:prstGeom prst="rect">
            <a:avLst/>
          </a:prstGeom>
        </p:spPr>
        <p:txBody>
          <a:bodyPr lIns="0" tIns="0" rIns="0" bIns="0" rtlCol="0" anchor="t">
            <a:spAutoFit/>
          </a:bodyPr>
          <a:lstStyle/>
          <a:p>
            <a:pPr algn="l">
              <a:lnSpc>
                <a:spcPts val="11200"/>
              </a:lnSpc>
            </a:pPr>
            <a:r>
              <a:rPr lang="en-US" sz="8000" b="1">
                <a:solidFill>
                  <a:srgbClr val="56AAF0"/>
                </a:solidFill>
                <a:latin typeface="Dynamo Medium"/>
                <a:ea typeface="Dynamo Medium"/>
                <a:cs typeface="Dynamo Medium"/>
                <a:sym typeface="Dynamo Medium"/>
              </a:rPr>
              <a:t>BUSINESS PLAN</a:t>
            </a:r>
          </a:p>
        </p:txBody>
      </p:sp>
      <p:sp>
        <p:nvSpPr>
          <p:cNvPr id="13" name="TextBox 13"/>
          <p:cNvSpPr txBox="1"/>
          <p:nvPr/>
        </p:nvSpPr>
        <p:spPr>
          <a:xfrm>
            <a:off x="1645154" y="4170553"/>
            <a:ext cx="4649135" cy="1038225"/>
          </a:xfrm>
          <a:prstGeom prst="rect">
            <a:avLst/>
          </a:prstGeom>
        </p:spPr>
        <p:txBody>
          <a:bodyPr lIns="0" tIns="0" rIns="0" bIns="0" rtlCol="0" anchor="t">
            <a:spAutoFit/>
          </a:bodyPr>
          <a:lstStyle/>
          <a:p>
            <a:pPr algn="l">
              <a:lnSpc>
                <a:spcPts val="4199"/>
              </a:lnSpc>
            </a:pPr>
            <a:r>
              <a:rPr lang="en-US" sz="2999" spc="11">
                <a:solidFill>
                  <a:srgbClr val="3275C5"/>
                </a:solidFill>
                <a:latin typeface="Source Sans Pro"/>
                <a:ea typeface="Source Sans Pro"/>
                <a:cs typeface="Source Sans Pro"/>
                <a:sym typeface="Source Sans Pro"/>
              </a:rPr>
              <a:t>Lorem ipsum dolor sit amet, consectetur adipiscing elit</a:t>
            </a:r>
          </a:p>
        </p:txBody>
      </p:sp>
      <p:sp>
        <p:nvSpPr>
          <p:cNvPr id="14" name="TextBox 14"/>
          <p:cNvSpPr txBox="1"/>
          <p:nvPr/>
        </p:nvSpPr>
        <p:spPr>
          <a:xfrm>
            <a:off x="1880402" y="7490116"/>
            <a:ext cx="4649135" cy="1038225"/>
          </a:xfrm>
          <a:prstGeom prst="rect">
            <a:avLst/>
          </a:prstGeom>
        </p:spPr>
        <p:txBody>
          <a:bodyPr lIns="0" tIns="0" rIns="0" bIns="0" rtlCol="0" anchor="t">
            <a:spAutoFit/>
          </a:bodyPr>
          <a:lstStyle/>
          <a:p>
            <a:pPr algn="l">
              <a:lnSpc>
                <a:spcPts val="4199"/>
              </a:lnSpc>
            </a:pPr>
            <a:r>
              <a:rPr lang="en-US" sz="2999" spc="11">
                <a:solidFill>
                  <a:srgbClr val="3275C5"/>
                </a:solidFill>
                <a:latin typeface="Source Sans Pro"/>
                <a:ea typeface="Source Sans Pro"/>
                <a:cs typeface="Source Sans Pro"/>
                <a:sym typeface="Source Sans Pro"/>
              </a:rPr>
              <a:t>Lorem ipsum dolor sit amet, consectetur adipiscing elit</a:t>
            </a:r>
          </a:p>
        </p:txBody>
      </p:sp>
      <p:sp>
        <p:nvSpPr>
          <p:cNvPr id="15" name="TextBox 15"/>
          <p:cNvSpPr txBox="1"/>
          <p:nvPr/>
        </p:nvSpPr>
        <p:spPr>
          <a:xfrm>
            <a:off x="11909297" y="5095875"/>
            <a:ext cx="4649135" cy="1038225"/>
          </a:xfrm>
          <a:prstGeom prst="rect">
            <a:avLst/>
          </a:prstGeom>
        </p:spPr>
        <p:txBody>
          <a:bodyPr lIns="0" tIns="0" rIns="0" bIns="0" rtlCol="0" anchor="t">
            <a:spAutoFit/>
          </a:bodyPr>
          <a:lstStyle/>
          <a:p>
            <a:pPr algn="l">
              <a:lnSpc>
                <a:spcPts val="4199"/>
              </a:lnSpc>
            </a:pPr>
            <a:r>
              <a:rPr lang="en-US" sz="2999" spc="11">
                <a:solidFill>
                  <a:srgbClr val="3275C5"/>
                </a:solidFill>
                <a:latin typeface="Source Sans Pro"/>
                <a:ea typeface="Source Sans Pro"/>
                <a:cs typeface="Source Sans Pro"/>
                <a:sym typeface="Source Sans Pro"/>
              </a:rPr>
              <a:t>Lorem ipsum dolor sit amet, consectetur adipiscing elit</a:t>
            </a:r>
          </a:p>
        </p:txBody>
      </p:sp>
      <p:sp>
        <p:nvSpPr>
          <p:cNvPr id="16" name="TextBox 16"/>
          <p:cNvSpPr txBox="1"/>
          <p:nvPr/>
        </p:nvSpPr>
        <p:spPr>
          <a:xfrm>
            <a:off x="11909297" y="2090447"/>
            <a:ext cx="1027429" cy="504825"/>
          </a:xfrm>
          <a:prstGeom prst="rect">
            <a:avLst/>
          </a:prstGeom>
        </p:spPr>
        <p:txBody>
          <a:bodyPr lIns="0" tIns="0" rIns="0" bIns="0" rtlCol="0" anchor="t">
            <a:spAutoFit/>
          </a:bodyPr>
          <a:lstStyle/>
          <a:p>
            <a:pPr algn="l">
              <a:lnSpc>
                <a:spcPts val="4199"/>
              </a:lnSpc>
            </a:pPr>
            <a:r>
              <a:rPr lang="en-US" sz="2999" b="1" spc="11">
                <a:solidFill>
                  <a:srgbClr val="3275C5"/>
                </a:solidFill>
                <a:latin typeface="Source Sans Pro Bold"/>
                <a:ea typeface="Source Sans Pro Bold"/>
                <a:cs typeface="Source Sans Pro Bold"/>
                <a:sym typeface="Source Sans Pro Bold"/>
              </a:rPr>
              <a:t>30%</a:t>
            </a:r>
          </a:p>
        </p:txBody>
      </p:sp>
      <p:sp>
        <p:nvSpPr>
          <p:cNvPr id="17" name="TextBox 17"/>
          <p:cNvSpPr txBox="1"/>
          <p:nvPr/>
        </p:nvSpPr>
        <p:spPr>
          <a:xfrm>
            <a:off x="13978110" y="2090447"/>
            <a:ext cx="791467" cy="504825"/>
          </a:xfrm>
          <a:prstGeom prst="rect">
            <a:avLst/>
          </a:prstGeom>
        </p:spPr>
        <p:txBody>
          <a:bodyPr lIns="0" tIns="0" rIns="0" bIns="0" rtlCol="0" anchor="t">
            <a:spAutoFit/>
          </a:bodyPr>
          <a:lstStyle/>
          <a:p>
            <a:pPr algn="l">
              <a:lnSpc>
                <a:spcPts val="4199"/>
              </a:lnSpc>
            </a:pPr>
            <a:r>
              <a:rPr lang="en-US" sz="2999" b="1" spc="11">
                <a:solidFill>
                  <a:srgbClr val="3275C5"/>
                </a:solidFill>
                <a:latin typeface="Source Sans Pro Bold"/>
                <a:ea typeface="Source Sans Pro Bold"/>
                <a:cs typeface="Source Sans Pro Bold"/>
                <a:sym typeface="Source Sans Pro Bold"/>
              </a:rPr>
              <a:t>30%</a:t>
            </a:r>
          </a:p>
        </p:txBody>
      </p:sp>
      <p:sp>
        <p:nvSpPr>
          <p:cNvPr id="18" name="TextBox 18"/>
          <p:cNvSpPr txBox="1"/>
          <p:nvPr/>
        </p:nvSpPr>
        <p:spPr>
          <a:xfrm>
            <a:off x="15878708" y="2090447"/>
            <a:ext cx="864254" cy="504825"/>
          </a:xfrm>
          <a:prstGeom prst="rect">
            <a:avLst/>
          </a:prstGeom>
        </p:spPr>
        <p:txBody>
          <a:bodyPr lIns="0" tIns="0" rIns="0" bIns="0" rtlCol="0" anchor="t">
            <a:spAutoFit/>
          </a:bodyPr>
          <a:lstStyle/>
          <a:p>
            <a:pPr algn="l">
              <a:lnSpc>
                <a:spcPts val="4199"/>
              </a:lnSpc>
            </a:pPr>
            <a:r>
              <a:rPr lang="en-US" sz="2999" b="1" spc="11">
                <a:solidFill>
                  <a:srgbClr val="3275C5"/>
                </a:solidFill>
                <a:latin typeface="Source Sans Pro Bold"/>
                <a:ea typeface="Source Sans Pro Bold"/>
                <a:cs typeface="Source Sans Pro Bold"/>
                <a:sym typeface="Source Sans Pro Bold"/>
              </a:rPr>
              <a:t>30%</a:t>
            </a:r>
          </a:p>
        </p:txBody>
      </p:sp>
      <p:sp>
        <p:nvSpPr>
          <p:cNvPr id="19" name="Freeform 19"/>
          <p:cNvSpPr/>
          <p:nvPr/>
        </p:nvSpPr>
        <p:spPr>
          <a:xfrm rot="9048843">
            <a:off x="10671200" y="3981665"/>
            <a:ext cx="12716270" cy="6635581"/>
          </a:xfrm>
          <a:custGeom>
            <a:avLst/>
            <a:gdLst/>
            <a:ahLst/>
            <a:cxnLst/>
            <a:rect l="l" t="t" r="r" b="b"/>
            <a:pathLst>
              <a:path w="12716270" h="6635581">
                <a:moveTo>
                  <a:pt x="0" y="0"/>
                </a:moveTo>
                <a:lnTo>
                  <a:pt x="12716270" y="0"/>
                </a:lnTo>
                <a:lnTo>
                  <a:pt x="12716270" y="6635581"/>
                </a:lnTo>
                <a:lnTo>
                  <a:pt x="0" y="6635581"/>
                </a:lnTo>
                <a:lnTo>
                  <a:pt x="0" y="0"/>
                </a:lnTo>
                <a:close/>
              </a:path>
            </a:pathLst>
          </a:custGeom>
          <a:blipFill>
            <a:blip r:embed="rId4">
              <a:alphaModFix amt="87000"/>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20" name="Freeform 20"/>
          <p:cNvSpPr/>
          <p:nvPr/>
        </p:nvSpPr>
        <p:spPr>
          <a:xfrm rot="9048843" flipH="1" flipV="1">
            <a:off x="-6146085" y="-114507"/>
            <a:ext cx="12716270" cy="6635581"/>
          </a:xfrm>
          <a:custGeom>
            <a:avLst/>
            <a:gdLst/>
            <a:ahLst/>
            <a:cxnLst/>
            <a:rect l="l" t="t" r="r" b="b"/>
            <a:pathLst>
              <a:path w="12716270" h="6635581">
                <a:moveTo>
                  <a:pt x="12716269" y="6635581"/>
                </a:moveTo>
                <a:lnTo>
                  <a:pt x="0" y="6635581"/>
                </a:lnTo>
                <a:lnTo>
                  <a:pt x="0" y="0"/>
                </a:lnTo>
                <a:lnTo>
                  <a:pt x="12716269" y="0"/>
                </a:lnTo>
                <a:lnTo>
                  <a:pt x="12716269" y="6635581"/>
                </a:lnTo>
                <a:close/>
              </a:path>
            </a:pathLst>
          </a:custGeom>
          <a:blipFill>
            <a:blip r:embed="rId4">
              <a:alphaModFix amt="87000"/>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rot="5400000" flipV="1">
            <a:off x="9786558" y="1897973"/>
            <a:ext cx="10511830" cy="6491055"/>
          </a:xfrm>
          <a:custGeom>
            <a:avLst/>
            <a:gdLst/>
            <a:ahLst/>
            <a:cxnLst/>
            <a:rect l="l" t="t" r="r" b="b"/>
            <a:pathLst>
              <a:path w="10511830" h="6491055">
                <a:moveTo>
                  <a:pt x="0" y="6491054"/>
                </a:moveTo>
                <a:lnTo>
                  <a:pt x="10511829" y="6491054"/>
                </a:lnTo>
                <a:lnTo>
                  <a:pt x="10511829" y="0"/>
                </a:lnTo>
                <a:lnTo>
                  <a:pt x="0" y="0"/>
                </a:lnTo>
                <a:lnTo>
                  <a:pt x="0" y="6491054"/>
                </a:lnTo>
                <a:close/>
              </a:path>
            </a:pathLst>
          </a:custGeom>
          <a:blipFill>
            <a:blip r:embed="rId2"/>
            <a:stretch>
              <a:fillRect/>
            </a:stretch>
          </a:blipFill>
        </p:spPr>
        <p:txBody>
          <a:bodyPr/>
          <a:lstStyle/>
          <a:p>
            <a:endParaRPr lang="en-US"/>
          </a:p>
        </p:txBody>
      </p:sp>
      <p:sp>
        <p:nvSpPr>
          <p:cNvPr id="3" name="TextBox 3"/>
          <p:cNvSpPr txBox="1"/>
          <p:nvPr/>
        </p:nvSpPr>
        <p:spPr>
          <a:xfrm>
            <a:off x="3026599" y="3533775"/>
            <a:ext cx="5875032" cy="3392805"/>
          </a:xfrm>
          <a:prstGeom prst="rect">
            <a:avLst/>
          </a:prstGeom>
        </p:spPr>
        <p:txBody>
          <a:bodyPr lIns="0" tIns="0" rIns="0" bIns="0" rtlCol="0" anchor="t">
            <a:spAutoFit/>
          </a:bodyPr>
          <a:lstStyle/>
          <a:p>
            <a:pPr algn="l">
              <a:lnSpc>
                <a:spcPts val="6959"/>
              </a:lnSpc>
            </a:pPr>
            <a:r>
              <a:rPr lang="en-US" sz="2999" spc="11">
                <a:solidFill>
                  <a:srgbClr val="3275C5"/>
                </a:solidFill>
                <a:latin typeface="Source Sans Pro"/>
                <a:ea typeface="Source Sans Pro"/>
                <a:cs typeface="Source Sans Pro"/>
                <a:sym typeface="Source Sans Pro"/>
              </a:rPr>
              <a:t>+123-456-7890</a:t>
            </a:r>
          </a:p>
          <a:p>
            <a:pPr algn="l">
              <a:lnSpc>
                <a:spcPts val="6959"/>
              </a:lnSpc>
            </a:pPr>
            <a:r>
              <a:rPr lang="en-US" sz="2999" spc="11">
                <a:solidFill>
                  <a:srgbClr val="3275C5"/>
                </a:solidFill>
                <a:latin typeface="Source Sans Pro"/>
                <a:ea typeface="Source Sans Pro"/>
                <a:cs typeface="Source Sans Pro"/>
                <a:sym typeface="Source Sans Pro"/>
              </a:rPr>
              <a:t>hello@reallygreatsite.com</a:t>
            </a:r>
          </a:p>
          <a:p>
            <a:pPr algn="l">
              <a:lnSpc>
                <a:spcPts val="6959"/>
              </a:lnSpc>
            </a:pPr>
            <a:r>
              <a:rPr lang="en-US" sz="2999" spc="11">
                <a:solidFill>
                  <a:srgbClr val="3275C5"/>
                </a:solidFill>
                <a:latin typeface="Source Sans Pro"/>
                <a:ea typeface="Source Sans Pro"/>
                <a:cs typeface="Source Sans Pro"/>
                <a:sym typeface="Source Sans Pro"/>
              </a:rPr>
              <a:t>www.reallygreatsite.com</a:t>
            </a:r>
          </a:p>
          <a:p>
            <a:pPr algn="l">
              <a:lnSpc>
                <a:spcPts val="6959"/>
              </a:lnSpc>
            </a:pPr>
            <a:r>
              <a:rPr lang="en-US" sz="2999" spc="11">
                <a:solidFill>
                  <a:srgbClr val="3275C5"/>
                </a:solidFill>
                <a:latin typeface="Source Sans Pro"/>
                <a:ea typeface="Source Sans Pro"/>
                <a:cs typeface="Source Sans Pro"/>
                <a:sym typeface="Source Sans Pro"/>
              </a:rPr>
              <a:t>123 Anywhere St., Any City, ST 12345</a:t>
            </a:r>
          </a:p>
        </p:txBody>
      </p:sp>
      <p:sp>
        <p:nvSpPr>
          <p:cNvPr id="4" name="Freeform 4"/>
          <p:cNvSpPr/>
          <p:nvPr/>
        </p:nvSpPr>
        <p:spPr>
          <a:xfrm>
            <a:off x="2262234" y="4820706"/>
            <a:ext cx="491618" cy="310068"/>
          </a:xfrm>
          <a:custGeom>
            <a:avLst/>
            <a:gdLst/>
            <a:ahLst/>
            <a:cxnLst/>
            <a:rect l="l" t="t" r="r" b="b"/>
            <a:pathLst>
              <a:path w="491618" h="310068">
                <a:moveTo>
                  <a:pt x="0" y="0"/>
                </a:moveTo>
                <a:lnTo>
                  <a:pt x="491618" y="0"/>
                </a:lnTo>
                <a:lnTo>
                  <a:pt x="491618" y="310068"/>
                </a:lnTo>
                <a:lnTo>
                  <a:pt x="0" y="310068"/>
                </a:lnTo>
                <a:lnTo>
                  <a:pt x="0" y="0"/>
                </a:lnTo>
                <a:close/>
              </a:path>
            </a:pathLst>
          </a:custGeom>
          <a:blipFill>
            <a:blip r:embed="rId3">
              <a:extLst>
                <a:ext uri="{96DAC541-7B7A-43D3-8B79-37D633B846F1}">
                  <asvg:svgBlip xmlns:asvg="http://schemas.microsoft.com/office/drawing/2016/SVG/main" r:embed="rId4"/>
                </a:ext>
              </a:extLst>
            </a:blip>
            <a:stretch>
              <a:fillRect l="-22110" b="-2436"/>
            </a:stretch>
          </a:blipFill>
        </p:spPr>
        <p:txBody>
          <a:bodyPr/>
          <a:lstStyle/>
          <a:p>
            <a:endParaRPr lang="en-US"/>
          </a:p>
        </p:txBody>
      </p:sp>
      <p:sp>
        <p:nvSpPr>
          <p:cNvPr id="5" name="Freeform 5"/>
          <p:cNvSpPr/>
          <p:nvPr/>
        </p:nvSpPr>
        <p:spPr>
          <a:xfrm flipH="1">
            <a:off x="2332827" y="3848100"/>
            <a:ext cx="350431" cy="584052"/>
          </a:xfrm>
          <a:custGeom>
            <a:avLst/>
            <a:gdLst/>
            <a:ahLst/>
            <a:cxnLst/>
            <a:rect l="l" t="t" r="r" b="b"/>
            <a:pathLst>
              <a:path w="350431" h="584052">
                <a:moveTo>
                  <a:pt x="350431" y="0"/>
                </a:moveTo>
                <a:lnTo>
                  <a:pt x="0" y="0"/>
                </a:lnTo>
                <a:lnTo>
                  <a:pt x="0" y="584052"/>
                </a:lnTo>
                <a:lnTo>
                  <a:pt x="350431" y="584052"/>
                </a:lnTo>
                <a:lnTo>
                  <a:pt x="350431"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2313777" y="6411621"/>
            <a:ext cx="351347" cy="544340"/>
          </a:xfrm>
          <a:custGeom>
            <a:avLst/>
            <a:gdLst/>
            <a:ahLst/>
            <a:cxnLst/>
            <a:rect l="l" t="t" r="r" b="b"/>
            <a:pathLst>
              <a:path w="351347" h="544340">
                <a:moveTo>
                  <a:pt x="0" y="0"/>
                </a:moveTo>
                <a:lnTo>
                  <a:pt x="351347" y="0"/>
                </a:lnTo>
                <a:lnTo>
                  <a:pt x="351347" y="544341"/>
                </a:lnTo>
                <a:lnTo>
                  <a:pt x="0" y="5443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2213984" y="5511774"/>
            <a:ext cx="588117" cy="518848"/>
          </a:xfrm>
          <a:custGeom>
            <a:avLst/>
            <a:gdLst/>
            <a:ahLst/>
            <a:cxnLst/>
            <a:rect l="l" t="t" r="r" b="b"/>
            <a:pathLst>
              <a:path w="588117" h="518848">
                <a:moveTo>
                  <a:pt x="0" y="0"/>
                </a:moveTo>
                <a:lnTo>
                  <a:pt x="588117" y="0"/>
                </a:lnTo>
                <a:lnTo>
                  <a:pt x="588117" y="518847"/>
                </a:lnTo>
                <a:lnTo>
                  <a:pt x="0" y="518847"/>
                </a:lnTo>
                <a:lnTo>
                  <a:pt x="0" y="0"/>
                </a:lnTo>
                <a:close/>
              </a:path>
            </a:pathLst>
          </a:custGeom>
          <a:blipFill>
            <a:blip r:embed="rId9">
              <a:extLst>
                <a:ext uri="{96DAC541-7B7A-43D3-8B79-37D633B846F1}">
                  <asvg:svgBlip xmlns:asvg="http://schemas.microsoft.com/office/drawing/2016/SVG/main" r:embed="rId10"/>
                </a:ext>
              </a:extLst>
            </a:blip>
            <a:stretch>
              <a:fillRect l="-37756" r="-35963" b="-100558"/>
            </a:stretch>
          </a:blipFill>
        </p:spPr>
        <p:txBody>
          <a:bodyPr/>
          <a:lstStyle/>
          <a:p>
            <a:endParaRPr lang="en-US"/>
          </a:p>
        </p:txBody>
      </p:sp>
      <p:sp>
        <p:nvSpPr>
          <p:cNvPr id="8" name="TextBox 8"/>
          <p:cNvSpPr txBox="1"/>
          <p:nvPr/>
        </p:nvSpPr>
        <p:spPr>
          <a:xfrm>
            <a:off x="2163524" y="1795710"/>
            <a:ext cx="6114567" cy="1377949"/>
          </a:xfrm>
          <a:prstGeom prst="rect">
            <a:avLst/>
          </a:prstGeom>
        </p:spPr>
        <p:txBody>
          <a:bodyPr lIns="0" tIns="0" rIns="0" bIns="0" rtlCol="0" anchor="t">
            <a:spAutoFit/>
          </a:bodyPr>
          <a:lstStyle/>
          <a:p>
            <a:pPr algn="l">
              <a:lnSpc>
                <a:spcPts val="11200"/>
              </a:lnSpc>
            </a:pPr>
            <a:r>
              <a:rPr lang="en-US" sz="8000" b="1">
                <a:solidFill>
                  <a:srgbClr val="56AAF0"/>
                </a:solidFill>
                <a:latin typeface="Dynamo Medium"/>
                <a:ea typeface="Dynamo Medium"/>
                <a:cs typeface="Dynamo Medium"/>
                <a:sym typeface="Dynamo Medium"/>
              </a:rPr>
              <a:t>CONTACT US</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CFEFF"/>
        </a:solidFill>
        <a:effectLst/>
      </p:bgPr>
    </p:bg>
    <p:spTree>
      <p:nvGrpSpPr>
        <p:cNvPr id="1" name=""/>
        <p:cNvGrpSpPr/>
        <p:nvPr/>
      </p:nvGrpSpPr>
      <p:grpSpPr>
        <a:xfrm>
          <a:off x="0" y="0"/>
          <a:ext cx="0" cy="0"/>
          <a:chOff x="0" y="0"/>
          <a:chExt cx="0" cy="0"/>
        </a:xfrm>
      </p:grpSpPr>
      <p:grpSp>
        <p:nvGrpSpPr>
          <p:cNvPr id="2" name="Group 2"/>
          <p:cNvGrpSpPr/>
          <p:nvPr/>
        </p:nvGrpSpPr>
        <p:grpSpPr>
          <a:xfrm>
            <a:off x="-4262586" y="-573763"/>
            <a:ext cx="11434572" cy="11434527"/>
            <a:chOff x="0" y="0"/>
            <a:chExt cx="6350000" cy="6349975"/>
          </a:xfrm>
        </p:grpSpPr>
        <p:sp>
          <p:nvSpPr>
            <p:cNvPr id="3" name="Freeform 3"/>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r="-50093"/>
              </a:stretch>
            </a:blipFill>
          </p:spPr>
          <p:txBody>
            <a:bodyPr/>
            <a:lstStyle/>
            <a:p>
              <a:endParaRPr lang="en-US"/>
            </a:p>
          </p:txBody>
        </p:sp>
      </p:grpSp>
      <p:grpSp>
        <p:nvGrpSpPr>
          <p:cNvPr id="4" name="Group 4"/>
          <p:cNvGrpSpPr/>
          <p:nvPr/>
        </p:nvGrpSpPr>
        <p:grpSpPr>
          <a:xfrm>
            <a:off x="7883098" y="7497900"/>
            <a:ext cx="7009358" cy="1398154"/>
            <a:chOff x="0" y="0"/>
            <a:chExt cx="9345810" cy="1864205"/>
          </a:xfrm>
        </p:grpSpPr>
        <p:grpSp>
          <p:nvGrpSpPr>
            <p:cNvPr id="5" name="Group 5"/>
            <p:cNvGrpSpPr/>
            <p:nvPr/>
          </p:nvGrpSpPr>
          <p:grpSpPr>
            <a:xfrm>
              <a:off x="0" y="0"/>
              <a:ext cx="9345810" cy="1546271"/>
              <a:chOff x="0" y="0"/>
              <a:chExt cx="1250766" cy="206940"/>
            </a:xfrm>
          </p:grpSpPr>
          <p:sp>
            <p:nvSpPr>
              <p:cNvPr id="6" name="Freeform 6"/>
              <p:cNvSpPr/>
              <p:nvPr/>
            </p:nvSpPr>
            <p:spPr>
              <a:xfrm>
                <a:off x="18844" y="0"/>
                <a:ext cx="1213078" cy="206940"/>
              </a:xfrm>
              <a:custGeom>
                <a:avLst/>
                <a:gdLst/>
                <a:ahLst/>
                <a:cxnLst/>
                <a:rect l="l" t="t" r="r" b="b"/>
                <a:pathLst>
                  <a:path w="1213078" h="206940">
                    <a:moveTo>
                      <a:pt x="218760" y="0"/>
                    </a:moveTo>
                    <a:lnTo>
                      <a:pt x="1197518" y="0"/>
                    </a:lnTo>
                    <a:cubicBezTo>
                      <a:pt x="1203332" y="0"/>
                      <a:pt x="1208579" y="3488"/>
                      <a:pt x="1210829" y="8850"/>
                    </a:cubicBezTo>
                    <a:cubicBezTo>
                      <a:pt x="1213078" y="14212"/>
                      <a:pt x="1211891" y="20399"/>
                      <a:pt x="1207817" y="24548"/>
                    </a:cubicBezTo>
                    <a:lnTo>
                      <a:pt x="1052827" y="182392"/>
                    </a:lnTo>
                    <a:cubicBezTo>
                      <a:pt x="1037408" y="198094"/>
                      <a:pt x="1016325" y="206940"/>
                      <a:pt x="994318" y="206940"/>
                    </a:cubicBezTo>
                    <a:lnTo>
                      <a:pt x="15560" y="206940"/>
                    </a:lnTo>
                    <a:cubicBezTo>
                      <a:pt x="9746" y="206940"/>
                      <a:pt x="4499" y="203452"/>
                      <a:pt x="2249" y="198090"/>
                    </a:cubicBezTo>
                    <a:cubicBezTo>
                      <a:pt x="0" y="192728"/>
                      <a:pt x="1187" y="186541"/>
                      <a:pt x="5261" y="182392"/>
                    </a:cubicBezTo>
                    <a:lnTo>
                      <a:pt x="160251" y="24548"/>
                    </a:lnTo>
                    <a:cubicBezTo>
                      <a:pt x="175670" y="8846"/>
                      <a:pt x="196753" y="0"/>
                      <a:pt x="218760" y="0"/>
                    </a:cubicBezTo>
                    <a:close/>
                  </a:path>
                </a:pathLst>
              </a:custGeom>
              <a:solidFill>
                <a:srgbClr val="3275C5"/>
              </a:solidFill>
            </p:spPr>
            <p:txBody>
              <a:bodyPr/>
              <a:lstStyle/>
              <a:p>
                <a:endParaRPr lang="en-US"/>
              </a:p>
            </p:txBody>
          </p:sp>
          <p:sp>
            <p:nvSpPr>
              <p:cNvPr id="7" name="TextBox 7"/>
              <p:cNvSpPr txBox="1"/>
              <p:nvPr/>
            </p:nvSpPr>
            <p:spPr>
              <a:xfrm>
                <a:off x="101600" y="19050"/>
                <a:ext cx="1047566" cy="187890"/>
              </a:xfrm>
              <a:prstGeom prst="rect">
                <a:avLst/>
              </a:prstGeom>
            </p:spPr>
            <p:txBody>
              <a:bodyPr lIns="50800" tIns="50800" rIns="50800" bIns="50800" rtlCol="0" anchor="ctr"/>
              <a:lstStyle/>
              <a:p>
                <a:pPr algn="ctr">
                  <a:lnSpc>
                    <a:spcPts val="1993"/>
                  </a:lnSpc>
                </a:pPr>
                <a:endParaRPr/>
              </a:p>
            </p:txBody>
          </p:sp>
        </p:grpSp>
        <p:grpSp>
          <p:nvGrpSpPr>
            <p:cNvPr id="8" name="Group 8"/>
            <p:cNvGrpSpPr/>
            <p:nvPr/>
          </p:nvGrpSpPr>
          <p:grpSpPr>
            <a:xfrm>
              <a:off x="4451974" y="1170495"/>
              <a:ext cx="4192850" cy="693710"/>
              <a:chOff x="0" y="0"/>
              <a:chExt cx="1250766" cy="206940"/>
            </a:xfrm>
          </p:grpSpPr>
          <p:sp>
            <p:nvSpPr>
              <p:cNvPr id="9" name="Freeform 9"/>
              <p:cNvSpPr/>
              <p:nvPr/>
            </p:nvSpPr>
            <p:spPr>
              <a:xfrm>
                <a:off x="22107" y="0"/>
                <a:ext cx="1206553" cy="206940"/>
              </a:xfrm>
              <a:custGeom>
                <a:avLst/>
                <a:gdLst/>
                <a:ahLst/>
                <a:cxnLst/>
                <a:rect l="l" t="t" r="r" b="b"/>
                <a:pathLst>
                  <a:path w="1206553" h="206940">
                    <a:moveTo>
                      <a:pt x="221454" y="0"/>
                    </a:moveTo>
                    <a:lnTo>
                      <a:pt x="1188298" y="0"/>
                    </a:lnTo>
                    <a:cubicBezTo>
                      <a:pt x="1195119" y="0"/>
                      <a:pt x="1201274" y="4093"/>
                      <a:pt x="1203913" y="10382"/>
                    </a:cubicBezTo>
                    <a:cubicBezTo>
                      <a:pt x="1206552" y="16672"/>
                      <a:pt x="1205160" y="23932"/>
                      <a:pt x="1200381" y="28799"/>
                    </a:cubicBezTo>
                    <a:lnTo>
                      <a:pt x="1053737" y="178141"/>
                    </a:lnTo>
                    <a:cubicBezTo>
                      <a:pt x="1035649" y="196563"/>
                      <a:pt x="1010915" y="206940"/>
                      <a:pt x="985098" y="206940"/>
                    </a:cubicBezTo>
                    <a:lnTo>
                      <a:pt x="18254" y="206940"/>
                    </a:lnTo>
                    <a:cubicBezTo>
                      <a:pt x="11433" y="206940"/>
                      <a:pt x="5278" y="202848"/>
                      <a:pt x="2639" y="196558"/>
                    </a:cubicBezTo>
                    <a:cubicBezTo>
                      <a:pt x="0" y="190268"/>
                      <a:pt x="1392" y="183008"/>
                      <a:pt x="6171" y="178141"/>
                    </a:cubicBezTo>
                    <a:lnTo>
                      <a:pt x="152815" y="28799"/>
                    </a:lnTo>
                    <a:cubicBezTo>
                      <a:pt x="170903" y="10377"/>
                      <a:pt x="195637" y="0"/>
                      <a:pt x="221454" y="0"/>
                    </a:cubicBezTo>
                    <a:close/>
                  </a:path>
                </a:pathLst>
              </a:custGeom>
              <a:solidFill>
                <a:srgbClr val="64CAF4"/>
              </a:solidFill>
            </p:spPr>
            <p:txBody>
              <a:bodyPr/>
              <a:lstStyle/>
              <a:p>
                <a:endParaRPr lang="en-US"/>
              </a:p>
            </p:txBody>
          </p:sp>
          <p:sp>
            <p:nvSpPr>
              <p:cNvPr id="10" name="TextBox 10"/>
              <p:cNvSpPr txBox="1"/>
              <p:nvPr/>
            </p:nvSpPr>
            <p:spPr>
              <a:xfrm>
                <a:off x="101600" y="19050"/>
                <a:ext cx="1047566" cy="187890"/>
              </a:xfrm>
              <a:prstGeom prst="rect">
                <a:avLst/>
              </a:prstGeom>
            </p:spPr>
            <p:txBody>
              <a:bodyPr lIns="50800" tIns="50800" rIns="50800" bIns="50800" rtlCol="0" anchor="ctr"/>
              <a:lstStyle/>
              <a:p>
                <a:pPr algn="ctr">
                  <a:lnSpc>
                    <a:spcPts val="1993"/>
                  </a:lnSpc>
                </a:pPr>
                <a:endParaRPr/>
              </a:p>
            </p:txBody>
          </p:sp>
        </p:grpSp>
      </p:grpSp>
      <p:grpSp>
        <p:nvGrpSpPr>
          <p:cNvPr id="11" name="Group 11"/>
          <p:cNvGrpSpPr/>
          <p:nvPr/>
        </p:nvGrpSpPr>
        <p:grpSpPr>
          <a:xfrm>
            <a:off x="3875583" y="4940839"/>
            <a:ext cx="5114123" cy="5114123"/>
            <a:chOff x="0" y="0"/>
            <a:chExt cx="6818831" cy="6818831"/>
          </a:xfrm>
        </p:grpSpPr>
        <p:grpSp>
          <p:nvGrpSpPr>
            <p:cNvPr id="12" name="Group 12"/>
            <p:cNvGrpSpPr/>
            <p:nvPr/>
          </p:nvGrpSpPr>
          <p:grpSpPr>
            <a:xfrm>
              <a:off x="0" y="0"/>
              <a:ext cx="6818831" cy="681883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EFF"/>
              </a:solidFill>
            </p:spPr>
            <p:txBody>
              <a:bodyPr/>
              <a:lstStyle/>
              <a:p>
                <a:endParaRPr lang="en-US"/>
              </a:p>
            </p:txBody>
          </p:sp>
          <p:sp>
            <p:nvSpPr>
              <p:cNvPr id="14" name="TextBox 14"/>
              <p:cNvSpPr txBox="1"/>
              <p:nvPr/>
            </p:nvSpPr>
            <p:spPr>
              <a:xfrm>
                <a:off x="76200" y="95250"/>
                <a:ext cx="660400" cy="641350"/>
              </a:xfrm>
              <a:prstGeom prst="rect">
                <a:avLst/>
              </a:prstGeom>
            </p:spPr>
            <p:txBody>
              <a:bodyPr lIns="52498" tIns="52498" rIns="52498" bIns="52498" rtlCol="0" anchor="ctr"/>
              <a:lstStyle/>
              <a:p>
                <a:pPr algn="ctr">
                  <a:lnSpc>
                    <a:spcPts val="1993"/>
                  </a:lnSpc>
                </a:pPr>
                <a:endParaRPr/>
              </a:p>
            </p:txBody>
          </p:sp>
        </p:grpSp>
        <p:grpSp>
          <p:nvGrpSpPr>
            <p:cNvPr id="15" name="Group 15"/>
            <p:cNvGrpSpPr/>
            <p:nvPr/>
          </p:nvGrpSpPr>
          <p:grpSpPr>
            <a:xfrm>
              <a:off x="203869" y="214274"/>
              <a:ext cx="6390308" cy="6390283"/>
              <a:chOff x="0" y="0"/>
              <a:chExt cx="6350000" cy="6349975"/>
            </a:xfrm>
          </p:grpSpPr>
          <p:sp>
            <p:nvSpPr>
              <p:cNvPr id="16" name="Freeform 16"/>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3"/>
                <a:stretch>
                  <a:fillRect l="-22332" r="-22332"/>
                </a:stretch>
              </a:blipFill>
            </p:spPr>
            <p:txBody>
              <a:bodyPr/>
              <a:lstStyle/>
              <a:p>
                <a:endParaRPr lang="en-US"/>
              </a:p>
            </p:txBody>
          </p:sp>
        </p:grpSp>
      </p:grpSp>
      <p:sp>
        <p:nvSpPr>
          <p:cNvPr id="17" name="Freeform 17"/>
          <p:cNvSpPr/>
          <p:nvPr/>
        </p:nvSpPr>
        <p:spPr>
          <a:xfrm>
            <a:off x="10040847" y="1028700"/>
            <a:ext cx="523227" cy="523227"/>
          </a:xfrm>
          <a:custGeom>
            <a:avLst/>
            <a:gdLst/>
            <a:ahLst/>
            <a:cxnLst/>
            <a:rect l="l" t="t" r="r" b="b"/>
            <a:pathLst>
              <a:path w="523227" h="523227">
                <a:moveTo>
                  <a:pt x="0" y="0"/>
                </a:moveTo>
                <a:lnTo>
                  <a:pt x="523226" y="0"/>
                </a:lnTo>
                <a:lnTo>
                  <a:pt x="523226" y="523227"/>
                </a:lnTo>
                <a:lnTo>
                  <a:pt x="0" y="5232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TextBox 18"/>
          <p:cNvSpPr txBox="1"/>
          <p:nvPr/>
        </p:nvSpPr>
        <p:spPr>
          <a:xfrm>
            <a:off x="8596420" y="3602644"/>
            <a:ext cx="7004506" cy="2057400"/>
          </a:xfrm>
          <a:prstGeom prst="rect">
            <a:avLst/>
          </a:prstGeom>
        </p:spPr>
        <p:txBody>
          <a:bodyPr lIns="0" tIns="0" rIns="0" bIns="0" rtlCol="0" anchor="t">
            <a:spAutoFit/>
          </a:bodyPr>
          <a:lstStyle/>
          <a:p>
            <a:pPr algn="l">
              <a:lnSpc>
                <a:spcPts val="16799"/>
              </a:lnSpc>
            </a:pPr>
            <a:r>
              <a:rPr lang="en-US" sz="11999" b="1">
                <a:solidFill>
                  <a:srgbClr val="3275C5"/>
                </a:solidFill>
                <a:latin typeface="Dynamo Medium"/>
                <a:ea typeface="Dynamo Medium"/>
                <a:cs typeface="Dynamo Medium"/>
                <a:sym typeface="Dynamo Medium"/>
              </a:rPr>
              <a:t>THANK</a:t>
            </a:r>
          </a:p>
        </p:txBody>
      </p:sp>
      <p:sp>
        <p:nvSpPr>
          <p:cNvPr id="19" name="TextBox 19"/>
          <p:cNvSpPr txBox="1"/>
          <p:nvPr/>
        </p:nvSpPr>
        <p:spPr>
          <a:xfrm>
            <a:off x="13172220" y="3602644"/>
            <a:ext cx="3440472" cy="2057400"/>
          </a:xfrm>
          <a:prstGeom prst="rect">
            <a:avLst/>
          </a:prstGeom>
        </p:spPr>
        <p:txBody>
          <a:bodyPr lIns="0" tIns="0" rIns="0" bIns="0" rtlCol="0" anchor="t">
            <a:spAutoFit/>
          </a:bodyPr>
          <a:lstStyle/>
          <a:p>
            <a:pPr algn="l">
              <a:lnSpc>
                <a:spcPts val="16799"/>
              </a:lnSpc>
            </a:pPr>
            <a:r>
              <a:rPr lang="en-US" sz="11999" b="1" spc="47">
                <a:solidFill>
                  <a:srgbClr val="56AAF0"/>
                </a:solidFill>
                <a:latin typeface="Dynamo Medium"/>
                <a:ea typeface="Dynamo Medium"/>
                <a:cs typeface="Dynamo Medium"/>
                <a:sym typeface="Dynamo Medium"/>
              </a:rPr>
              <a:t>YOU</a:t>
            </a:r>
          </a:p>
        </p:txBody>
      </p:sp>
      <p:sp>
        <p:nvSpPr>
          <p:cNvPr id="20" name="TextBox 20"/>
          <p:cNvSpPr txBox="1"/>
          <p:nvPr/>
        </p:nvSpPr>
        <p:spPr>
          <a:xfrm>
            <a:off x="10676805" y="1057275"/>
            <a:ext cx="2399835" cy="494652"/>
          </a:xfrm>
          <a:prstGeom prst="rect">
            <a:avLst/>
          </a:prstGeom>
        </p:spPr>
        <p:txBody>
          <a:bodyPr lIns="0" tIns="0" rIns="0" bIns="0" rtlCol="0" anchor="t">
            <a:spAutoFit/>
          </a:bodyPr>
          <a:lstStyle/>
          <a:p>
            <a:pPr algn="l">
              <a:lnSpc>
                <a:spcPts val="3895"/>
              </a:lnSpc>
            </a:pPr>
            <a:r>
              <a:rPr lang="en-US" sz="3447" b="1">
                <a:solidFill>
                  <a:srgbClr val="64CAF4"/>
                </a:solidFill>
                <a:latin typeface="Source Sans Pro Bold"/>
                <a:ea typeface="Source Sans Pro Bold"/>
                <a:cs typeface="Source Sans Pro Bold"/>
                <a:sym typeface="Source Sans Pro Bold"/>
              </a:rPr>
              <a:t>WARDIERE</a:t>
            </a:r>
          </a:p>
        </p:txBody>
      </p:sp>
      <p:sp>
        <p:nvSpPr>
          <p:cNvPr id="21" name="TextBox 21"/>
          <p:cNvSpPr txBox="1"/>
          <p:nvPr/>
        </p:nvSpPr>
        <p:spPr>
          <a:xfrm>
            <a:off x="9271632" y="7665970"/>
            <a:ext cx="4622964" cy="588010"/>
          </a:xfrm>
          <a:prstGeom prst="rect">
            <a:avLst/>
          </a:prstGeom>
        </p:spPr>
        <p:txBody>
          <a:bodyPr lIns="0" tIns="0" rIns="0" bIns="0" rtlCol="0" anchor="t">
            <a:spAutoFit/>
          </a:bodyPr>
          <a:lstStyle/>
          <a:p>
            <a:pPr algn="l">
              <a:lnSpc>
                <a:spcPts val="4519"/>
              </a:lnSpc>
            </a:pPr>
            <a:r>
              <a:rPr lang="en-US" sz="3999" b="1">
                <a:solidFill>
                  <a:srgbClr val="FCFEFF"/>
                </a:solidFill>
                <a:latin typeface="Source Sans Pro Bold"/>
                <a:ea typeface="Source Sans Pro Bold"/>
                <a:cs typeface="Source Sans Pro Bold"/>
                <a:sym typeface="Source Sans Pro Bold"/>
              </a:rPr>
              <a:t>reallygreatsite.com</a:t>
            </a:r>
          </a:p>
        </p:txBody>
      </p:sp>
      <p:sp>
        <p:nvSpPr>
          <p:cNvPr id="22" name="Freeform 22"/>
          <p:cNvSpPr/>
          <p:nvPr/>
        </p:nvSpPr>
        <p:spPr>
          <a:xfrm rot="5256964" flipV="1">
            <a:off x="12399459" y="1053603"/>
            <a:ext cx="12716270" cy="6635581"/>
          </a:xfrm>
          <a:custGeom>
            <a:avLst/>
            <a:gdLst/>
            <a:ahLst/>
            <a:cxnLst/>
            <a:rect l="l" t="t" r="r" b="b"/>
            <a:pathLst>
              <a:path w="12716270" h="6635581">
                <a:moveTo>
                  <a:pt x="0" y="6635581"/>
                </a:moveTo>
                <a:lnTo>
                  <a:pt x="12716270" y="6635581"/>
                </a:lnTo>
                <a:lnTo>
                  <a:pt x="12716270" y="0"/>
                </a:lnTo>
                <a:lnTo>
                  <a:pt x="0" y="0"/>
                </a:lnTo>
                <a:lnTo>
                  <a:pt x="0" y="6635581"/>
                </a:lnTo>
                <a:close/>
              </a:path>
            </a:pathLst>
          </a:custGeom>
          <a:blipFill>
            <a:blip r:embed="rId6">
              <a:alphaModFix amt="87000"/>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23" name="Freeform 23"/>
          <p:cNvSpPr/>
          <p:nvPr/>
        </p:nvSpPr>
        <p:spPr>
          <a:xfrm rot="4556641">
            <a:off x="9863264" y="-772850"/>
            <a:ext cx="12716270" cy="6635581"/>
          </a:xfrm>
          <a:custGeom>
            <a:avLst/>
            <a:gdLst/>
            <a:ahLst/>
            <a:cxnLst/>
            <a:rect l="l" t="t" r="r" b="b"/>
            <a:pathLst>
              <a:path w="12716270" h="6635581">
                <a:moveTo>
                  <a:pt x="0" y="0"/>
                </a:moveTo>
                <a:lnTo>
                  <a:pt x="12716269" y="0"/>
                </a:lnTo>
                <a:lnTo>
                  <a:pt x="12716269" y="6635581"/>
                </a:lnTo>
                <a:lnTo>
                  <a:pt x="0" y="6635581"/>
                </a:lnTo>
                <a:lnTo>
                  <a:pt x="0" y="0"/>
                </a:lnTo>
                <a:close/>
              </a:path>
            </a:pathLst>
          </a:custGeom>
          <a:blipFill>
            <a:blip r:embed="rId8">
              <a:alphaModFix amt="87000"/>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1563</TotalTime>
  <Words>6181</Words>
  <Application>Microsoft Office PowerPoint</Application>
  <PresentationFormat>Custom</PresentationFormat>
  <Paragraphs>475</Paragraphs>
  <Slides>47</Slides>
  <Notes>30</Notes>
  <HiddenSlides>9</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47</vt:i4>
      </vt:variant>
    </vt:vector>
  </HeadingPairs>
  <TitlesOfParts>
    <vt:vector size="59" baseType="lpstr">
      <vt:lpstr>Dynamo Medium</vt:lpstr>
      <vt:lpstr>Aptos Display</vt:lpstr>
      <vt:lpstr>Noto Sans Symbols</vt:lpstr>
      <vt:lpstr>Aptos</vt:lpstr>
      <vt:lpstr>DC-Monument Extended Ultrabold</vt:lpstr>
      <vt:lpstr>Arial</vt:lpstr>
      <vt:lpstr>Courier New</vt:lpstr>
      <vt:lpstr>UTM Aircona</vt:lpstr>
      <vt:lpstr>Source Sans Pro</vt:lpstr>
      <vt:lpstr>Source Sans Pro Bold</vt:lpstr>
      <vt:lpstr>Times New Roman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Creative Brief</dc:title>
  <cp:lastModifiedBy>Nguyễn Quốc Đạt</cp:lastModifiedBy>
  <cp:revision>11</cp:revision>
  <dcterms:created xsi:type="dcterms:W3CDTF">2006-08-16T00:00:00Z</dcterms:created>
  <dcterms:modified xsi:type="dcterms:W3CDTF">2025-10-24T07:23:05Z</dcterms:modified>
  <dc:identifier>DAG1Umxp4Fc</dc:identifier>
</cp:coreProperties>
</file>